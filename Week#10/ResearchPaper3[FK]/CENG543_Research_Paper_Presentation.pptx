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313" r:id="rId4"/>
    <p:sldId id="271" r:id="rId5"/>
    <p:sldId id="270" r:id="rId6"/>
    <p:sldId id="290" r:id="rId7"/>
    <p:sldId id="275" r:id="rId8"/>
    <p:sldId id="319" r:id="rId9"/>
    <p:sldId id="269" r:id="rId10"/>
    <p:sldId id="268" r:id="rId11"/>
    <p:sldId id="273" r:id="rId12"/>
    <p:sldId id="272" r:id="rId13"/>
    <p:sldId id="278" r:id="rId14"/>
    <p:sldId id="276" r:id="rId15"/>
    <p:sldId id="282" r:id="rId16"/>
    <p:sldId id="284" r:id="rId17"/>
    <p:sldId id="297" r:id="rId18"/>
    <p:sldId id="298" r:id="rId19"/>
    <p:sldId id="296" r:id="rId20"/>
    <p:sldId id="299" r:id="rId21"/>
    <p:sldId id="295" r:id="rId22"/>
    <p:sldId id="300" r:id="rId23"/>
    <p:sldId id="301" r:id="rId24"/>
    <p:sldId id="305" r:id="rId25"/>
    <p:sldId id="312" r:id="rId26"/>
    <p:sldId id="317" r:id="rId27"/>
    <p:sldId id="315" r:id="rId28"/>
    <p:sldId id="318" r:id="rId29"/>
    <p:sldId id="31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0E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DCD64-ABF8-8742-8F5B-16F18A8CB0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r-TR"/>
          </a:p>
        </p:txBody>
      </p:sp>
      <p:sp>
        <p:nvSpPr>
          <p:cNvPr id="3" name="Subtitle 2">
            <a:extLst>
              <a:ext uri="{FF2B5EF4-FFF2-40B4-BE49-F238E27FC236}">
                <a16:creationId xmlns:a16="http://schemas.microsoft.com/office/drawing/2014/main" id="{4AB6B533-0A58-C3A3-BC00-5E3F59BB23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r-TR"/>
          </a:p>
        </p:txBody>
      </p:sp>
      <p:sp>
        <p:nvSpPr>
          <p:cNvPr id="4" name="Date Placeholder 3">
            <a:extLst>
              <a:ext uri="{FF2B5EF4-FFF2-40B4-BE49-F238E27FC236}">
                <a16:creationId xmlns:a16="http://schemas.microsoft.com/office/drawing/2014/main" id="{8A1E7A4A-D1E4-B7D5-CF80-D98AE1E5DA09}"/>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5" name="Footer Placeholder 4">
            <a:extLst>
              <a:ext uri="{FF2B5EF4-FFF2-40B4-BE49-F238E27FC236}">
                <a16:creationId xmlns:a16="http://schemas.microsoft.com/office/drawing/2014/main" id="{34B93376-C516-F6B9-64B7-6881E8D2DC07}"/>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19721A62-FCCB-F103-91B2-38D5C68EEA36}"/>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3274441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AF26F-078F-1E4A-6018-CA4B13FEFA6D}"/>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BA591B39-8869-92F1-1EF9-A8ABA76CB3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0BFC13D5-C478-84A5-3534-DA32C304C827}"/>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5" name="Footer Placeholder 4">
            <a:extLst>
              <a:ext uri="{FF2B5EF4-FFF2-40B4-BE49-F238E27FC236}">
                <a16:creationId xmlns:a16="http://schemas.microsoft.com/office/drawing/2014/main" id="{42BE85A6-1A57-02D0-B8D4-36EFC91F1FC1}"/>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064E0F48-8581-41DD-B48F-24E2FB6E9BB1}"/>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605374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AA12E-D424-B313-8207-FC0AB6422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r-TR"/>
          </a:p>
        </p:txBody>
      </p:sp>
      <p:sp>
        <p:nvSpPr>
          <p:cNvPr id="3" name="Text Placeholder 2">
            <a:extLst>
              <a:ext uri="{FF2B5EF4-FFF2-40B4-BE49-F238E27FC236}">
                <a16:creationId xmlns:a16="http://schemas.microsoft.com/office/drawing/2014/main" id="{0DE000A6-0AB8-3F53-F563-9418062434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E5EC8F-DD3F-B005-9816-4BE22CFD2CCB}"/>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5" name="Footer Placeholder 4">
            <a:extLst>
              <a:ext uri="{FF2B5EF4-FFF2-40B4-BE49-F238E27FC236}">
                <a16:creationId xmlns:a16="http://schemas.microsoft.com/office/drawing/2014/main" id="{95B5B828-AF91-8AEC-7C0C-9081898467C6}"/>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0FAD9510-5174-F169-0292-BF9665B6E171}"/>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169743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D7070-D59D-B82B-7DB3-1CE9585A897C}"/>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43C8F74A-F372-D95D-AA19-B14759D759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a:extLst>
              <a:ext uri="{FF2B5EF4-FFF2-40B4-BE49-F238E27FC236}">
                <a16:creationId xmlns:a16="http://schemas.microsoft.com/office/drawing/2014/main" id="{07957DD6-01BD-556E-24BD-A0ED94C277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6A027B42-D865-9A80-343D-D249DB1B47A7}"/>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6" name="Footer Placeholder 5">
            <a:extLst>
              <a:ext uri="{FF2B5EF4-FFF2-40B4-BE49-F238E27FC236}">
                <a16:creationId xmlns:a16="http://schemas.microsoft.com/office/drawing/2014/main" id="{9A0A4F1C-5763-2677-C8CB-93266B2AACF4}"/>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A5938639-E23D-25F2-7A2E-971F61913F10}"/>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1925176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929A1-5471-9132-2F30-9D2AD1461F63}"/>
              </a:ext>
            </a:extLst>
          </p:cNvPr>
          <p:cNvSpPr>
            <a:spLocks noGrp="1"/>
          </p:cNvSpPr>
          <p:nvPr>
            <p:ph type="title"/>
          </p:nvPr>
        </p:nvSpPr>
        <p:spPr>
          <a:xfrm>
            <a:off x="839788" y="365125"/>
            <a:ext cx="10515600" cy="1325563"/>
          </a:xfrm>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id="{AA20950C-F125-0B22-D3FD-F59B7DE3A6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E2A9B1-9CB2-055E-9D28-219CEC7423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a:extLst>
              <a:ext uri="{FF2B5EF4-FFF2-40B4-BE49-F238E27FC236}">
                <a16:creationId xmlns:a16="http://schemas.microsoft.com/office/drawing/2014/main" id="{A633560E-41A3-243C-A410-A438A4DAB0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193C2C-AACC-919B-8A88-A01E6E5B9D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20CCD210-3203-1731-B8B9-EA8B0692194E}"/>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8" name="Footer Placeholder 7">
            <a:extLst>
              <a:ext uri="{FF2B5EF4-FFF2-40B4-BE49-F238E27FC236}">
                <a16:creationId xmlns:a16="http://schemas.microsoft.com/office/drawing/2014/main" id="{7C1853CB-3E80-476C-54A4-3B222950D359}"/>
              </a:ext>
            </a:extLst>
          </p:cNvPr>
          <p:cNvSpPr>
            <a:spLocks noGrp="1"/>
          </p:cNvSpPr>
          <p:nvPr>
            <p:ph type="ftr" sz="quarter" idx="11"/>
          </p:nvPr>
        </p:nvSpPr>
        <p:spPr/>
        <p:txBody>
          <a:bodyPr/>
          <a:lstStyle/>
          <a:p>
            <a:endParaRPr lang="tr-TR"/>
          </a:p>
        </p:txBody>
      </p:sp>
      <p:sp>
        <p:nvSpPr>
          <p:cNvPr id="9" name="Slide Number Placeholder 8">
            <a:extLst>
              <a:ext uri="{FF2B5EF4-FFF2-40B4-BE49-F238E27FC236}">
                <a16:creationId xmlns:a16="http://schemas.microsoft.com/office/drawing/2014/main" id="{6E00E7F4-F1F3-8FAB-0625-2C40A69CF257}"/>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3858645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BBFE1-3A41-EDD1-53EE-E9E28CA335D0}"/>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C1A45B91-6A36-01A7-8338-6CA580728955}"/>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4" name="Footer Placeholder 3">
            <a:extLst>
              <a:ext uri="{FF2B5EF4-FFF2-40B4-BE49-F238E27FC236}">
                <a16:creationId xmlns:a16="http://schemas.microsoft.com/office/drawing/2014/main" id="{2069975B-5F58-D6FC-95AD-A085D9E303FC}"/>
              </a:ext>
            </a:extLst>
          </p:cNvPr>
          <p:cNvSpPr>
            <a:spLocks noGrp="1"/>
          </p:cNvSpPr>
          <p:nvPr>
            <p:ph type="ftr" sz="quarter" idx="11"/>
          </p:nvPr>
        </p:nvSpPr>
        <p:spPr/>
        <p:txBody>
          <a:bodyPr/>
          <a:lstStyle/>
          <a:p>
            <a:endParaRPr lang="tr-TR"/>
          </a:p>
        </p:txBody>
      </p:sp>
      <p:sp>
        <p:nvSpPr>
          <p:cNvPr id="5" name="Slide Number Placeholder 4">
            <a:extLst>
              <a:ext uri="{FF2B5EF4-FFF2-40B4-BE49-F238E27FC236}">
                <a16:creationId xmlns:a16="http://schemas.microsoft.com/office/drawing/2014/main" id="{5588AA35-D404-C478-227E-682BA9DF0983}"/>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2240736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66852B-C66F-B4BF-FBA3-C8E7FAEA329F}"/>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3" name="Footer Placeholder 2">
            <a:extLst>
              <a:ext uri="{FF2B5EF4-FFF2-40B4-BE49-F238E27FC236}">
                <a16:creationId xmlns:a16="http://schemas.microsoft.com/office/drawing/2014/main" id="{B9072DB5-A215-03D8-C604-BFDE39CDD520}"/>
              </a:ext>
            </a:extLst>
          </p:cNvPr>
          <p:cNvSpPr>
            <a:spLocks noGrp="1"/>
          </p:cNvSpPr>
          <p:nvPr>
            <p:ph type="ftr" sz="quarter" idx="11"/>
          </p:nvPr>
        </p:nvSpPr>
        <p:spPr/>
        <p:txBody>
          <a:bodyPr/>
          <a:lstStyle/>
          <a:p>
            <a:endParaRPr lang="tr-TR"/>
          </a:p>
        </p:txBody>
      </p:sp>
      <p:sp>
        <p:nvSpPr>
          <p:cNvPr id="4" name="Slide Number Placeholder 3">
            <a:extLst>
              <a:ext uri="{FF2B5EF4-FFF2-40B4-BE49-F238E27FC236}">
                <a16:creationId xmlns:a16="http://schemas.microsoft.com/office/drawing/2014/main" id="{6B60BCB3-78CB-1562-3D05-888374B3BCF3}"/>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1386499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BCE1B-F8B9-FCF1-0525-38B094C273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Content Placeholder 2">
            <a:extLst>
              <a:ext uri="{FF2B5EF4-FFF2-40B4-BE49-F238E27FC236}">
                <a16:creationId xmlns:a16="http://schemas.microsoft.com/office/drawing/2014/main" id="{949D8762-3EF3-41AB-B638-1EBD9CE9F6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a:extLst>
              <a:ext uri="{FF2B5EF4-FFF2-40B4-BE49-F238E27FC236}">
                <a16:creationId xmlns:a16="http://schemas.microsoft.com/office/drawing/2014/main" id="{BA5E419D-CB89-83CC-7045-B14EB9A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F9DA1A-E5DA-0687-EF56-B7F1111547CD}"/>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6" name="Footer Placeholder 5">
            <a:extLst>
              <a:ext uri="{FF2B5EF4-FFF2-40B4-BE49-F238E27FC236}">
                <a16:creationId xmlns:a16="http://schemas.microsoft.com/office/drawing/2014/main" id="{44E4ADB6-EB8B-3D52-424C-A25B56EF7825}"/>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EA566386-8AB0-6F2D-5CC8-38D9DE17C4D9}"/>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359244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6B18D-F018-046F-69C8-3EB29DC3AE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Picture Placeholder 2">
            <a:extLst>
              <a:ext uri="{FF2B5EF4-FFF2-40B4-BE49-F238E27FC236}">
                <a16:creationId xmlns:a16="http://schemas.microsoft.com/office/drawing/2014/main" id="{06E366AD-9282-306F-1759-89E3C596A0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a:extLst>
              <a:ext uri="{FF2B5EF4-FFF2-40B4-BE49-F238E27FC236}">
                <a16:creationId xmlns:a16="http://schemas.microsoft.com/office/drawing/2014/main" id="{3882CDD9-913A-1FC3-97A0-5F2403ED1A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1C566B-DA44-BC1E-4C89-CA38C1537BAE}"/>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6" name="Footer Placeholder 5">
            <a:extLst>
              <a:ext uri="{FF2B5EF4-FFF2-40B4-BE49-F238E27FC236}">
                <a16:creationId xmlns:a16="http://schemas.microsoft.com/office/drawing/2014/main" id="{06A3414B-8460-2990-90A2-752D67977764}"/>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7451F8BD-2047-E81C-219C-F9365E80C71F}"/>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2975628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2F926-3390-1FC3-29BF-AB3510451DA1}"/>
              </a:ext>
            </a:extLst>
          </p:cNvPr>
          <p:cNvSpPr>
            <a:spLocks noGrp="1"/>
          </p:cNvSpPr>
          <p:nvPr>
            <p:ph type="title"/>
          </p:nvPr>
        </p:nvSpPr>
        <p:spPr/>
        <p:txBody>
          <a:bodyPr/>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D3DF3D67-5818-E6AC-B94E-86D293F3D5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D59F36DD-5913-498C-8556-0773FA194106}"/>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5" name="Footer Placeholder 4">
            <a:extLst>
              <a:ext uri="{FF2B5EF4-FFF2-40B4-BE49-F238E27FC236}">
                <a16:creationId xmlns:a16="http://schemas.microsoft.com/office/drawing/2014/main" id="{9C69463E-64D0-7F31-8964-7E5CDED1DE36}"/>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4C2A4371-122F-D51F-8FFC-8A482857562A}"/>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528084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423923-EADF-9C64-D654-0D1AA9D5A9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DB4F78CD-690F-C8D1-D1DC-BD19E38891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E3688130-90DB-80CA-24BF-3768D23DA1C1}"/>
              </a:ext>
            </a:extLst>
          </p:cNvPr>
          <p:cNvSpPr>
            <a:spLocks noGrp="1"/>
          </p:cNvSpPr>
          <p:nvPr>
            <p:ph type="dt" sz="half" idx="10"/>
          </p:nvPr>
        </p:nvSpPr>
        <p:spPr/>
        <p:txBody>
          <a:bodyPr/>
          <a:lstStyle/>
          <a:p>
            <a:fld id="{2B419284-9C26-4F99-B35C-5F428EB7AE0F}" type="datetimeFigureOut">
              <a:rPr lang="tr-TR" smtClean="0"/>
              <a:t>30.11.2025</a:t>
            </a:fld>
            <a:endParaRPr lang="tr-TR"/>
          </a:p>
        </p:txBody>
      </p:sp>
      <p:sp>
        <p:nvSpPr>
          <p:cNvPr id="5" name="Footer Placeholder 4">
            <a:extLst>
              <a:ext uri="{FF2B5EF4-FFF2-40B4-BE49-F238E27FC236}">
                <a16:creationId xmlns:a16="http://schemas.microsoft.com/office/drawing/2014/main" id="{1674B9BD-9E3F-BB6A-E418-E3FA0CEE458D}"/>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4A801741-4590-89F9-4165-2565D96556BF}"/>
              </a:ext>
            </a:extLst>
          </p:cNvPr>
          <p:cNvSpPr>
            <a:spLocks noGrp="1"/>
          </p:cNvSpPr>
          <p:nvPr>
            <p:ph type="sldNum" sz="quarter" idx="12"/>
          </p:nvPr>
        </p:nvSpPr>
        <p:spPr/>
        <p:txBody>
          <a:bodyPr/>
          <a:lstStyle/>
          <a:p>
            <a:fld id="{ED87EA8F-1615-4320-82EE-6D6C0067524C}" type="slidenum">
              <a:rPr lang="tr-TR" smtClean="0"/>
              <a:t>‹#›</a:t>
            </a:fld>
            <a:endParaRPr lang="tr-TR"/>
          </a:p>
        </p:txBody>
      </p:sp>
    </p:spTree>
    <p:extLst>
      <p:ext uri="{BB962C8B-B14F-4D97-AF65-F5344CB8AC3E}">
        <p14:creationId xmlns:p14="http://schemas.microsoft.com/office/powerpoint/2010/main" val="814145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69734C-D785-95AC-FC02-9378B67A01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a:extLst>
              <a:ext uri="{FF2B5EF4-FFF2-40B4-BE49-F238E27FC236}">
                <a16:creationId xmlns:a16="http://schemas.microsoft.com/office/drawing/2014/main" id="{9E8789CA-51DC-8ACB-F8D7-49006C308F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2F3CA151-0233-C95E-5695-B63403294E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419284-9C26-4F99-B35C-5F428EB7AE0F}" type="datetimeFigureOut">
              <a:rPr lang="tr-TR" smtClean="0"/>
              <a:t>30.11.2025</a:t>
            </a:fld>
            <a:endParaRPr lang="tr-TR"/>
          </a:p>
        </p:txBody>
      </p:sp>
      <p:sp>
        <p:nvSpPr>
          <p:cNvPr id="5" name="Footer Placeholder 4">
            <a:extLst>
              <a:ext uri="{FF2B5EF4-FFF2-40B4-BE49-F238E27FC236}">
                <a16:creationId xmlns:a16="http://schemas.microsoft.com/office/drawing/2014/main" id="{0DFA2805-92BF-C2D5-A0BA-3430DE3658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ide Number Placeholder 5">
            <a:extLst>
              <a:ext uri="{FF2B5EF4-FFF2-40B4-BE49-F238E27FC236}">
                <a16:creationId xmlns:a16="http://schemas.microsoft.com/office/drawing/2014/main" id="{3877A374-535B-A982-FF63-BC27DFE3E6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87EA8F-1615-4320-82EE-6D6C0067524C}" type="slidenum">
              <a:rPr lang="tr-TR" smtClean="0"/>
              <a:t>‹#›</a:t>
            </a:fld>
            <a:endParaRPr lang="tr-TR"/>
          </a:p>
        </p:txBody>
      </p:sp>
    </p:spTree>
    <p:extLst>
      <p:ext uri="{BB962C8B-B14F-4D97-AF65-F5344CB8AC3E}">
        <p14:creationId xmlns:p14="http://schemas.microsoft.com/office/powerpoint/2010/main" val="2491031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CD65C-65D8-CA6A-8E7F-2A818894DF70}"/>
              </a:ext>
            </a:extLst>
          </p:cNvPr>
          <p:cNvSpPr>
            <a:spLocks noGrp="1"/>
          </p:cNvSpPr>
          <p:nvPr>
            <p:ph type="ctrTitle"/>
          </p:nvPr>
        </p:nvSpPr>
        <p:spPr/>
        <p:txBody>
          <a:bodyPr>
            <a:normAutofit fontScale="90000"/>
          </a:bodyPr>
          <a:lstStyle/>
          <a:p>
            <a:r>
              <a:rPr lang="en-US" noProof="0" dirty="0"/>
              <a:t>Chain-of-Thought Prompting Elicits Reasoning</a:t>
            </a:r>
            <a:br>
              <a:rPr lang="en-US" noProof="0" dirty="0"/>
            </a:br>
            <a:r>
              <a:rPr lang="en-US" noProof="0" dirty="0"/>
              <a:t>in Large Language Models</a:t>
            </a:r>
          </a:p>
        </p:txBody>
      </p:sp>
      <p:sp>
        <p:nvSpPr>
          <p:cNvPr id="3" name="Subtitle 2">
            <a:extLst>
              <a:ext uri="{FF2B5EF4-FFF2-40B4-BE49-F238E27FC236}">
                <a16:creationId xmlns:a16="http://schemas.microsoft.com/office/drawing/2014/main" id="{0D2F389E-63D3-BDFE-60A7-5D3DD0EAEC48}"/>
              </a:ext>
            </a:extLst>
          </p:cNvPr>
          <p:cNvSpPr>
            <a:spLocks noGrp="1"/>
          </p:cNvSpPr>
          <p:nvPr>
            <p:ph type="subTitle" idx="1"/>
          </p:nvPr>
        </p:nvSpPr>
        <p:spPr>
          <a:xfrm>
            <a:off x="1524000" y="4246051"/>
            <a:ext cx="9144000" cy="1655762"/>
          </a:xfrm>
        </p:spPr>
        <p:txBody>
          <a:bodyPr/>
          <a:lstStyle/>
          <a:p>
            <a:r>
              <a:rPr lang="en-US" noProof="0" dirty="0"/>
              <a:t>Furkan KARA</a:t>
            </a:r>
          </a:p>
          <a:p>
            <a:r>
              <a:rPr lang="en-US" noProof="0" dirty="0"/>
              <a:t>Student ID: 300201046</a:t>
            </a:r>
          </a:p>
          <a:p>
            <a:r>
              <a:rPr lang="en-US" noProof="0" dirty="0"/>
              <a:t>2025</a:t>
            </a:r>
          </a:p>
        </p:txBody>
      </p:sp>
      <p:pic>
        <p:nvPicPr>
          <p:cNvPr id="5" name="Picture 4">
            <a:extLst>
              <a:ext uri="{FF2B5EF4-FFF2-40B4-BE49-F238E27FC236}">
                <a16:creationId xmlns:a16="http://schemas.microsoft.com/office/drawing/2014/main" id="{3F9015F7-D9BF-25F9-5702-55EBD6391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45626"/>
            <a:ext cx="1912374" cy="1912374"/>
          </a:xfrm>
          <a:prstGeom prst="rect">
            <a:avLst/>
          </a:prstGeom>
        </p:spPr>
      </p:pic>
    </p:spTree>
    <p:extLst>
      <p:ext uri="{BB962C8B-B14F-4D97-AF65-F5344CB8AC3E}">
        <p14:creationId xmlns:p14="http://schemas.microsoft.com/office/powerpoint/2010/main" val="773878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9DBC7C7-A212-56F8-5CCB-5A99FC53E7D5}"/>
              </a:ext>
            </a:extLst>
          </p:cNvPr>
          <p:cNvSpPr>
            <a:spLocks noGrp="1"/>
          </p:cNvSpPr>
          <p:nvPr>
            <p:ph type="title"/>
          </p:nvPr>
        </p:nvSpPr>
        <p:spPr>
          <a:xfrm>
            <a:off x="572493" y="238539"/>
            <a:ext cx="11018520" cy="1434415"/>
          </a:xfrm>
        </p:spPr>
        <p:txBody>
          <a:bodyPr anchor="b">
            <a:normAutofit/>
          </a:bodyPr>
          <a:lstStyle/>
          <a:p>
            <a:r>
              <a:rPr lang="en-US" sz="5400" noProof="0" dirty="0"/>
              <a:t>The Problem</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D0327B01-13C7-42C8-7CCD-0CC2688E85C9}"/>
              </a:ext>
            </a:extLst>
          </p:cNvPr>
          <p:cNvSpPr>
            <a:spLocks noGrp="1"/>
          </p:cNvSpPr>
          <p:nvPr>
            <p:ph idx="1"/>
          </p:nvPr>
        </p:nvSpPr>
        <p:spPr>
          <a:xfrm>
            <a:off x="572493" y="2071316"/>
            <a:ext cx="6713552" cy="4119172"/>
          </a:xfrm>
        </p:spPr>
        <p:txBody>
          <a:bodyPr anchor="t">
            <a:noAutofit/>
          </a:bodyPr>
          <a:lstStyle/>
          <a:p>
            <a:r>
              <a:rPr lang="en-US" sz="2400" noProof="0" dirty="0"/>
              <a:t>LLMs often struggle with complex reasoning. Simply giving them a few examples of a problem and its answer (standard prompting) isn't enough.</a:t>
            </a:r>
          </a:p>
          <a:p>
            <a:r>
              <a:rPr lang="en-US" sz="2400" noProof="0" dirty="0"/>
              <a:t>Instead of just showing the model the question and answer, you also show it the step-by-step reasoning in natural language that leads to the answer.</a:t>
            </a:r>
          </a:p>
          <a:p>
            <a:r>
              <a:rPr lang="en-US" sz="2400" noProof="0" dirty="0"/>
              <a:t>This method dramatically improves the model's performance without needing expensive retraining, using only a few examples.</a:t>
            </a:r>
          </a:p>
        </p:txBody>
      </p:sp>
      <p:pic>
        <p:nvPicPr>
          <p:cNvPr id="6" name="Picture 5">
            <a:extLst>
              <a:ext uri="{FF2B5EF4-FFF2-40B4-BE49-F238E27FC236}">
                <a16:creationId xmlns:a16="http://schemas.microsoft.com/office/drawing/2014/main" id="{033AF45E-764E-13A9-CD53-9542A3D6C996}"/>
              </a:ext>
            </a:extLst>
          </p:cNvPr>
          <p:cNvPicPr>
            <a:picLocks noChangeAspect="1"/>
          </p:cNvPicPr>
          <p:nvPr/>
        </p:nvPicPr>
        <p:blipFill>
          <a:blip r:embed="rId2"/>
          <a:stretch>
            <a:fillRect/>
          </a:stretch>
        </p:blipFill>
        <p:spPr>
          <a:xfrm>
            <a:off x="7553259" y="2071316"/>
            <a:ext cx="4213732" cy="4025620"/>
          </a:xfrm>
          <a:prstGeom prst="rect">
            <a:avLst/>
          </a:prstGeom>
        </p:spPr>
      </p:pic>
    </p:spTree>
    <p:extLst>
      <p:ext uri="{BB962C8B-B14F-4D97-AF65-F5344CB8AC3E}">
        <p14:creationId xmlns:p14="http://schemas.microsoft.com/office/powerpoint/2010/main" val="167409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634E-9CC7-6B24-AA40-DA880969F177}"/>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1F1128AB-65A1-8B59-5187-4DC35EFC9F69}"/>
              </a:ext>
            </a:extLst>
          </p:cNvPr>
          <p:cNvSpPr>
            <a:spLocks noGrp="1"/>
          </p:cNvSpPr>
          <p:nvPr>
            <p:ph idx="1"/>
          </p:nvPr>
        </p:nvSpPr>
        <p:spPr/>
        <p:txBody>
          <a:bodyPr/>
          <a:lstStyle/>
          <a:p>
            <a:endParaRPr lang="tr-TR"/>
          </a:p>
        </p:txBody>
      </p:sp>
      <p:pic>
        <p:nvPicPr>
          <p:cNvPr id="5" name="Picture 4">
            <a:extLst>
              <a:ext uri="{FF2B5EF4-FFF2-40B4-BE49-F238E27FC236}">
                <a16:creationId xmlns:a16="http://schemas.microsoft.com/office/drawing/2014/main" id="{4BAABFE6-16A0-4D97-03C6-48CFDFCAC66B}"/>
              </a:ext>
            </a:extLst>
          </p:cNvPr>
          <p:cNvPicPr>
            <a:picLocks noChangeAspect="1"/>
          </p:cNvPicPr>
          <p:nvPr/>
        </p:nvPicPr>
        <p:blipFill>
          <a:blip r:embed="rId2"/>
          <a:stretch>
            <a:fillRect/>
          </a:stretch>
        </p:blipFill>
        <p:spPr>
          <a:xfrm>
            <a:off x="1090870" y="646212"/>
            <a:ext cx="10010259" cy="5559787"/>
          </a:xfrm>
          <a:prstGeom prst="rect">
            <a:avLst/>
          </a:prstGeom>
        </p:spPr>
      </p:pic>
    </p:spTree>
    <p:extLst>
      <p:ext uri="{BB962C8B-B14F-4D97-AF65-F5344CB8AC3E}">
        <p14:creationId xmlns:p14="http://schemas.microsoft.com/office/powerpoint/2010/main" val="4034505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A51C7-B9A4-7F43-889A-046D1A566086}"/>
              </a:ext>
            </a:extLst>
          </p:cNvPr>
          <p:cNvSpPr>
            <a:spLocks noGrp="1"/>
          </p:cNvSpPr>
          <p:nvPr>
            <p:ph type="title"/>
          </p:nvPr>
        </p:nvSpPr>
        <p:spPr/>
        <p:txBody>
          <a:bodyPr/>
          <a:lstStyle/>
          <a:p>
            <a:endParaRPr lang="en-US" noProof="0" dirty="0"/>
          </a:p>
        </p:txBody>
      </p:sp>
      <p:sp>
        <p:nvSpPr>
          <p:cNvPr id="3" name="Content Placeholder 2">
            <a:extLst>
              <a:ext uri="{FF2B5EF4-FFF2-40B4-BE49-F238E27FC236}">
                <a16:creationId xmlns:a16="http://schemas.microsoft.com/office/drawing/2014/main" id="{BBB6E476-8E9B-F6DE-22FD-F9AA4FB9C6E7}"/>
              </a:ext>
            </a:extLst>
          </p:cNvPr>
          <p:cNvSpPr>
            <a:spLocks noGrp="1"/>
          </p:cNvSpPr>
          <p:nvPr>
            <p:ph idx="1"/>
          </p:nvPr>
        </p:nvSpPr>
        <p:spPr/>
        <p:txBody>
          <a:bodyPr/>
          <a:lstStyle/>
          <a:p>
            <a:endParaRPr lang="en-US" noProof="0" dirty="0"/>
          </a:p>
        </p:txBody>
      </p:sp>
      <p:pic>
        <p:nvPicPr>
          <p:cNvPr id="11" name="Picture 10">
            <a:extLst>
              <a:ext uri="{FF2B5EF4-FFF2-40B4-BE49-F238E27FC236}">
                <a16:creationId xmlns:a16="http://schemas.microsoft.com/office/drawing/2014/main" id="{D0E526A7-863A-6F73-B3E0-35580DA964F0}"/>
              </a:ext>
            </a:extLst>
          </p:cNvPr>
          <p:cNvPicPr>
            <a:picLocks noChangeAspect="1"/>
          </p:cNvPicPr>
          <p:nvPr/>
        </p:nvPicPr>
        <p:blipFill>
          <a:blip r:embed="rId2"/>
          <a:stretch>
            <a:fillRect/>
          </a:stretch>
        </p:blipFill>
        <p:spPr>
          <a:xfrm>
            <a:off x="2447416" y="242443"/>
            <a:ext cx="7297168" cy="6373114"/>
          </a:xfrm>
          <a:prstGeom prst="rect">
            <a:avLst/>
          </a:prstGeom>
        </p:spPr>
      </p:pic>
    </p:spTree>
    <p:extLst>
      <p:ext uri="{BB962C8B-B14F-4D97-AF65-F5344CB8AC3E}">
        <p14:creationId xmlns:p14="http://schemas.microsoft.com/office/powerpoint/2010/main" val="4166964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BFF3B1-9E9B-1B11-C988-130A1E49E8DA}"/>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570550D-0848-B158-C7DC-F2FDCCCC6C26}"/>
              </a:ext>
            </a:extLst>
          </p:cNvPr>
          <p:cNvSpPr>
            <a:spLocks noGrp="1"/>
          </p:cNvSpPr>
          <p:nvPr>
            <p:ph type="title"/>
          </p:nvPr>
        </p:nvSpPr>
        <p:spPr>
          <a:xfrm>
            <a:off x="630936" y="640080"/>
            <a:ext cx="4818888" cy="1481328"/>
          </a:xfrm>
        </p:spPr>
        <p:txBody>
          <a:bodyPr anchor="b">
            <a:normAutofit/>
          </a:bodyPr>
          <a:lstStyle/>
          <a:p>
            <a:r>
              <a:rPr lang="en-US" sz="5400" noProof="0" dirty="0"/>
              <a:t> Results</a:t>
            </a:r>
          </a:p>
        </p:txBody>
      </p:sp>
      <p:sp>
        <p:nvSpPr>
          <p:cNvPr id="40"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1279BD81-8240-F1C6-7621-2549959FEECF}"/>
              </a:ext>
            </a:extLst>
          </p:cNvPr>
          <p:cNvSpPr>
            <a:spLocks noGrp="1"/>
          </p:cNvSpPr>
          <p:nvPr>
            <p:ph idx="1"/>
          </p:nvPr>
        </p:nvSpPr>
        <p:spPr>
          <a:xfrm>
            <a:off x="630936" y="2660904"/>
            <a:ext cx="4818888" cy="3547872"/>
          </a:xfrm>
        </p:spPr>
        <p:txBody>
          <a:bodyPr anchor="t">
            <a:normAutofit/>
          </a:bodyPr>
          <a:lstStyle/>
          <a:p>
            <a:r>
              <a:rPr lang="en-US" sz="2200" noProof="0" dirty="0"/>
              <a:t>It Only Works on Big Models</a:t>
            </a:r>
          </a:p>
          <a:p>
            <a:r>
              <a:rPr lang="en-US" sz="2200" noProof="0" dirty="0"/>
              <a:t>It Helps Most on Hard Problems</a:t>
            </a:r>
          </a:p>
          <a:p>
            <a:r>
              <a:rPr lang="en-US" sz="2200" noProof="0" dirty="0"/>
              <a:t>It Beats Old Methods</a:t>
            </a:r>
          </a:p>
        </p:txBody>
      </p:sp>
      <p:pic>
        <p:nvPicPr>
          <p:cNvPr id="5" name="Picture 4">
            <a:extLst>
              <a:ext uri="{FF2B5EF4-FFF2-40B4-BE49-F238E27FC236}">
                <a16:creationId xmlns:a16="http://schemas.microsoft.com/office/drawing/2014/main" id="{35CDECC5-31FF-16BE-DAB6-A0C592B2CF23}"/>
              </a:ext>
            </a:extLst>
          </p:cNvPr>
          <p:cNvPicPr>
            <a:picLocks noChangeAspect="1"/>
          </p:cNvPicPr>
          <p:nvPr/>
        </p:nvPicPr>
        <p:blipFill>
          <a:blip r:embed="rId2"/>
          <a:stretch>
            <a:fillRect/>
          </a:stretch>
        </p:blipFill>
        <p:spPr>
          <a:xfrm>
            <a:off x="6946608" y="245695"/>
            <a:ext cx="4158272" cy="6229622"/>
          </a:xfrm>
          <a:prstGeom prst="rect">
            <a:avLst/>
          </a:prstGeom>
        </p:spPr>
      </p:pic>
    </p:spTree>
    <p:extLst>
      <p:ext uri="{BB962C8B-B14F-4D97-AF65-F5344CB8AC3E}">
        <p14:creationId xmlns:p14="http://schemas.microsoft.com/office/powerpoint/2010/main" val="4055658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0B92BE-E2A8-A25F-FBF7-64C2E2C5F621}"/>
              </a:ext>
            </a:extLst>
          </p:cNvPr>
          <p:cNvPicPr>
            <a:picLocks noChangeAspect="1"/>
          </p:cNvPicPr>
          <p:nvPr/>
        </p:nvPicPr>
        <p:blipFill>
          <a:blip r:embed="rId2"/>
          <a:stretch>
            <a:fillRect/>
          </a:stretch>
        </p:blipFill>
        <p:spPr>
          <a:xfrm>
            <a:off x="644570" y="345048"/>
            <a:ext cx="10902859" cy="6167904"/>
          </a:xfrm>
          <a:prstGeom prst="rect">
            <a:avLst/>
          </a:prstGeom>
        </p:spPr>
      </p:pic>
    </p:spTree>
    <p:extLst>
      <p:ext uri="{BB962C8B-B14F-4D97-AF65-F5344CB8AC3E}">
        <p14:creationId xmlns:p14="http://schemas.microsoft.com/office/powerpoint/2010/main" val="2231870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F8648B-8C6C-DD4B-E30B-F7FCFF837903}"/>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848F41-BD36-2254-E04D-B77049245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CC042C8D-45D7-F256-DC54-3D6079820E61}"/>
              </a:ext>
            </a:extLst>
          </p:cNvPr>
          <p:cNvSpPr>
            <a:spLocks noGrp="1"/>
          </p:cNvSpPr>
          <p:nvPr>
            <p:ph type="title"/>
          </p:nvPr>
        </p:nvSpPr>
        <p:spPr>
          <a:xfrm>
            <a:off x="838200" y="365125"/>
            <a:ext cx="10515600" cy="1325563"/>
          </a:xfrm>
        </p:spPr>
        <p:txBody>
          <a:bodyPr>
            <a:normAutofit/>
          </a:bodyPr>
          <a:lstStyle/>
          <a:p>
            <a:r>
              <a:rPr lang="en-US" sz="5400" noProof="0" dirty="0"/>
              <a:t>Related Work</a:t>
            </a:r>
          </a:p>
        </p:txBody>
      </p:sp>
      <p:sp>
        <p:nvSpPr>
          <p:cNvPr id="26" name="sketch line">
            <a:extLst>
              <a:ext uri="{FF2B5EF4-FFF2-40B4-BE49-F238E27FC236}">
                <a16:creationId xmlns:a16="http://schemas.microsoft.com/office/drawing/2014/main" id="{479660C8-9BF1-66BD-286C-D9F3D7034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2">
            <a:extLst>
              <a:ext uri="{FF2B5EF4-FFF2-40B4-BE49-F238E27FC236}">
                <a16:creationId xmlns:a16="http://schemas.microsoft.com/office/drawing/2014/main" id="{074A1CFA-3B7C-1595-4616-A392229CA76F}"/>
              </a:ext>
            </a:extLst>
          </p:cNvPr>
          <p:cNvSpPr>
            <a:spLocks noGrp="1" noChangeArrowheads="1"/>
          </p:cNvSpPr>
          <p:nvPr>
            <p:ph idx="1"/>
          </p:nvPr>
        </p:nvSpPr>
        <p:spPr bwMode="auto">
          <a:xfrm>
            <a:off x="838200" y="1821292"/>
            <a:ext cx="10596716" cy="4467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First Aspect: Using Intermediate Steps (Old Methods)</a:t>
            </a:r>
          </a:p>
          <a:p>
            <a:r>
              <a:rPr lang="en-US" sz="2400" dirty="0"/>
              <a:t>They were specifically training the model to solve math problems or predict lines of code (training/fine-tuning).</a:t>
            </a:r>
            <a:br>
              <a:rPr lang="en-US" sz="2400" dirty="0"/>
            </a:br>
            <a:r>
              <a:rPr lang="en-US" sz="2400" dirty="0"/>
              <a:t>Forcing the model to think step by step required giving it thousands of solved examples and retraining it. This was too expensive.</a:t>
            </a:r>
          </a:p>
          <a:p>
            <a:r>
              <a:rPr lang="en-US" sz="2400" b="1" dirty="0"/>
              <a:t>Second Aspect: Prompting (Standard Prompting)</a:t>
            </a:r>
          </a:p>
          <a:p>
            <a:r>
              <a:rPr lang="en-US" sz="2400" dirty="0"/>
              <a:t>This group, on the other hand, was trying to improve performance by simply changing the input without training the models.</a:t>
            </a:r>
            <a:br>
              <a:rPr lang="en-US" sz="2400" dirty="0"/>
            </a:br>
            <a:r>
              <a:rPr lang="en-US" sz="2400" dirty="0"/>
              <a:t>They were changing the questioning method or adding instructions that described the task.</a:t>
            </a:r>
            <a:br>
              <a:rPr lang="en-US" sz="2400" dirty="0"/>
            </a:br>
            <a:r>
              <a:rPr lang="en-US" sz="2400" dirty="0"/>
              <a:t>They were simply improving the input but still asking the model directly for the output. They weren't interfering with how the model thought.</a:t>
            </a:r>
          </a:p>
        </p:txBody>
      </p:sp>
    </p:spTree>
    <p:extLst>
      <p:ext uri="{BB962C8B-B14F-4D97-AF65-F5344CB8AC3E}">
        <p14:creationId xmlns:p14="http://schemas.microsoft.com/office/powerpoint/2010/main" val="2109441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E1511D-5036-42B7-6354-0B317F8962A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27B4D6B-0BC2-AE73-BA94-7C2662278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46DE4A0-093E-E71A-2199-03B4EEBF47F9}"/>
              </a:ext>
            </a:extLst>
          </p:cNvPr>
          <p:cNvSpPr>
            <a:spLocks noGrp="1"/>
          </p:cNvSpPr>
          <p:nvPr>
            <p:ph type="title"/>
          </p:nvPr>
        </p:nvSpPr>
        <p:spPr>
          <a:xfrm>
            <a:off x="838200" y="365125"/>
            <a:ext cx="10515600" cy="1325563"/>
          </a:xfrm>
        </p:spPr>
        <p:txBody>
          <a:bodyPr>
            <a:normAutofit/>
          </a:bodyPr>
          <a:lstStyle/>
          <a:p>
            <a:r>
              <a:rPr lang="en-US" sz="5400" noProof="0" dirty="0"/>
              <a:t>Related Work</a:t>
            </a:r>
          </a:p>
        </p:txBody>
      </p:sp>
      <p:sp>
        <p:nvSpPr>
          <p:cNvPr id="26" name="sketch line">
            <a:extLst>
              <a:ext uri="{FF2B5EF4-FFF2-40B4-BE49-F238E27FC236}">
                <a16:creationId xmlns:a16="http://schemas.microsoft.com/office/drawing/2014/main" id="{CFB35514-6FEA-E352-EC38-EAF4EA92C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2">
            <a:extLst>
              <a:ext uri="{FF2B5EF4-FFF2-40B4-BE49-F238E27FC236}">
                <a16:creationId xmlns:a16="http://schemas.microsoft.com/office/drawing/2014/main" id="{BB3E14EB-09DE-96DF-B9D6-996EF5DF9BAF}"/>
              </a:ext>
            </a:extLst>
          </p:cNvPr>
          <p:cNvSpPr>
            <a:spLocks noGrp="1" noChangeArrowheads="1"/>
          </p:cNvSpPr>
          <p:nvPr>
            <p:ph idx="1"/>
          </p:nvPr>
        </p:nvSpPr>
        <p:spPr bwMode="auto">
          <a:xfrm>
            <a:off x="838200" y="2306561"/>
            <a:ext cx="10596716" cy="2553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What's the difference?</a:t>
            </a:r>
          </a:p>
          <a:p>
            <a:r>
              <a:rPr lang="en-US" sz="2400" dirty="0"/>
              <a:t>CoT finds the middle ground between these two approaches.</a:t>
            </a:r>
            <a:br>
              <a:rPr lang="en-US" sz="2400" dirty="0"/>
            </a:br>
            <a:r>
              <a:rPr lang="en-US" sz="2400" dirty="0"/>
              <a:t>Other prompt methods focus on the INPUT part (asking the question more effectively).</a:t>
            </a:r>
            <a:br>
              <a:rPr lang="en-US" sz="2400" dirty="0"/>
            </a:br>
            <a:r>
              <a:rPr lang="en-US" sz="2400" dirty="0"/>
              <a:t>This article focuses on the OUTPUT part. It tells the model, "Before giving the answer, write down your thoughts as part of the output."</a:t>
            </a:r>
          </a:p>
          <a:p>
            <a:pPr marL="0" lvl="0" indent="0" eaLnBrk="0" fontAlgn="base" hangingPunct="0">
              <a:lnSpc>
                <a:spcPct val="100000"/>
              </a:lnSpc>
              <a:spcBef>
                <a:spcPct val="0"/>
              </a:spcBef>
              <a:spcAft>
                <a:spcPct val="0"/>
              </a:spcAft>
              <a:buNone/>
            </a:pPr>
            <a:endParaRPr kumimoji="0" lang="en-US" altLang="en-US" sz="22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9138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9DFCA4-185B-6C26-71BB-C90B96CA31CD}"/>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67C7A1C-836F-8C0B-108C-DBEDC67225CC}"/>
              </a:ext>
            </a:extLst>
          </p:cNvPr>
          <p:cNvSpPr>
            <a:spLocks noGrp="1"/>
          </p:cNvSpPr>
          <p:nvPr>
            <p:ph type="title"/>
          </p:nvPr>
        </p:nvSpPr>
        <p:spPr>
          <a:xfrm>
            <a:off x="572493" y="238539"/>
            <a:ext cx="11018520" cy="1434415"/>
          </a:xfrm>
        </p:spPr>
        <p:txBody>
          <a:bodyPr anchor="b">
            <a:normAutofit/>
          </a:bodyPr>
          <a:lstStyle/>
          <a:p>
            <a:r>
              <a:rPr lang="en-US" sz="5400" noProof="0" dirty="0"/>
              <a:t>Ablation Study</a:t>
            </a:r>
          </a:p>
        </p:txBody>
      </p:sp>
      <p:sp>
        <p:nvSpPr>
          <p:cNvPr id="4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252FDEE8-5036-D019-2748-599B97E2E74C}"/>
              </a:ext>
            </a:extLst>
          </p:cNvPr>
          <p:cNvSpPr>
            <a:spLocks noGrp="1"/>
          </p:cNvSpPr>
          <p:nvPr>
            <p:ph idx="1"/>
          </p:nvPr>
        </p:nvSpPr>
        <p:spPr>
          <a:xfrm>
            <a:off x="572492" y="2071316"/>
            <a:ext cx="7627611" cy="4119172"/>
          </a:xfrm>
        </p:spPr>
        <p:txBody>
          <a:bodyPr anchor="t">
            <a:noAutofit/>
          </a:bodyPr>
          <a:lstStyle/>
          <a:p>
            <a:r>
              <a:rPr lang="en-US" sz="2000" b="1" noProof="0" dirty="0"/>
              <a:t>Equation Only: </a:t>
            </a:r>
            <a:r>
              <a:rPr lang="en-US" sz="2000" noProof="0" dirty="0"/>
              <a:t>They told the model to just output the math equation.</a:t>
            </a:r>
            <a:br>
              <a:rPr lang="en-US" sz="2000" noProof="0" dirty="0"/>
            </a:br>
            <a:r>
              <a:rPr lang="en-US" sz="2000" noProof="0" dirty="0"/>
              <a:t>This didn't work well. The model can't just jump to the equation.</a:t>
            </a:r>
          </a:p>
          <a:p>
            <a:r>
              <a:rPr lang="en-US" sz="2000" b="1" noProof="0" dirty="0"/>
              <a:t>Variable Compute Only: </a:t>
            </a:r>
            <a:r>
              <a:rPr lang="en-US" sz="2000" noProof="0" dirty="0"/>
              <a:t>They let the model "think" for the same amount of time but without any actual reasoning.</a:t>
            </a:r>
            <a:br>
              <a:rPr lang="en-US" sz="2000" noProof="0" dirty="0"/>
            </a:br>
            <a:r>
              <a:rPr lang="en-US" sz="2000" noProof="0" dirty="0"/>
              <a:t>This also didn't work. Just giving the model more time to think without structuring those thoughts is useless. The content of the reasoning steps is what matters.</a:t>
            </a:r>
          </a:p>
          <a:p>
            <a:r>
              <a:rPr lang="en-US" sz="2000" b="1" noProof="0" dirty="0"/>
              <a:t>Chain of Thought After Answer: </a:t>
            </a:r>
            <a:r>
              <a:rPr lang="en-US" sz="2000" noProof="0" dirty="0"/>
              <a:t>They made the model give the final answer first and then write the reasoning steps.</a:t>
            </a:r>
            <a:br>
              <a:rPr lang="en-US" sz="2000" noProof="0" dirty="0"/>
            </a:br>
            <a:r>
              <a:rPr lang="en-US" sz="2000" noProof="0" dirty="0"/>
              <a:t>This failed. The model needs to use the step-by-step reasoning to arrive at the answer. </a:t>
            </a:r>
          </a:p>
        </p:txBody>
      </p:sp>
      <p:pic>
        <p:nvPicPr>
          <p:cNvPr id="7" name="Picture 6">
            <a:extLst>
              <a:ext uri="{FF2B5EF4-FFF2-40B4-BE49-F238E27FC236}">
                <a16:creationId xmlns:a16="http://schemas.microsoft.com/office/drawing/2014/main" id="{40FE8632-C73A-9F82-FB6B-87D4B3B46FD0}"/>
              </a:ext>
            </a:extLst>
          </p:cNvPr>
          <p:cNvPicPr>
            <a:picLocks noChangeAspect="1"/>
          </p:cNvPicPr>
          <p:nvPr/>
        </p:nvPicPr>
        <p:blipFill>
          <a:blip r:embed="rId2"/>
          <a:stretch>
            <a:fillRect/>
          </a:stretch>
        </p:blipFill>
        <p:spPr>
          <a:xfrm>
            <a:off x="8405370" y="2071316"/>
            <a:ext cx="3214137" cy="3810700"/>
          </a:xfrm>
          <a:prstGeom prst="rect">
            <a:avLst/>
          </a:prstGeom>
        </p:spPr>
      </p:pic>
    </p:spTree>
    <p:extLst>
      <p:ext uri="{BB962C8B-B14F-4D97-AF65-F5344CB8AC3E}">
        <p14:creationId xmlns:p14="http://schemas.microsoft.com/office/powerpoint/2010/main" val="2309810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477DBB-452E-E793-5B0B-DC4459A1DB95}"/>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7B8591C-686E-C03C-7323-54991C26C0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BAFB3371-2509-9CC1-4A5A-0690045E54BF}"/>
              </a:ext>
            </a:extLst>
          </p:cNvPr>
          <p:cNvSpPr>
            <a:spLocks noGrp="1"/>
          </p:cNvSpPr>
          <p:nvPr>
            <p:ph type="title"/>
          </p:nvPr>
        </p:nvSpPr>
        <p:spPr>
          <a:xfrm>
            <a:off x="420624" y="360954"/>
            <a:ext cx="10515600" cy="1325563"/>
          </a:xfrm>
        </p:spPr>
        <p:txBody>
          <a:bodyPr>
            <a:normAutofit/>
          </a:bodyPr>
          <a:lstStyle/>
          <a:p>
            <a:r>
              <a:rPr lang="en-US" sz="5400" noProof="0" dirty="0"/>
              <a:t> Robustness of CoT</a:t>
            </a:r>
          </a:p>
        </p:txBody>
      </p:sp>
      <p:sp>
        <p:nvSpPr>
          <p:cNvPr id="26" name="sketch line">
            <a:extLst>
              <a:ext uri="{FF2B5EF4-FFF2-40B4-BE49-F238E27FC236}">
                <a16:creationId xmlns:a16="http://schemas.microsoft.com/office/drawing/2014/main" id="{11F3AFB4-EF43-E25B-6CCD-3C8079DB0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8FCE9389-8A8A-D6B6-93DF-448B94CAC2C2}"/>
              </a:ext>
            </a:extLst>
          </p:cNvPr>
          <p:cNvSpPr>
            <a:spLocks noGrp="1"/>
          </p:cNvSpPr>
          <p:nvPr>
            <p:ph idx="1"/>
          </p:nvPr>
        </p:nvSpPr>
        <p:spPr>
          <a:xfrm>
            <a:off x="550605" y="1929384"/>
            <a:ext cx="8308259" cy="4251960"/>
          </a:xfrm>
        </p:spPr>
        <p:txBody>
          <a:bodyPr>
            <a:normAutofit/>
          </a:bodyPr>
          <a:lstStyle/>
          <a:p>
            <a:r>
              <a:rPr lang="en-US" sz="2200" noProof="0" dirty="0"/>
              <a:t>The researchers tested how robust the CoT method is. They wanted to see if it would only work with one specific, perfectly-written example. They found:</a:t>
            </a:r>
          </a:p>
          <a:p>
            <a:r>
              <a:rPr lang="en-US" sz="2200" b="1" noProof="0" dirty="0"/>
              <a:t>It's not about perfect wording: </a:t>
            </a:r>
            <a:r>
              <a:rPr lang="en-US" sz="2200" noProof="0" dirty="0"/>
              <a:t>Different people wrote the step-by-step reasoning in their own style (detailed vs concise). </a:t>
            </a:r>
            <a:br>
              <a:rPr lang="en-US" sz="2200" noProof="0" dirty="0"/>
            </a:br>
            <a:r>
              <a:rPr lang="en-US" sz="2200" noProof="0" dirty="0"/>
              <a:t>Even though the wording changed, all versions of the CoT prompts worked much better than the standard method.</a:t>
            </a:r>
          </a:p>
          <a:p>
            <a:r>
              <a:rPr lang="en-US" sz="2200" b="1" noProof="0" dirty="0"/>
              <a:t>It works with random examples: </a:t>
            </a:r>
            <a:r>
              <a:rPr lang="en-US" sz="2200" noProof="0" dirty="0"/>
              <a:t>They also tried using examples taken directly from a training dataset, and those worked just as well as the ones they wrote themselves.</a:t>
            </a:r>
          </a:p>
        </p:txBody>
      </p:sp>
      <p:pic>
        <p:nvPicPr>
          <p:cNvPr id="11" name="Picture 10">
            <a:extLst>
              <a:ext uri="{FF2B5EF4-FFF2-40B4-BE49-F238E27FC236}">
                <a16:creationId xmlns:a16="http://schemas.microsoft.com/office/drawing/2014/main" id="{D741CFEB-B642-9056-2363-BD3F297101E3}"/>
              </a:ext>
            </a:extLst>
          </p:cNvPr>
          <p:cNvPicPr>
            <a:picLocks noChangeAspect="1"/>
          </p:cNvPicPr>
          <p:nvPr/>
        </p:nvPicPr>
        <p:blipFill>
          <a:blip r:embed="rId2"/>
          <a:stretch>
            <a:fillRect/>
          </a:stretch>
        </p:blipFill>
        <p:spPr>
          <a:xfrm>
            <a:off x="8989568" y="1202242"/>
            <a:ext cx="2949883" cy="4979102"/>
          </a:xfrm>
          <a:prstGeom prst="rect">
            <a:avLst/>
          </a:prstGeom>
        </p:spPr>
      </p:pic>
    </p:spTree>
    <p:extLst>
      <p:ext uri="{BB962C8B-B14F-4D97-AF65-F5344CB8AC3E}">
        <p14:creationId xmlns:p14="http://schemas.microsoft.com/office/powerpoint/2010/main" val="1113946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13B0CB-2E2C-FED8-8234-D179F6D03DDD}"/>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BD49E0FC-5522-D828-5D6A-945868FA3F39}"/>
              </a:ext>
            </a:extLst>
          </p:cNvPr>
          <p:cNvSpPr>
            <a:spLocks noGrp="1"/>
          </p:cNvSpPr>
          <p:nvPr>
            <p:ph type="title"/>
          </p:nvPr>
        </p:nvSpPr>
        <p:spPr>
          <a:xfrm>
            <a:off x="572493" y="238539"/>
            <a:ext cx="11047013" cy="1434415"/>
          </a:xfrm>
        </p:spPr>
        <p:txBody>
          <a:bodyPr anchor="b">
            <a:normAutofit/>
          </a:bodyPr>
          <a:lstStyle/>
          <a:p>
            <a:r>
              <a:rPr lang="en-US" sz="5400" noProof="0" dirty="0"/>
              <a:t>Limitations</a:t>
            </a:r>
          </a:p>
        </p:txBody>
      </p:sp>
      <p:sp>
        <p:nvSpPr>
          <p:cNvPr id="1033"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26" name="Picture 2" descr="Limitations Images">
            <a:extLst>
              <a:ext uri="{FF2B5EF4-FFF2-40B4-BE49-F238E27FC236}">
                <a16:creationId xmlns:a16="http://schemas.microsoft.com/office/drawing/2014/main" id="{3F5B736B-88E2-33F8-A534-2BD4C0FDA3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759" r="20387" b="2"/>
          <a:stretch>
            <a:fillRect/>
          </a:stretch>
        </p:blipFill>
        <p:spPr bwMode="auto">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ADA5F8A-0FA2-91FC-E840-E5394FA4D0CF}"/>
              </a:ext>
            </a:extLst>
          </p:cNvPr>
          <p:cNvSpPr>
            <a:spLocks noGrp="1"/>
          </p:cNvSpPr>
          <p:nvPr>
            <p:ph idx="1"/>
          </p:nvPr>
        </p:nvSpPr>
        <p:spPr>
          <a:xfrm>
            <a:off x="4905955" y="2071316"/>
            <a:ext cx="6713552" cy="4114800"/>
          </a:xfrm>
        </p:spPr>
        <p:txBody>
          <a:bodyPr anchor="t">
            <a:normAutofit/>
          </a:bodyPr>
          <a:lstStyle/>
          <a:p>
            <a:endParaRPr lang="en-US" sz="1900" noProof="0" dirty="0"/>
          </a:p>
          <a:p>
            <a:r>
              <a:rPr lang="en-US" sz="1900" b="1" noProof="0" dirty="0"/>
              <a:t>We Don't Know How It Works: </a:t>
            </a:r>
            <a:r>
              <a:rPr lang="en-US" sz="1900" noProof="0" dirty="0"/>
              <a:t>The model looks like it's reasoning, but we don't know if it's truly thinking like a human or just mimicking the pattern.</a:t>
            </a:r>
          </a:p>
          <a:p>
            <a:r>
              <a:rPr lang="en-US" sz="1900" b="1" noProof="0" dirty="0"/>
              <a:t>It Can Be Expensive to Scale: </a:t>
            </a:r>
            <a:r>
              <a:rPr lang="en-US" sz="1900" noProof="0" dirty="0"/>
              <a:t>Writing step-by-step examples for a few prompts is easy, but creating thousands for training a model would be very costly.</a:t>
            </a:r>
          </a:p>
          <a:p>
            <a:r>
              <a:rPr lang="en-US" sz="1900" b="1" noProof="0" dirty="0"/>
              <a:t>It's Not Always Right: </a:t>
            </a:r>
            <a:r>
              <a:rPr lang="en-US" sz="1900" noProof="0" dirty="0"/>
              <a:t>The model can produce logical-looking steps that are actually wrong, leading to incorrect answers. </a:t>
            </a:r>
          </a:p>
          <a:p>
            <a:r>
              <a:rPr lang="en-US" sz="1900" b="1" noProof="0" dirty="0"/>
              <a:t>It Needs Large Models: </a:t>
            </a:r>
            <a:r>
              <a:rPr lang="en-US" sz="1900" noProof="0" dirty="0"/>
              <a:t>This ability only appears in very large, expensive models, making it impractical for many real-world applications that need faster, cheaper systems.</a:t>
            </a:r>
          </a:p>
          <a:p>
            <a:endParaRPr lang="en-US" sz="1900" noProof="0" dirty="0"/>
          </a:p>
        </p:txBody>
      </p:sp>
    </p:spTree>
    <p:extLst>
      <p:ext uri="{BB962C8B-B14F-4D97-AF65-F5344CB8AC3E}">
        <p14:creationId xmlns:p14="http://schemas.microsoft.com/office/powerpoint/2010/main" val="2636038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B1E7E7-F7B2-03E8-7ED8-69DE5F4E75B4}"/>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8037BB0-CC86-8ACD-A920-287CDE203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11F5C986-B1AB-6CC3-2DEE-9F333D6EA694}"/>
              </a:ext>
            </a:extLst>
          </p:cNvPr>
          <p:cNvSpPr>
            <a:spLocks noGrp="1"/>
          </p:cNvSpPr>
          <p:nvPr>
            <p:ph type="title"/>
          </p:nvPr>
        </p:nvSpPr>
        <p:spPr>
          <a:xfrm>
            <a:off x="838200" y="365125"/>
            <a:ext cx="10515600" cy="1325563"/>
          </a:xfrm>
        </p:spPr>
        <p:txBody>
          <a:bodyPr>
            <a:normAutofit/>
          </a:bodyPr>
          <a:lstStyle/>
          <a:p>
            <a:r>
              <a:rPr lang="en-US" sz="5400" dirty="0"/>
              <a:t>Why &amp; How?</a:t>
            </a:r>
            <a:endParaRPr lang="en-US" sz="5400" noProof="0" dirty="0"/>
          </a:p>
        </p:txBody>
      </p:sp>
      <p:sp>
        <p:nvSpPr>
          <p:cNvPr id="26" name="sketch line">
            <a:extLst>
              <a:ext uri="{FF2B5EF4-FFF2-40B4-BE49-F238E27FC236}">
                <a16:creationId xmlns:a16="http://schemas.microsoft.com/office/drawing/2014/main" id="{C5AE78AF-3F5B-8183-01F3-FD897B759E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E2D870A9-97F0-F292-BBA1-A53C87934830}"/>
              </a:ext>
            </a:extLst>
          </p:cNvPr>
          <p:cNvSpPr>
            <a:spLocks noGrp="1"/>
          </p:cNvSpPr>
          <p:nvPr>
            <p:ph idx="1"/>
          </p:nvPr>
        </p:nvSpPr>
        <p:spPr>
          <a:xfrm>
            <a:off x="838200" y="1929384"/>
            <a:ext cx="10515600" cy="4251960"/>
          </a:xfrm>
        </p:spPr>
        <p:txBody>
          <a:bodyPr>
            <a:normAutofit/>
          </a:bodyPr>
          <a:lstStyle/>
          <a:p>
            <a:r>
              <a:rPr lang="en-US" sz="2400" b="1" noProof="0" dirty="0"/>
              <a:t>Why does increasing model scale improve chain-of-thought prompting?</a:t>
            </a:r>
          </a:p>
          <a:p>
            <a:r>
              <a:rPr lang="en-US" sz="2400" noProof="0" dirty="0"/>
              <a:t>Better Understanding: Small models often misunderstand the question's meaning. Larger models </a:t>
            </a:r>
            <a:r>
              <a:rPr lang="en-US" sz="2400" dirty="0"/>
              <a:t>grasp the story </a:t>
            </a:r>
            <a:r>
              <a:rPr lang="en-US" sz="2400" noProof="0" dirty="0"/>
              <a:t>better (semantic understanding).</a:t>
            </a:r>
          </a:p>
          <a:p>
            <a:r>
              <a:rPr lang="en-US" sz="2400" noProof="0" dirty="0"/>
              <a:t>Fewer Logic Gaps: Small models frequently skip a step in their reasoning. Larger models are better at following all the necessary logical steps without missing one.</a:t>
            </a:r>
          </a:p>
          <a:p>
            <a:r>
              <a:rPr lang="en-US" sz="2400" noProof="0" dirty="0"/>
              <a:t>Improved Basic Skills: Larger models are simply better at fundamental tasks like arithmetic and staying on-topic, which are essential for correct reasoning.</a:t>
            </a:r>
          </a:p>
        </p:txBody>
      </p:sp>
    </p:spTree>
    <p:extLst>
      <p:ext uri="{BB962C8B-B14F-4D97-AF65-F5344CB8AC3E}">
        <p14:creationId xmlns:p14="http://schemas.microsoft.com/office/powerpoint/2010/main" val="170734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94889C-2A79-26B3-1F8B-9816D0CFE664}"/>
              </a:ext>
            </a:extLst>
          </p:cNvPr>
          <p:cNvSpPr>
            <a:spLocks noGrp="1"/>
          </p:cNvSpPr>
          <p:nvPr>
            <p:ph idx="1"/>
          </p:nvPr>
        </p:nvSpPr>
        <p:spPr>
          <a:xfrm>
            <a:off x="838200" y="365125"/>
            <a:ext cx="10937240" cy="4351338"/>
          </a:xfrm>
        </p:spPr>
        <p:txBody>
          <a:bodyPr/>
          <a:lstStyle/>
          <a:p>
            <a:r>
              <a:rPr lang="en-US" noProof="0" dirty="0"/>
              <a:t> Small models perform worse with CoT prompting. They lack the basic understanding and logic skills to use it correctly. The prompt forces them to attempt a complex task they can't handle, leading to more mistakes than if they just gave a direct, simple answer.</a:t>
            </a:r>
          </a:p>
          <a:p>
            <a:endParaRPr lang="en-US" noProof="0" dirty="0"/>
          </a:p>
        </p:txBody>
      </p:sp>
      <p:pic>
        <p:nvPicPr>
          <p:cNvPr id="5" name="Picture 4">
            <a:extLst>
              <a:ext uri="{FF2B5EF4-FFF2-40B4-BE49-F238E27FC236}">
                <a16:creationId xmlns:a16="http://schemas.microsoft.com/office/drawing/2014/main" id="{CEB39C6C-602D-5244-206C-82CAFD288FF6}"/>
              </a:ext>
            </a:extLst>
          </p:cNvPr>
          <p:cNvPicPr>
            <a:picLocks noChangeAspect="1"/>
          </p:cNvPicPr>
          <p:nvPr/>
        </p:nvPicPr>
        <p:blipFill>
          <a:blip r:embed="rId2"/>
          <a:stretch>
            <a:fillRect/>
          </a:stretch>
        </p:blipFill>
        <p:spPr>
          <a:xfrm>
            <a:off x="1512618" y="2290936"/>
            <a:ext cx="9154571" cy="3959352"/>
          </a:xfrm>
          <a:prstGeom prst="rect">
            <a:avLst/>
          </a:prstGeom>
        </p:spPr>
      </p:pic>
    </p:spTree>
    <p:extLst>
      <p:ext uri="{BB962C8B-B14F-4D97-AF65-F5344CB8AC3E}">
        <p14:creationId xmlns:p14="http://schemas.microsoft.com/office/powerpoint/2010/main" val="4260143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63D57F-711D-D834-8F3F-C690C488EB13}"/>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651245B-AEFE-AF69-3524-DFA896E0C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CEBEED39-E986-C25A-EADE-A7D517BD48C9}"/>
              </a:ext>
            </a:extLst>
          </p:cNvPr>
          <p:cNvSpPr>
            <a:spLocks noGrp="1"/>
          </p:cNvSpPr>
          <p:nvPr>
            <p:ph type="title"/>
          </p:nvPr>
        </p:nvSpPr>
        <p:spPr>
          <a:xfrm>
            <a:off x="838200" y="365125"/>
            <a:ext cx="10515600" cy="1325563"/>
          </a:xfrm>
        </p:spPr>
        <p:txBody>
          <a:bodyPr>
            <a:normAutofit/>
          </a:bodyPr>
          <a:lstStyle/>
          <a:p>
            <a:r>
              <a:rPr lang="en-US" sz="5400" dirty="0"/>
              <a:t>Why &amp; How?</a:t>
            </a:r>
            <a:endParaRPr lang="en-US" sz="5400" noProof="0" dirty="0"/>
          </a:p>
        </p:txBody>
      </p:sp>
      <p:sp>
        <p:nvSpPr>
          <p:cNvPr id="26" name="sketch line">
            <a:extLst>
              <a:ext uri="{FF2B5EF4-FFF2-40B4-BE49-F238E27FC236}">
                <a16:creationId xmlns:a16="http://schemas.microsoft.com/office/drawing/2014/main" id="{7E97C506-AF42-8E3B-285A-ED65E5781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BA235DC7-D8F1-67A5-D241-65B86A65FD02}"/>
              </a:ext>
            </a:extLst>
          </p:cNvPr>
          <p:cNvSpPr>
            <a:spLocks noGrp="1"/>
          </p:cNvSpPr>
          <p:nvPr>
            <p:ph idx="1"/>
          </p:nvPr>
        </p:nvSpPr>
        <p:spPr>
          <a:xfrm>
            <a:off x="838200" y="1929384"/>
            <a:ext cx="10515600" cy="4251960"/>
          </a:xfrm>
        </p:spPr>
        <p:txBody>
          <a:bodyPr>
            <a:normAutofit/>
          </a:bodyPr>
          <a:lstStyle/>
          <a:p>
            <a:r>
              <a:rPr lang="en-US" sz="2200" b="1" noProof="0" dirty="0"/>
              <a:t>What is the role of prompt engineering?</a:t>
            </a:r>
          </a:p>
          <a:p>
            <a:r>
              <a:rPr lang="en-US" sz="2200" noProof="0" dirty="0"/>
              <a:t>How sensitive the CoT method is to different ways of writing the prompts. </a:t>
            </a:r>
          </a:p>
          <a:p>
            <a:r>
              <a:rPr lang="en-US" sz="2200" b="1" noProof="0" dirty="0"/>
              <a:t>Different People: </a:t>
            </a:r>
            <a:r>
              <a:rPr lang="en-US" sz="2200" noProof="0" dirty="0"/>
              <a:t>They had three different people write the example reasoning steps. While the performance varied a bit, all of them worked much better than not using CoT at all. It worked even with people who had no ML background.</a:t>
            </a:r>
          </a:p>
          <a:p>
            <a:r>
              <a:rPr lang="en-US" sz="2200" b="1" noProof="0" dirty="0"/>
              <a:t>Different Examples &amp; Order: </a:t>
            </a:r>
            <a:r>
              <a:rPr lang="en-US" sz="2200" noProof="0" dirty="0"/>
              <a:t>They tried different example problems and changed their order in the prompt. For most tasks, this didn't change the results much. The method was stable.</a:t>
            </a:r>
          </a:p>
          <a:p>
            <a:r>
              <a:rPr lang="en-US" sz="2200" b="1" noProof="0" dirty="0"/>
              <a:t>Different Models</a:t>
            </a:r>
            <a:r>
              <a:rPr lang="en-US" sz="2200" noProof="0" dirty="0"/>
              <a:t>: They tried the same prompts on different models. The CoT improvement worked for all of them, showing it's a general technique, not just for one specific model.</a:t>
            </a:r>
          </a:p>
        </p:txBody>
      </p:sp>
    </p:spTree>
    <p:extLst>
      <p:ext uri="{BB962C8B-B14F-4D97-AF65-F5344CB8AC3E}">
        <p14:creationId xmlns:p14="http://schemas.microsoft.com/office/powerpoint/2010/main" val="1057714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838487-7A14-5293-4B6C-AC0CD65C65AC}"/>
              </a:ext>
            </a:extLst>
          </p:cNvPr>
          <p:cNvPicPr>
            <a:picLocks noChangeAspect="1"/>
          </p:cNvPicPr>
          <p:nvPr/>
        </p:nvPicPr>
        <p:blipFill>
          <a:blip r:embed="rId2"/>
          <a:stretch>
            <a:fillRect/>
          </a:stretch>
        </p:blipFill>
        <p:spPr>
          <a:xfrm>
            <a:off x="250951" y="1825625"/>
            <a:ext cx="5072889" cy="2878864"/>
          </a:xfrm>
          <a:prstGeom prst="rect">
            <a:avLst/>
          </a:prstGeom>
        </p:spPr>
      </p:pic>
      <p:pic>
        <p:nvPicPr>
          <p:cNvPr id="6" name="Picture 5">
            <a:extLst>
              <a:ext uri="{FF2B5EF4-FFF2-40B4-BE49-F238E27FC236}">
                <a16:creationId xmlns:a16="http://schemas.microsoft.com/office/drawing/2014/main" id="{BF158C10-4D4D-33DB-203A-1D43108466A6}"/>
              </a:ext>
            </a:extLst>
          </p:cNvPr>
          <p:cNvPicPr>
            <a:picLocks noChangeAspect="1"/>
          </p:cNvPicPr>
          <p:nvPr/>
        </p:nvPicPr>
        <p:blipFill>
          <a:blip r:embed="rId3"/>
          <a:stretch>
            <a:fillRect/>
          </a:stretch>
        </p:blipFill>
        <p:spPr>
          <a:xfrm>
            <a:off x="5709919" y="1551623"/>
            <a:ext cx="6250305" cy="3600898"/>
          </a:xfrm>
          <a:prstGeom prst="rect">
            <a:avLst/>
          </a:prstGeom>
        </p:spPr>
      </p:pic>
    </p:spTree>
    <p:extLst>
      <p:ext uri="{BB962C8B-B14F-4D97-AF65-F5344CB8AC3E}">
        <p14:creationId xmlns:p14="http://schemas.microsoft.com/office/powerpoint/2010/main" val="877641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8D5938-FB97-AD40-DDAC-3222CB8667A4}"/>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F3D9B2-0CE9-C22C-FCAE-4F0726C5A78E}"/>
              </a:ext>
            </a:extLst>
          </p:cNvPr>
          <p:cNvSpPr>
            <a:spLocks noGrp="1"/>
          </p:cNvSpPr>
          <p:nvPr>
            <p:ph type="title"/>
          </p:nvPr>
        </p:nvSpPr>
        <p:spPr>
          <a:xfrm>
            <a:off x="630936" y="640080"/>
            <a:ext cx="4818888" cy="1481328"/>
          </a:xfrm>
        </p:spPr>
        <p:txBody>
          <a:bodyPr anchor="b">
            <a:normAutofit/>
          </a:bodyPr>
          <a:lstStyle/>
          <a:p>
            <a:r>
              <a:rPr lang="en-US" sz="5000" noProof="0" dirty="0"/>
              <a:t>Experimental Results</a:t>
            </a:r>
          </a:p>
        </p:txBody>
      </p:sp>
      <p:sp>
        <p:nvSpPr>
          <p:cNvPr id="3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18F759-01E2-7A82-9024-1D2DBCD858E8}"/>
              </a:ext>
            </a:extLst>
          </p:cNvPr>
          <p:cNvSpPr>
            <a:spLocks noGrp="1"/>
          </p:cNvSpPr>
          <p:nvPr>
            <p:ph idx="1"/>
          </p:nvPr>
        </p:nvSpPr>
        <p:spPr>
          <a:xfrm>
            <a:off x="362711" y="2660904"/>
            <a:ext cx="5730241" cy="3547872"/>
          </a:xfrm>
        </p:spPr>
        <p:txBody>
          <a:bodyPr anchor="t">
            <a:noAutofit/>
          </a:bodyPr>
          <a:lstStyle/>
          <a:p>
            <a:r>
              <a:rPr lang="en-US" sz="2200" dirty="0"/>
              <a:t>LLMs are good at logic but bad at arithmetic.</a:t>
            </a:r>
          </a:p>
          <a:p>
            <a:r>
              <a:rPr lang="en-US" sz="2200" dirty="0"/>
              <a:t>When using CoT, the model would write out the correct steps and equations but then make a simple math error (25 + 17 = 33). This caused the final answer to be wrong, even though the reasoning was correct.</a:t>
            </a:r>
          </a:p>
          <a:p>
            <a:r>
              <a:rPr lang="en-US" sz="2200" dirty="0"/>
              <a:t>They gave the model a calculator. They took the equations the model wrote, calculated the correct answer, and then fed that correct number back into the model.</a:t>
            </a:r>
          </a:p>
        </p:txBody>
      </p:sp>
      <p:pic>
        <p:nvPicPr>
          <p:cNvPr id="5" name="Picture 4">
            <a:extLst>
              <a:ext uri="{FF2B5EF4-FFF2-40B4-BE49-F238E27FC236}">
                <a16:creationId xmlns:a16="http://schemas.microsoft.com/office/drawing/2014/main" id="{B178158F-BA5C-4002-9A12-774728AA12DF}"/>
              </a:ext>
            </a:extLst>
          </p:cNvPr>
          <p:cNvPicPr>
            <a:picLocks noChangeAspect="1"/>
          </p:cNvPicPr>
          <p:nvPr/>
        </p:nvPicPr>
        <p:blipFill>
          <a:blip r:embed="rId2"/>
          <a:stretch>
            <a:fillRect/>
          </a:stretch>
        </p:blipFill>
        <p:spPr>
          <a:xfrm>
            <a:off x="6099047" y="1568531"/>
            <a:ext cx="5730241" cy="3552749"/>
          </a:xfrm>
          <a:prstGeom prst="rect">
            <a:avLst/>
          </a:prstGeom>
        </p:spPr>
      </p:pic>
    </p:spTree>
    <p:extLst>
      <p:ext uri="{BB962C8B-B14F-4D97-AF65-F5344CB8AC3E}">
        <p14:creationId xmlns:p14="http://schemas.microsoft.com/office/powerpoint/2010/main" val="3063964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4D8B40-B11D-F8CA-A944-F880ED9A0731}"/>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B8C3024-4B47-9463-DDE0-E4AE1A785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8D3FFBBF-8EA5-B51C-8C81-1B6FA9D254EE}"/>
              </a:ext>
            </a:extLst>
          </p:cNvPr>
          <p:cNvSpPr>
            <a:spLocks noGrp="1"/>
          </p:cNvSpPr>
          <p:nvPr>
            <p:ph type="title"/>
          </p:nvPr>
        </p:nvSpPr>
        <p:spPr>
          <a:xfrm>
            <a:off x="838200" y="365125"/>
            <a:ext cx="10515600" cy="1325563"/>
          </a:xfrm>
        </p:spPr>
        <p:txBody>
          <a:bodyPr>
            <a:normAutofit/>
          </a:bodyPr>
          <a:lstStyle/>
          <a:p>
            <a:r>
              <a:rPr lang="en-US" sz="5400" dirty="0"/>
              <a:t>Additional Analysis</a:t>
            </a:r>
            <a:endParaRPr lang="en-US" sz="5400" noProof="0" dirty="0"/>
          </a:p>
        </p:txBody>
      </p:sp>
      <p:sp>
        <p:nvSpPr>
          <p:cNvPr id="26" name="sketch line">
            <a:extLst>
              <a:ext uri="{FF2B5EF4-FFF2-40B4-BE49-F238E27FC236}">
                <a16:creationId xmlns:a16="http://schemas.microsoft.com/office/drawing/2014/main" id="{90394E3C-8035-8027-6793-8AB76178D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88B369D3-7E21-7463-8E5A-9EF91ECB6324}"/>
              </a:ext>
            </a:extLst>
          </p:cNvPr>
          <p:cNvSpPr>
            <a:spLocks noGrp="1"/>
          </p:cNvSpPr>
          <p:nvPr>
            <p:ph idx="1"/>
          </p:nvPr>
        </p:nvSpPr>
        <p:spPr>
          <a:xfrm>
            <a:off x="838200" y="1929384"/>
            <a:ext cx="10515600" cy="4251960"/>
          </a:xfrm>
        </p:spPr>
        <p:txBody>
          <a:bodyPr>
            <a:normAutofit lnSpcReduction="10000"/>
          </a:bodyPr>
          <a:lstStyle/>
          <a:p>
            <a:r>
              <a:rPr lang="en-US" b="1" dirty="0"/>
              <a:t>Correct Chain of Thought Analysis</a:t>
            </a:r>
          </a:p>
          <a:p>
            <a:r>
              <a:rPr lang="en-US" dirty="0"/>
              <a:t>As mentioned in the main text, we analyze 50 CoT that led to correct answers in the dataset. Of these 50, only one arrived at the correct answer through incorrect reasoning. The other 49 had correct logic and math. Five had minor imperfections while maintaining coherent and understandable logic:</a:t>
            </a:r>
          </a:p>
          <a:p>
            <a:pPr lvl="1"/>
            <a:r>
              <a:rPr lang="en-US" dirty="0"/>
              <a:t>One had underspecified statements.</a:t>
            </a:r>
          </a:p>
          <a:p>
            <a:pPr lvl="1"/>
            <a:r>
              <a:rPr lang="en-US" dirty="0"/>
              <a:t>One made an unrelated but correct statement.</a:t>
            </a:r>
          </a:p>
          <a:p>
            <a:pPr lvl="1"/>
            <a:r>
              <a:rPr lang="en-US" dirty="0"/>
              <a:t>Two had the correct logic but omitted specific steps in the equation, though it was still understandable.</a:t>
            </a:r>
          </a:p>
          <a:p>
            <a:pPr lvl="1"/>
            <a:r>
              <a:rPr lang="en-US" dirty="0"/>
              <a:t>One had the correct math but inverted the semantics.</a:t>
            </a:r>
          </a:p>
        </p:txBody>
      </p:sp>
    </p:spTree>
    <p:extLst>
      <p:ext uri="{BB962C8B-B14F-4D97-AF65-F5344CB8AC3E}">
        <p14:creationId xmlns:p14="http://schemas.microsoft.com/office/powerpoint/2010/main" val="1948457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C0DA1-ED8C-1341-7745-22000BE79B76}"/>
              </a:ext>
            </a:extLst>
          </p:cNvPr>
          <p:cNvSpPr>
            <a:spLocks noGrp="1"/>
          </p:cNvSpPr>
          <p:nvPr>
            <p:ph idx="1"/>
          </p:nvPr>
        </p:nvSpPr>
        <p:spPr>
          <a:xfrm>
            <a:off x="838199" y="361313"/>
            <a:ext cx="10793361" cy="4351338"/>
          </a:xfrm>
        </p:spPr>
        <p:txBody>
          <a:bodyPr>
            <a:normAutofit/>
          </a:bodyPr>
          <a:lstStyle/>
          <a:p>
            <a:endParaRPr lang="tr-TR" dirty="0"/>
          </a:p>
        </p:txBody>
      </p:sp>
      <p:pic>
        <p:nvPicPr>
          <p:cNvPr id="9" name="Picture 8">
            <a:extLst>
              <a:ext uri="{FF2B5EF4-FFF2-40B4-BE49-F238E27FC236}">
                <a16:creationId xmlns:a16="http://schemas.microsoft.com/office/drawing/2014/main" id="{47DCB5DE-82F1-0289-41C6-3729A16E02DD}"/>
              </a:ext>
            </a:extLst>
          </p:cNvPr>
          <p:cNvPicPr>
            <a:picLocks noChangeAspect="1"/>
          </p:cNvPicPr>
          <p:nvPr/>
        </p:nvPicPr>
        <p:blipFill>
          <a:blip r:embed="rId2"/>
          <a:stretch>
            <a:fillRect/>
          </a:stretch>
        </p:blipFill>
        <p:spPr>
          <a:xfrm>
            <a:off x="676111" y="1826342"/>
            <a:ext cx="11117535" cy="3205315"/>
          </a:xfrm>
          <a:prstGeom prst="rect">
            <a:avLst/>
          </a:prstGeom>
        </p:spPr>
      </p:pic>
    </p:spTree>
    <p:extLst>
      <p:ext uri="{BB962C8B-B14F-4D97-AF65-F5344CB8AC3E}">
        <p14:creationId xmlns:p14="http://schemas.microsoft.com/office/powerpoint/2010/main" val="2367838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76A64C-ECE0-21E9-55D5-7CFB7F1F9265}"/>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8B484B6-CD14-D84F-484B-725C86F04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AB2D5B4-45A5-128C-C053-347A485421C3}"/>
              </a:ext>
            </a:extLst>
          </p:cNvPr>
          <p:cNvSpPr>
            <a:spLocks noGrp="1"/>
          </p:cNvSpPr>
          <p:nvPr>
            <p:ph type="title"/>
          </p:nvPr>
        </p:nvSpPr>
        <p:spPr>
          <a:xfrm>
            <a:off x="838200" y="365125"/>
            <a:ext cx="10515600" cy="1325563"/>
          </a:xfrm>
        </p:spPr>
        <p:txBody>
          <a:bodyPr>
            <a:normAutofit/>
          </a:bodyPr>
          <a:lstStyle/>
          <a:p>
            <a:r>
              <a:rPr lang="en-US" sz="5400" dirty="0"/>
              <a:t>Additional Analysis</a:t>
            </a:r>
            <a:endParaRPr lang="en-US" sz="5400" noProof="0" dirty="0"/>
          </a:p>
        </p:txBody>
      </p:sp>
      <p:sp>
        <p:nvSpPr>
          <p:cNvPr id="26" name="sketch line">
            <a:extLst>
              <a:ext uri="{FF2B5EF4-FFF2-40B4-BE49-F238E27FC236}">
                <a16:creationId xmlns:a16="http://schemas.microsoft.com/office/drawing/2014/main" id="{B26BE3D9-0532-9C3E-6159-1AED26C62D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98F1E22F-7F91-3EAA-EF7C-F6662FE72E2C}"/>
              </a:ext>
            </a:extLst>
          </p:cNvPr>
          <p:cNvSpPr>
            <a:spLocks noGrp="1"/>
          </p:cNvSpPr>
          <p:nvPr>
            <p:ph idx="1"/>
          </p:nvPr>
        </p:nvSpPr>
        <p:spPr>
          <a:xfrm>
            <a:off x="838200" y="1929384"/>
            <a:ext cx="10515600" cy="4251960"/>
          </a:xfrm>
        </p:spPr>
        <p:txBody>
          <a:bodyPr>
            <a:normAutofit fontScale="85000" lnSpcReduction="10000"/>
          </a:bodyPr>
          <a:lstStyle/>
          <a:p>
            <a:r>
              <a:rPr lang="en-US" b="1" dirty="0"/>
              <a:t>Incorrect Chain of Thought Analysis</a:t>
            </a:r>
          </a:p>
          <a:p>
            <a:r>
              <a:rPr lang="en-US" dirty="0"/>
              <a:t>The researchers manually checked 50 incorrect answers to understand why it failed. They found that many errors were actually almost correct and could be fixed with minor adjustments. </a:t>
            </a:r>
          </a:p>
          <a:p>
            <a:r>
              <a:rPr lang="en-US" dirty="0"/>
              <a:t>Calculator Error (8%): The model's logic was perfect, but it made a simple math mistake (like 2+2=5). Using an external calculator fixed these.</a:t>
            </a:r>
          </a:p>
          <a:p>
            <a:r>
              <a:rPr lang="en-US" dirty="0"/>
              <a:t>Symbol Mapping Error (16%): The reasoning was correct, but the model accidentally used the wrong numbers in its equation. For example, if the text said, "50 weeks," the model might accidentally write "30" in the formula.</a:t>
            </a:r>
          </a:p>
          <a:p>
            <a:r>
              <a:rPr lang="en-US" dirty="0"/>
              <a:t>One Step Missing (22%): The model was on the right track but skipped exactly one logical step needed to verify the answer. Adding that single missing step made the answer correct.</a:t>
            </a:r>
          </a:p>
          <a:p>
            <a:endParaRPr lang="en-US" dirty="0"/>
          </a:p>
        </p:txBody>
      </p:sp>
    </p:spTree>
    <p:extLst>
      <p:ext uri="{BB962C8B-B14F-4D97-AF65-F5344CB8AC3E}">
        <p14:creationId xmlns:p14="http://schemas.microsoft.com/office/powerpoint/2010/main" val="4174330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999C3D-9AAB-5BCE-9320-9302BE142244}"/>
              </a:ext>
            </a:extLst>
          </p:cNvPr>
          <p:cNvPicPr>
            <a:picLocks noChangeAspect="1"/>
          </p:cNvPicPr>
          <p:nvPr/>
        </p:nvPicPr>
        <p:blipFill>
          <a:blip r:embed="rId2"/>
          <a:stretch>
            <a:fillRect/>
          </a:stretch>
        </p:blipFill>
        <p:spPr>
          <a:xfrm>
            <a:off x="2250757" y="681037"/>
            <a:ext cx="8010843" cy="5281531"/>
          </a:xfrm>
          <a:prstGeom prst="rect">
            <a:avLst/>
          </a:prstGeom>
        </p:spPr>
      </p:pic>
    </p:spTree>
    <p:extLst>
      <p:ext uri="{BB962C8B-B14F-4D97-AF65-F5344CB8AC3E}">
        <p14:creationId xmlns:p14="http://schemas.microsoft.com/office/powerpoint/2010/main" val="2220606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DE9B87-A3F4-3E98-55A7-BB232A8A227C}"/>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3949A30-1DB0-855E-0DCD-7F98C6868A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5C93BB01-6CB8-6BB8-F060-6D179E053955}"/>
              </a:ext>
            </a:extLst>
          </p:cNvPr>
          <p:cNvSpPr>
            <a:spLocks noGrp="1"/>
          </p:cNvSpPr>
          <p:nvPr>
            <p:ph type="title"/>
          </p:nvPr>
        </p:nvSpPr>
        <p:spPr>
          <a:xfrm>
            <a:off x="838200" y="365125"/>
            <a:ext cx="10515600" cy="1325563"/>
          </a:xfrm>
        </p:spPr>
        <p:txBody>
          <a:bodyPr>
            <a:normAutofit/>
          </a:bodyPr>
          <a:lstStyle/>
          <a:p>
            <a:r>
              <a:rPr lang="en-US" sz="5400" dirty="0"/>
              <a:t>Additional Analysis</a:t>
            </a:r>
            <a:endParaRPr lang="en-US" sz="5400" noProof="0" dirty="0"/>
          </a:p>
        </p:txBody>
      </p:sp>
      <p:sp>
        <p:nvSpPr>
          <p:cNvPr id="26" name="sketch line">
            <a:extLst>
              <a:ext uri="{FF2B5EF4-FFF2-40B4-BE49-F238E27FC236}">
                <a16:creationId xmlns:a16="http://schemas.microsoft.com/office/drawing/2014/main" id="{4410066E-CFED-EB4A-DE43-3A9DD4F753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A5030F22-ACD3-B8B3-E168-E8A9C7A970E7}"/>
              </a:ext>
            </a:extLst>
          </p:cNvPr>
          <p:cNvSpPr>
            <a:spLocks noGrp="1"/>
          </p:cNvSpPr>
          <p:nvPr>
            <p:ph idx="1"/>
          </p:nvPr>
        </p:nvSpPr>
        <p:spPr>
          <a:xfrm>
            <a:off x="838200" y="1929384"/>
            <a:ext cx="10515600" cy="4251960"/>
          </a:xfrm>
        </p:spPr>
        <p:txBody>
          <a:bodyPr>
            <a:normAutofit lnSpcReduction="10000"/>
          </a:bodyPr>
          <a:lstStyle/>
          <a:p>
            <a:r>
              <a:rPr lang="en-US" b="1" dirty="0"/>
              <a:t>Incorrect Chain of Thought Analysis</a:t>
            </a:r>
            <a:endParaRPr lang="en-US" dirty="0"/>
          </a:p>
          <a:p>
            <a:r>
              <a:rPr lang="en-US" dirty="0"/>
              <a:t>54% of the incorrect cases were too serious to be fixed with simple edits. Unlike the minor math or typo errors mentioned before, these represent a fundamental failure in reasoning.</a:t>
            </a:r>
          </a:p>
          <a:p>
            <a:r>
              <a:rPr lang="en-US" b="1" dirty="0"/>
              <a:t>Semantic Understanding Errors: </a:t>
            </a:r>
            <a:r>
              <a:rPr lang="en-US" dirty="0"/>
              <a:t>The model failed to understand the actual meaning of the question. For example, it confused who bought what.</a:t>
            </a:r>
          </a:p>
          <a:p>
            <a:r>
              <a:rPr lang="en-US" b="1" dirty="0"/>
              <a:t>Incoherent Chains of Thought: </a:t>
            </a:r>
            <a:r>
              <a:rPr lang="en-US" dirty="0"/>
              <a:t>The model's reasoning just stopped making sense. The steps didn't follow each other logically, or the model made statements that violated basic world knowledge (100% &lt; 50%).</a:t>
            </a:r>
          </a:p>
        </p:txBody>
      </p:sp>
    </p:spTree>
    <p:extLst>
      <p:ext uri="{BB962C8B-B14F-4D97-AF65-F5344CB8AC3E}">
        <p14:creationId xmlns:p14="http://schemas.microsoft.com/office/powerpoint/2010/main" val="870030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C34BA-4947-0476-5D4E-1DBF6D0A1837}"/>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82FB764C-D22F-B5C9-714B-08849219975A}"/>
              </a:ext>
            </a:extLst>
          </p:cNvPr>
          <p:cNvSpPr>
            <a:spLocks noGrp="1"/>
          </p:cNvSpPr>
          <p:nvPr>
            <p:ph idx="1"/>
          </p:nvPr>
        </p:nvSpPr>
        <p:spPr/>
        <p:txBody>
          <a:bodyPr/>
          <a:lstStyle/>
          <a:p>
            <a:endParaRPr lang="tr-TR"/>
          </a:p>
        </p:txBody>
      </p:sp>
      <p:pic>
        <p:nvPicPr>
          <p:cNvPr id="7" name="Picture 6">
            <a:extLst>
              <a:ext uri="{FF2B5EF4-FFF2-40B4-BE49-F238E27FC236}">
                <a16:creationId xmlns:a16="http://schemas.microsoft.com/office/drawing/2014/main" id="{734C8CED-0DFB-5866-4C10-C7CE8613F871}"/>
              </a:ext>
            </a:extLst>
          </p:cNvPr>
          <p:cNvPicPr>
            <a:picLocks noChangeAspect="1"/>
          </p:cNvPicPr>
          <p:nvPr/>
        </p:nvPicPr>
        <p:blipFill>
          <a:blip r:embed="rId2"/>
          <a:stretch>
            <a:fillRect/>
          </a:stretch>
        </p:blipFill>
        <p:spPr>
          <a:xfrm>
            <a:off x="1847215" y="1331595"/>
            <a:ext cx="8837850" cy="4662488"/>
          </a:xfrm>
          <a:prstGeom prst="rect">
            <a:avLst/>
          </a:prstGeom>
        </p:spPr>
      </p:pic>
    </p:spTree>
    <p:extLst>
      <p:ext uri="{BB962C8B-B14F-4D97-AF65-F5344CB8AC3E}">
        <p14:creationId xmlns:p14="http://schemas.microsoft.com/office/powerpoint/2010/main" val="3041274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21FF6A-0644-A4C9-CAC5-36C56FD05D77}"/>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E3DA92D-559A-9C6D-8620-F85BD0CB0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2ADAA1F-0115-5225-519F-0E7237F34EC9}"/>
              </a:ext>
            </a:extLst>
          </p:cNvPr>
          <p:cNvSpPr>
            <a:spLocks noGrp="1"/>
          </p:cNvSpPr>
          <p:nvPr>
            <p:ph type="title"/>
          </p:nvPr>
        </p:nvSpPr>
        <p:spPr>
          <a:xfrm>
            <a:off x="838200" y="365125"/>
            <a:ext cx="10515600" cy="1325563"/>
          </a:xfrm>
        </p:spPr>
        <p:txBody>
          <a:bodyPr>
            <a:normAutofit/>
          </a:bodyPr>
          <a:lstStyle/>
          <a:p>
            <a:r>
              <a:rPr lang="en-US" sz="5400" dirty="0"/>
              <a:t>Additional Analysis</a:t>
            </a:r>
            <a:endParaRPr lang="en-US" sz="5400" noProof="0" dirty="0"/>
          </a:p>
        </p:txBody>
      </p:sp>
      <p:sp>
        <p:nvSpPr>
          <p:cNvPr id="26" name="sketch line">
            <a:extLst>
              <a:ext uri="{FF2B5EF4-FFF2-40B4-BE49-F238E27FC236}">
                <a16:creationId xmlns:a16="http://schemas.microsoft.com/office/drawing/2014/main" id="{927B7CD2-7141-4726-5AD0-CCFA2D3C5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133B6BBE-E144-AA38-F345-8A3CEBFE0FF8}"/>
              </a:ext>
            </a:extLst>
          </p:cNvPr>
          <p:cNvSpPr>
            <a:spLocks noGrp="1"/>
          </p:cNvSpPr>
          <p:nvPr>
            <p:ph idx="1"/>
          </p:nvPr>
        </p:nvSpPr>
        <p:spPr>
          <a:xfrm>
            <a:off x="838200" y="1929384"/>
            <a:ext cx="10515600" cy="4251960"/>
          </a:xfrm>
        </p:spPr>
        <p:txBody>
          <a:bodyPr>
            <a:normAutofit/>
          </a:bodyPr>
          <a:lstStyle/>
          <a:p>
            <a:r>
              <a:rPr lang="en-US" b="1" dirty="0"/>
              <a:t>Additional Robustness Analysis</a:t>
            </a:r>
          </a:p>
          <a:p>
            <a:r>
              <a:rPr lang="en-US" dirty="0"/>
              <a:t>This section addresses whether the success of CoT prompting depends on the specific number of examples provided in the prompt.</a:t>
            </a:r>
          </a:p>
          <a:p>
            <a:r>
              <a:rPr lang="en-US" dirty="0"/>
              <a:t>Since the main experiments were limited to 8 examples due to input length constraints, they ran new tests with varying numbers of examples.</a:t>
            </a:r>
          </a:p>
          <a:p>
            <a:r>
              <a:rPr lang="en-US" dirty="0"/>
              <a:t>The Result: The method is robust. CoT consistently outperformed standard prompting regardless of the number of examples used.</a:t>
            </a:r>
          </a:p>
          <a:p>
            <a:endParaRPr lang="en-US" dirty="0"/>
          </a:p>
        </p:txBody>
      </p:sp>
    </p:spTree>
    <p:extLst>
      <p:ext uri="{BB962C8B-B14F-4D97-AF65-F5344CB8AC3E}">
        <p14:creationId xmlns:p14="http://schemas.microsoft.com/office/powerpoint/2010/main" val="3242600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50568-45D0-F9C3-6716-962AA64DEDA7}"/>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B3861F67-63C1-FDB6-230B-B9CF2FF909D5}"/>
              </a:ext>
            </a:extLst>
          </p:cNvPr>
          <p:cNvSpPr>
            <a:spLocks noGrp="1"/>
          </p:cNvSpPr>
          <p:nvPr>
            <p:ph idx="1"/>
          </p:nvPr>
        </p:nvSpPr>
        <p:spPr/>
        <p:txBody>
          <a:bodyPr/>
          <a:lstStyle/>
          <a:p>
            <a:endParaRPr lang="tr-TR"/>
          </a:p>
        </p:txBody>
      </p:sp>
      <p:pic>
        <p:nvPicPr>
          <p:cNvPr id="5" name="Picture 4">
            <a:extLst>
              <a:ext uri="{FF2B5EF4-FFF2-40B4-BE49-F238E27FC236}">
                <a16:creationId xmlns:a16="http://schemas.microsoft.com/office/drawing/2014/main" id="{3F2F7349-8417-F5A1-E1CB-C0DF344DBE9B}"/>
              </a:ext>
            </a:extLst>
          </p:cNvPr>
          <p:cNvPicPr>
            <a:picLocks noChangeAspect="1"/>
          </p:cNvPicPr>
          <p:nvPr/>
        </p:nvPicPr>
        <p:blipFill>
          <a:blip r:embed="rId2"/>
          <a:stretch>
            <a:fillRect/>
          </a:stretch>
        </p:blipFill>
        <p:spPr>
          <a:xfrm>
            <a:off x="1600901" y="1348478"/>
            <a:ext cx="8990197" cy="4161043"/>
          </a:xfrm>
          <a:prstGeom prst="rect">
            <a:avLst/>
          </a:prstGeom>
        </p:spPr>
      </p:pic>
    </p:spTree>
    <p:extLst>
      <p:ext uri="{BB962C8B-B14F-4D97-AF65-F5344CB8AC3E}">
        <p14:creationId xmlns:p14="http://schemas.microsoft.com/office/powerpoint/2010/main" val="2401084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5BC2CE-7D3E-ED79-7B19-32C1C87E1EF9}"/>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6DB96F3-EBD6-39DC-970F-B2A565084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1E24DF6-15F8-060D-E17B-59757F4951EB}"/>
              </a:ext>
            </a:extLst>
          </p:cNvPr>
          <p:cNvSpPr>
            <a:spLocks noGrp="1"/>
          </p:cNvSpPr>
          <p:nvPr>
            <p:ph type="title"/>
          </p:nvPr>
        </p:nvSpPr>
        <p:spPr>
          <a:xfrm>
            <a:off x="838200" y="365125"/>
            <a:ext cx="10515600" cy="1325563"/>
          </a:xfrm>
        </p:spPr>
        <p:txBody>
          <a:bodyPr>
            <a:normAutofit/>
          </a:bodyPr>
          <a:lstStyle/>
          <a:p>
            <a:r>
              <a:rPr lang="en-US" sz="5400" dirty="0"/>
              <a:t>Strategies for Eliciting Reasoning</a:t>
            </a:r>
            <a:endParaRPr lang="en-US" sz="5400" noProof="0" dirty="0"/>
          </a:p>
        </p:txBody>
      </p:sp>
      <p:sp>
        <p:nvSpPr>
          <p:cNvPr id="26" name="sketch line">
            <a:extLst>
              <a:ext uri="{FF2B5EF4-FFF2-40B4-BE49-F238E27FC236}">
                <a16:creationId xmlns:a16="http://schemas.microsoft.com/office/drawing/2014/main" id="{A4516D34-2021-2A34-04BC-B643D3288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1FE231CA-A699-919F-4B1B-F8E3C1BCC343}"/>
              </a:ext>
            </a:extLst>
          </p:cNvPr>
          <p:cNvSpPr>
            <a:spLocks noGrp="1"/>
          </p:cNvSpPr>
          <p:nvPr>
            <p:ph idx="1"/>
          </p:nvPr>
        </p:nvSpPr>
        <p:spPr>
          <a:xfrm>
            <a:off x="838200" y="1929384"/>
            <a:ext cx="10515600" cy="4251960"/>
          </a:xfrm>
        </p:spPr>
        <p:txBody>
          <a:bodyPr>
            <a:normAutofit/>
          </a:bodyPr>
          <a:lstStyle/>
          <a:p>
            <a:r>
              <a:rPr lang="en-US" b="1" dirty="0"/>
              <a:t>Decomposition: </a:t>
            </a:r>
            <a:r>
              <a:rPr lang="en-US" dirty="0"/>
              <a:t>Breaking complex problems into sub-steps (e.g., Math and Logic questions).</a:t>
            </a:r>
          </a:p>
          <a:p>
            <a:r>
              <a:rPr lang="en-US" b="1" dirty="0"/>
              <a:t>Bridge: </a:t>
            </a:r>
            <a:r>
              <a:rPr lang="en-US" dirty="0"/>
              <a:t>Accessing external knowledge by establishing a logical connection between question and answer (e.g., </a:t>
            </a:r>
            <a:r>
              <a:rPr lang="en-US" dirty="0" err="1"/>
              <a:t>StrategyQA</a:t>
            </a:r>
            <a:r>
              <a:rPr lang="en-US" dirty="0"/>
              <a:t>, Sports Understanding).</a:t>
            </a:r>
          </a:p>
          <a:p>
            <a:r>
              <a:rPr lang="en-US" b="1" dirty="0"/>
              <a:t>Translation: </a:t>
            </a:r>
            <a:r>
              <a:rPr lang="en-US" dirty="0"/>
              <a:t>Translating the user's abstract request into concrete action steps/code fragments (e.g., </a:t>
            </a:r>
            <a:r>
              <a:rPr lang="en-US" dirty="0" err="1"/>
              <a:t>SayCan</a:t>
            </a:r>
            <a:r>
              <a:rPr lang="en-US" dirty="0"/>
              <a:t> Robotics).</a:t>
            </a:r>
          </a:p>
        </p:txBody>
      </p:sp>
    </p:spTree>
    <p:extLst>
      <p:ext uri="{BB962C8B-B14F-4D97-AF65-F5344CB8AC3E}">
        <p14:creationId xmlns:p14="http://schemas.microsoft.com/office/powerpoint/2010/main" val="30509964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lose-up of a computer program&#10;&#10;AI-generated content may be incorrect.">
            <a:extLst>
              <a:ext uri="{FF2B5EF4-FFF2-40B4-BE49-F238E27FC236}">
                <a16:creationId xmlns:a16="http://schemas.microsoft.com/office/drawing/2014/main" id="{F36D6CA0-B4CE-8897-66C7-4F54B14A6BFF}"/>
              </a:ext>
            </a:extLst>
          </p:cNvPr>
          <p:cNvPicPr>
            <a:picLocks noGrp="1" noChangeAspect="1"/>
          </p:cNvPicPr>
          <p:nvPr>
            <p:ph idx="1"/>
          </p:nvPr>
        </p:nvPicPr>
        <p:blipFill>
          <a:blip r:embed="rId2"/>
          <a:stretch>
            <a:fillRect/>
          </a:stretch>
        </p:blipFill>
        <p:spPr>
          <a:xfrm>
            <a:off x="643467" y="1834133"/>
            <a:ext cx="10905066" cy="3189732"/>
          </a:xfrm>
          <a:prstGeom prst="rect">
            <a:avLst/>
          </a:prstGeom>
        </p:spPr>
      </p:pic>
    </p:spTree>
    <p:extLst>
      <p:ext uri="{BB962C8B-B14F-4D97-AF65-F5344CB8AC3E}">
        <p14:creationId xmlns:p14="http://schemas.microsoft.com/office/powerpoint/2010/main" val="3169048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0C3075-19C5-3E78-5225-7A38A63AC609}"/>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B36A577-8887-C9AB-E471-0D124B8AA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BF97431-B0D1-5D65-0332-F83665E7284E}"/>
              </a:ext>
            </a:extLst>
          </p:cNvPr>
          <p:cNvSpPr>
            <a:spLocks noGrp="1"/>
          </p:cNvSpPr>
          <p:nvPr>
            <p:ph type="title"/>
          </p:nvPr>
        </p:nvSpPr>
        <p:spPr>
          <a:xfrm>
            <a:off x="838200" y="365125"/>
            <a:ext cx="10515600" cy="1325563"/>
          </a:xfrm>
        </p:spPr>
        <p:txBody>
          <a:bodyPr>
            <a:normAutofit/>
          </a:bodyPr>
          <a:lstStyle/>
          <a:p>
            <a:r>
              <a:rPr lang="en-US" sz="5400" dirty="0"/>
              <a:t>Conclusions</a:t>
            </a:r>
            <a:endParaRPr lang="en-US" sz="5400" noProof="0" dirty="0"/>
          </a:p>
        </p:txBody>
      </p:sp>
      <p:sp>
        <p:nvSpPr>
          <p:cNvPr id="26" name="sketch line">
            <a:extLst>
              <a:ext uri="{FF2B5EF4-FFF2-40B4-BE49-F238E27FC236}">
                <a16:creationId xmlns:a16="http://schemas.microsoft.com/office/drawing/2014/main" id="{0579B3B5-FA7B-3D69-FF4F-F3D66E95C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15819659-D906-5897-A42F-973D8AD80FD0}"/>
              </a:ext>
            </a:extLst>
          </p:cNvPr>
          <p:cNvSpPr>
            <a:spLocks noGrp="1"/>
          </p:cNvSpPr>
          <p:nvPr>
            <p:ph idx="1"/>
          </p:nvPr>
        </p:nvSpPr>
        <p:spPr>
          <a:xfrm>
            <a:off x="838200" y="1929384"/>
            <a:ext cx="10515600" cy="4251960"/>
          </a:xfrm>
        </p:spPr>
        <p:txBody>
          <a:bodyPr>
            <a:normAutofit/>
          </a:bodyPr>
          <a:lstStyle/>
          <a:p>
            <a:r>
              <a:rPr lang="en-US" dirty="0"/>
              <a:t>CoT is not a training change → </a:t>
            </a:r>
            <a:r>
              <a:rPr lang="en-US" i="1" dirty="0"/>
              <a:t>a prompting strategy</a:t>
            </a:r>
            <a:endParaRPr lang="en-US" dirty="0"/>
          </a:p>
          <a:p>
            <a:r>
              <a:rPr lang="en-US" dirty="0"/>
              <a:t>Model size matters → CoT emerges at scale</a:t>
            </a:r>
          </a:p>
          <a:p>
            <a:r>
              <a:rPr lang="en-US" dirty="0"/>
              <a:t>CoT improves reasoning across domains (especially math)</a:t>
            </a:r>
          </a:p>
          <a:p>
            <a:r>
              <a:rPr lang="en-US" dirty="0"/>
              <a:t>LLMs are no longer just predicting answers; they are systems simulating a reasoning process.</a:t>
            </a:r>
          </a:p>
        </p:txBody>
      </p:sp>
    </p:spTree>
    <p:extLst>
      <p:ext uri="{BB962C8B-B14F-4D97-AF65-F5344CB8AC3E}">
        <p14:creationId xmlns:p14="http://schemas.microsoft.com/office/powerpoint/2010/main" val="2313663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88F71A-9EDE-9000-89A4-F53B16DE0B9E}"/>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56D4C6D-5ED4-2F0F-AA96-6D271E43D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DE17481A-916B-4223-70FD-03AC2364C442}"/>
              </a:ext>
            </a:extLst>
          </p:cNvPr>
          <p:cNvSpPr>
            <a:spLocks noGrp="1"/>
          </p:cNvSpPr>
          <p:nvPr>
            <p:ph type="title"/>
          </p:nvPr>
        </p:nvSpPr>
        <p:spPr>
          <a:xfrm>
            <a:off x="838200" y="365125"/>
            <a:ext cx="10515600" cy="1325563"/>
          </a:xfrm>
        </p:spPr>
        <p:txBody>
          <a:bodyPr>
            <a:normAutofit/>
          </a:bodyPr>
          <a:lstStyle/>
          <a:p>
            <a:r>
              <a:rPr lang="en-US" sz="5400" dirty="0"/>
              <a:t>Critique</a:t>
            </a:r>
            <a:endParaRPr lang="en-US" sz="5400" noProof="0" dirty="0"/>
          </a:p>
        </p:txBody>
      </p:sp>
      <p:sp>
        <p:nvSpPr>
          <p:cNvPr id="26" name="sketch line">
            <a:extLst>
              <a:ext uri="{FF2B5EF4-FFF2-40B4-BE49-F238E27FC236}">
                <a16:creationId xmlns:a16="http://schemas.microsoft.com/office/drawing/2014/main" id="{05747E64-44DE-DCF0-0B87-4C37CE1D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1">
            <a:extLst>
              <a:ext uri="{FF2B5EF4-FFF2-40B4-BE49-F238E27FC236}">
                <a16:creationId xmlns:a16="http://schemas.microsoft.com/office/drawing/2014/main" id="{9FD440D1-874C-F0FC-DA05-355AE9A360F6}"/>
              </a:ext>
            </a:extLst>
          </p:cNvPr>
          <p:cNvSpPr>
            <a:spLocks noGrp="1" noChangeArrowheads="1"/>
          </p:cNvSpPr>
          <p:nvPr>
            <p:ph idx="1"/>
          </p:nvPr>
        </p:nvSpPr>
        <p:spPr bwMode="auto">
          <a:xfrm>
            <a:off x="559082" y="2055813"/>
            <a:ext cx="11070788" cy="4115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dirty="0"/>
              <a:t>If this method can only work with models with 100B+ parameters, how accessible is it for researchers with limited resources (like us)?</a:t>
            </a:r>
          </a:p>
          <a:p>
            <a:pPr lvl="0"/>
            <a:r>
              <a:rPr lang="en-US" dirty="0"/>
              <a:t>CoT requires much more tokens to be generated than standard prompting (Input + Chain + Output). Is this sustainable in terms of latency and inference cost in real-time applications?</a:t>
            </a:r>
          </a:p>
          <a:p>
            <a:pPr lvl="0"/>
            <a:r>
              <a:rPr lang="en-US" dirty="0"/>
              <a:t>Does the generated chain accurately reflect the model's decision process or is it post-hoc rationalization?</a:t>
            </a:r>
            <a:br>
              <a:rPr lang="en-US" dirty="0"/>
            </a:br>
            <a:r>
              <a:rPr lang="en-US" dirty="0"/>
              <a:t>Risk: "Right answer for the wrong reasons" (Accidental correctness) reduces trust.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3233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2AC06B-A269-811D-FDA0-72E87FD78753}"/>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B1A768A-7684-C30A-1E7B-BE5F8578D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A2CC540-079E-37C9-B640-672C303A9BE1}"/>
              </a:ext>
            </a:extLst>
          </p:cNvPr>
          <p:cNvSpPr>
            <a:spLocks noGrp="1"/>
          </p:cNvSpPr>
          <p:nvPr>
            <p:ph type="title"/>
          </p:nvPr>
        </p:nvSpPr>
        <p:spPr>
          <a:xfrm>
            <a:off x="838200" y="365125"/>
            <a:ext cx="10515600" cy="1325563"/>
          </a:xfrm>
        </p:spPr>
        <p:txBody>
          <a:bodyPr>
            <a:normAutofit/>
          </a:bodyPr>
          <a:lstStyle/>
          <a:p>
            <a:r>
              <a:rPr lang="en-US" sz="5400" noProof="0" dirty="0"/>
              <a:t>References</a:t>
            </a:r>
          </a:p>
        </p:txBody>
      </p:sp>
      <p:sp>
        <p:nvSpPr>
          <p:cNvPr id="26" name="sketch line">
            <a:extLst>
              <a:ext uri="{FF2B5EF4-FFF2-40B4-BE49-F238E27FC236}">
                <a16:creationId xmlns:a16="http://schemas.microsoft.com/office/drawing/2014/main" id="{068F1703-A617-30E7-9F2D-6FC7E98F1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a:extLst>
              <a:ext uri="{FF2B5EF4-FFF2-40B4-BE49-F238E27FC236}">
                <a16:creationId xmlns:a16="http://schemas.microsoft.com/office/drawing/2014/main" id="{910BDCB9-DC50-7248-18FA-3DA140EC67E5}"/>
              </a:ext>
            </a:extLst>
          </p:cNvPr>
          <p:cNvSpPr>
            <a:spLocks noGrp="1"/>
          </p:cNvSpPr>
          <p:nvPr>
            <p:ph idx="1"/>
          </p:nvPr>
        </p:nvSpPr>
        <p:spPr>
          <a:xfrm>
            <a:off x="838200" y="1929384"/>
            <a:ext cx="10515600" cy="4251960"/>
          </a:xfrm>
        </p:spPr>
        <p:txBody>
          <a:bodyPr>
            <a:normAutofit fontScale="70000" lnSpcReduction="20000"/>
          </a:bodyPr>
          <a:lstStyle/>
          <a:p>
            <a:r>
              <a:rPr lang="en-US" b="1" dirty="0"/>
              <a:t>Main Paper</a:t>
            </a:r>
          </a:p>
          <a:p>
            <a:pPr marL="0" indent="0">
              <a:buNone/>
            </a:pPr>
            <a:r>
              <a:rPr lang="en-US" dirty="0"/>
              <a:t>Wei, J., Wang, X., Schuurmans, D., Bosma, M., </a:t>
            </a:r>
            <a:r>
              <a:rPr lang="en-US" dirty="0" err="1"/>
              <a:t>Ichter</a:t>
            </a:r>
            <a:r>
              <a:rPr lang="en-US" dirty="0"/>
              <a:t>, B., Xia, F., et al. (2022). </a:t>
            </a:r>
            <a:r>
              <a:rPr lang="en-US" i="1" dirty="0"/>
              <a:t>Chain-of-Thought Prompting Elicits Reasoning in Large Language Models</a:t>
            </a:r>
            <a:r>
              <a:rPr lang="en-US" dirty="0"/>
              <a:t>. </a:t>
            </a:r>
            <a:r>
              <a:rPr lang="en-US" dirty="0" err="1"/>
              <a:t>NeurIPS</a:t>
            </a:r>
            <a:r>
              <a:rPr lang="en-US" dirty="0"/>
              <a:t>.</a:t>
            </a:r>
          </a:p>
          <a:p>
            <a:r>
              <a:rPr lang="en-US" b="1" dirty="0"/>
              <a:t>Referenced Works</a:t>
            </a:r>
          </a:p>
          <a:p>
            <a:pPr marL="0" indent="0">
              <a:buNone/>
            </a:pPr>
            <a:r>
              <a:rPr lang="en-US" dirty="0"/>
              <a:t>Brown, T. B., Mann, B., Ryder, N., Subbiah, M., Kaplan, J., Dhariwal, P., et al. (2020). </a:t>
            </a:r>
            <a:r>
              <a:rPr lang="en-US" i="1" dirty="0"/>
              <a:t>Language Models are Few-Shot Learners</a:t>
            </a:r>
            <a:r>
              <a:rPr lang="en-US" dirty="0"/>
              <a:t>. </a:t>
            </a:r>
            <a:r>
              <a:rPr lang="en-US" dirty="0" err="1"/>
              <a:t>NeurIPS</a:t>
            </a:r>
            <a:r>
              <a:rPr lang="en-US" dirty="0"/>
              <a:t>. </a:t>
            </a:r>
          </a:p>
          <a:p>
            <a:pPr marL="0" indent="0">
              <a:buNone/>
            </a:pPr>
            <a:r>
              <a:rPr lang="en-US" dirty="0"/>
              <a:t>Hendrycks, D., Burns, C., </a:t>
            </a:r>
            <a:r>
              <a:rPr lang="en-US" dirty="0" err="1"/>
              <a:t>Kadavath</a:t>
            </a:r>
            <a:r>
              <a:rPr lang="en-US" dirty="0"/>
              <a:t>, S., et al. (2021). </a:t>
            </a:r>
            <a:r>
              <a:rPr lang="en-US" i="1" dirty="0"/>
              <a:t>Measuring mathematical problem solving with the MATH dataset</a:t>
            </a:r>
            <a:r>
              <a:rPr lang="en-US" dirty="0"/>
              <a:t>. </a:t>
            </a:r>
            <a:r>
              <a:rPr lang="en-US" dirty="0" err="1"/>
              <a:t>arXiv</a:t>
            </a:r>
            <a:r>
              <a:rPr lang="en-US" dirty="0"/>
              <a:t>. </a:t>
            </a:r>
          </a:p>
          <a:p>
            <a:pPr marL="0" indent="0">
              <a:buNone/>
            </a:pPr>
            <a:r>
              <a:rPr lang="en-US" dirty="0"/>
              <a:t>Cobbe, K., Kosaraju, V., Bavarian, M., et al. (2021). </a:t>
            </a:r>
            <a:r>
              <a:rPr lang="en-US" i="1" dirty="0"/>
              <a:t>Training verifiers to solve math word problems</a:t>
            </a:r>
            <a:r>
              <a:rPr lang="en-US" dirty="0"/>
              <a:t>. </a:t>
            </a:r>
            <a:r>
              <a:rPr lang="en-US" dirty="0" err="1"/>
              <a:t>arXiv</a:t>
            </a:r>
            <a:r>
              <a:rPr lang="en-US" dirty="0"/>
              <a:t>. </a:t>
            </a:r>
          </a:p>
          <a:p>
            <a:pPr marL="0" indent="0">
              <a:buNone/>
            </a:pPr>
            <a:r>
              <a:rPr lang="en-US" dirty="0"/>
              <a:t>Rae, J. W., Borgeaud, S., Cai, T., Millican, K., Hoffmann, J., Song, F., et al. (2021). </a:t>
            </a:r>
            <a:r>
              <a:rPr lang="en-US" i="1" dirty="0"/>
              <a:t>Scaling language models: Methods, analysis &amp; insights from training Gopher</a:t>
            </a:r>
            <a:r>
              <a:rPr lang="en-US" dirty="0"/>
              <a:t>. </a:t>
            </a:r>
            <a:r>
              <a:rPr lang="en-US" dirty="0" err="1"/>
              <a:t>arXiv</a:t>
            </a:r>
            <a:r>
              <a:rPr lang="en-US" dirty="0"/>
              <a:t>. </a:t>
            </a:r>
          </a:p>
          <a:p>
            <a:pPr marL="0" indent="0">
              <a:buNone/>
            </a:pPr>
            <a:r>
              <a:rPr lang="en-US" dirty="0"/>
              <a:t>Kaplan, J., McCandlish, S., Henighan, T., et al. (2020). </a:t>
            </a:r>
            <a:r>
              <a:rPr lang="en-US" i="1" dirty="0"/>
              <a:t>Scaling laws for neural language models</a:t>
            </a:r>
            <a:r>
              <a:rPr lang="en-US" dirty="0"/>
              <a:t>. </a:t>
            </a:r>
            <a:r>
              <a:rPr lang="en-US" dirty="0" err="1"/>
              <a:t>arXiv</a:t>
            </a:r>
            <a:r>
              <a:rPr lang="en-US" dirty="0"/>
              <a:t>. </a:t>
            </a:r>
          </a:p>
        </p:txBody>
      </p:sp>
    </p:spTree>
    <p:extLst>
      <p:ext uri="{BB962C8B-B14F-4D97-AF65-F5344CB8AC3E}">
        <p14:creationId xmlns:p14="http://schemas.microsoft.com/office/powerpoint/2010/main" val="4765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D3A7FD16CAC24AB14869E051BC66D7" ma:contentTypeVersion="3" ma:contentTypeDescription="Create a new document." ma:contentTypeScope="" ma:versionID="2b1b06904eabea911de10d7cf55d6ba3">
  <xsd:schema xmlns:xsd="http://www.w3.org/2001/XMLSchema" xmlns:xs="http://www.w3.org/2001/XMLSchema" xmlns:p="http://schemas.microsoft.com/office/2006/metadata/properties" xmlns:ns2="6bfd5f63-3232-42a0-8db4-2484f8efdeaa" targetNamespace="http://schemas.microsoft.com/office/2006/metadata/properties" ma:root="true" ma:fieldsID="fe476e841904c4fb4179db8de4e01e52" ns2:_="">
    <xsd:import namespace="6bfd5f63-3232-42a0-8db4-2484f8efdea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d5f63-3232-42a0-8db4-2484f8efde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6C3B8D5-8A3E-4FFB-AA5F-2EDBF6BEF01B}"/>
</file>

<file path=customXml/itemProps2.xml><?xml version="1.0" encoding="utf-8"?>
<ds:datastoreItem xmlns:ds="http://schemas.openxmlformats.org/officeDocument/2006/customXml" ds:itemID="{35711C11-B295-43CF-84DA-7F648CD6C7EE}"/>
</file>

<file path=customXml/itemProps3.xml><?xml version="1.0" encoding="utf-8"?>
<ds:datastoreItem xmlns:ds="http://schemas.openxmlformats.org/officeDocument/2006/customXml" ds:itemID="{B84F9452-5028-4162-93B9-155ECD5D86F0}"/>
</file>

<file path=docProps/app.xml><?xml version="1.0" encoding="utf-8"?>
<Properties xmlns="http://schemas.openxmlformats.org/officeDocument/2006/extended-properties" xmlns:vt="http://schemas.openxmlformats.org/officeDocument/2006/docPropsVTypes">
  <TotalTime>1313</TotalTime>
  <Words>1853</Words>
  <Application>Microsoft Office PowerPoint</Application>
  <PresentationFormat>Widescreen</PresentationFormat>
  <Paragraphs>95</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Chain-of-Thought Prompting Elicits Reasoning in Large Language Models</vt:lpstr>
      <vt:lpstr>The Problem</vt:lpstr>
      <vt:lpstr>PowerPoint Presentation</vt:lpstr>
      <vt:lpstr>PowerPoint Presentation</vt:lpstr>
      <vt:lpstr> Results</vt:lpstr>
      <vt:lpstr>PowerPoint Presentation</vt:lpstr>
      <vt:lpstr>Related Work</vt:lpstr>
      <vt:lpstr>Related Work</vt:lpstr>
      <vt:lpstr>Ablation Study</vt:lpstr>
      <vt:lpstr> Robustness of CoT</vt:lpstr>
      <vt:lpstr>Limitations</vt:lpstr>
      <vt:lpstr>Why &amp; How?</vt:lpstr>
      <vt:lpstr>PowerPoint Presentation</vt:lpstr>
      <vt:lpstr>Why &amp; How?</vt:lpstr>
      <vt:lpstr>PowerPoint Presentation</vt:lpstr>
      <vt:lpstr>Experimental Results</vt:lpstr>
      <vt:lpstr>Additional Analysis</vt:lpstr>
      <vt:lpstr>PowerPoint Presentation</vt:lpstr>
      <vt:lpstr>Additional Analysis</vt:lpstr>
      <vt:lpstr>PowerPoint Presentation</vt:lpstr>
      <vt:lpstr>Additional Analysis</vt:lpstr>
      <vt:lpstr>PowerPoint Presentation</vt:lpstr>
      <vt:lpstr>Additional Analysis</vt:lpstr>
      <vt:lpstr>PowerPoint Presentation</vt:lpstr>
      <vt:lpstr>Strategies for Eliciting Reasoning</vt:lpstr>
      <vt:lpstr>PowerPoint Presentation</vt:lpstr>
      <vt:lpstr>Conclusions</vt:lpstr>
      <vt:lpstr>Critique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Furkan Kara</dc:creator>
  <cp:lastModifiedBy>Furkan Kara</cp:lastModifiedBy>
  <cp:revision>99</cp:revision>
  <dcterms:created xsi:type="dcterms:W3CDTF">2025-11-25T12:42:52Z</dcterms:created>
  <dcterms:modified xsi:type="dcterms:W3CDTF">2025-11-30T16:41:42Z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0x010100FDD3A7FD16CAC24AB14869E051BC66D7</vt:lpwstr>
  </property>
</Properties>
</file>