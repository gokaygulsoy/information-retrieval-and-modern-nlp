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4"/>
  </p:sldMasterIdLst>
  <p:notesMasterIdLst>
    <p:notesMasterId r:id="rId37"/>
  </p:notesMasterIdLst>
  <p:sldIdLst>
    <p:sldId id="256" r:id="rId5"/>
    <p:sldId id="257" r:id="rId6"/>
    <p:sldId id="259" r:id="rId7"/>
    <p:sldId id="258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6774" autoAdjust="0"/>
  </p:normalViewPr>
  <p:slideViewPr>
    <p:cSldViewPr snapToGrid="0">
      <p:cViewPr>
        <p:scale>
          <a:sx n="66" d="100"/>
          <a:sy n="66" d="100"/>
        </p:scale>
        <p:origin x="1330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D5943A-8C68-4634-A023-059BE50E0C4E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33D2C-8C30-440A-A811-2F0986E26A5B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4689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Normalde dil modelleri yeni bir görev yapabilmek için ince ayar (</a:t>
            </a:r>
            <a:r>
              <a:rPr lang="tr-TR" b="1" dirty="0" err="1"/>
              <a:t>fine-tuning</a:t>
            </a:r>
            <a:r>
              <a:rPr lang="tr-TR" b="1" dirty="0"/>
              <a:t>) ister.</a:t>
            </a:r>
          </a:p>
          <a:p>
            <a:r>
              <a:rPr lang="tr-TR" dirty="0"/>
              <a:t>Yani modele binlerce örnek verirsin, model o görevi öğrenir.</a:t>
            </a:r>
          </a:p>
          <a:p>
            <a:r>
              <a:rPr lang="tr-TR" b="1" dirty="0"/>
              <a:t>2) İnsanlar ise sadece birkaç örnekle bile yeni bir görevi anlayabilir.</a:t>
            </a:r>
          </a:p>
          <a:p>
            <a:r>
              <a:rPr lang="tr-TR" dirty="0"/>
              <a:t>Mesela sana 3 örnek göstersem, hemen yeni görevi çözebilirsin.</a:t>
            </a:r>
          </a:p>
          <a:p>
            <a:r>
              <a:rPr lang="tr-TR" b="1" dirty="0"/>
              <a:t>3) Biz de GPT-3’ü (175 milyar parametreli dev model)de şunu gördük:</a:t>
            </a:r>
          </a:p>
          <a:p>
            <a:r>
              <a:rPr lang="tr-TR" dirty="0"/>
              <a:t>Modeli devasa boyutta yaptığımızda…</a:t>
            </a:r>
          </a:p>
          <a:p>
            <a:r>
              <a:rPr lang="tr-TR" b="1" dirty="0"/>
              <a:t>4) Model “</a:t>
            </a:r>
            <a:r>
              <a:rPr lang="tr-TR" b="1" dirty="0" err="1"/>
              <a:t>few-shot</a:t>
            </a:r>
            <a:r>
              <a:rPr lang="tr-TR" b="1" dirty="0"/>
              <a:t>” yani birkaç örnekle yeni görevleri çözebiliyor.</a:t>
            </a:r>
          </a:p>
          <a:p>
            <a:r>
              <a:rPr lang="tr-TR" dirty="0"/>
              <a:t>Üstelik:</a:t>
            </a:r>
          </a:p>
          <a:p>
            <a:r>
              <a:rPr lang="tr-TR" b="1" dirty="0" err="1"/>
              <a:t>fine-tuning</a:t>
            </a:r>
            <a:r>
              <a:rPr lang="tr-TR" b="1" dirty="0"/>
              <a:t> olmadan</a:t>
            </a:r>
            <a:endParaRPr lang="tr-TR" dirty="0"/>
          </a:p>
          <a:p>
            <a:r>
              <a:rPr lang="tr-TR" b="1" dirty="0"/>
              <a:t>sadece yazılı komut ve birkaç örnekle</a:t>
            </a:r>
            <a:endParaRPr lang="tr-TR" dirty="0"/>
          </a:p>
          <a:p>
            <a:r>
              <a:rPr lang="tr-TR" b="1" dirty="0"/>
              <a:t>çoğu görevde önceki en iyi modeller kadar iyi</a:t>
            </a:r>
            <a:endParaRPr lang="tr-TR" dirty="0"/>
          </a:p>
          <a:p>
            <a:r>
              <a:rPr lang="tr-TR" b="1" dirty="0"/>
              <a:t>5) Çeviri, soru-cevap, kelime tamamlama, mantık yürütme gibi bir sürü görevi yapabiliyor.</a:t>
            </a:r>
          </a:p>
          <a:p>
            <a:r>
              <a:rPr lang="tr-TR" b="1" dirty="0"/>
              <a:t>6) Ama bazı görevlerde hâlâ zorlandığı yerler var.</a:t>
            </a:r>
          </a:p>
          <a:p>
            <a:r>
              <a:rPr lang="tr-TR" dirty="0"/>
              <a:t>Örneğin:</a:t>
            </a:r>
          </a:p>
          <a:p>
            <a:r>
              <a:rPr lang="tr-TR" dirty="0"/>
              <a:t>çok spesifik veri setleri</a:t>
            </a:r>
          </a:p>
          <a:p>
            <a:r>
              <a:rPr lang="tr-TR" dirty="0"/>
              <a:t>web’den gelen yanlış/yanlı bilgiler</a:t>
            </a:r>
          </a:p>
          <a:p>
            <a:r>
              <a:rPr lang="tr-TR" b="1" dirty="0"/>
              <a:t>7) Model gerçekçi haber makaleleri de yazabiliyor.</a:t>
            </a:r>
          </a:p>
          <a:p>
            <a:r>
              <a:rPr lang="tr-TR" dirty="0"/>
              <a:t>İnsanlar bazen bunların yapay zekâ olduğunu ayırt edemiyor.</a:t>
            </a:r>
          </a:p>
          <a:p>
            <a:r>
              <a:rPr lang="tr-TR" b="1" dirty="0"/>
              <a:t>8) Son olarak bu durumun toplumsal etkilerini tartışıyorlar.</a:t>
            </a:r>
          </a:p>
          <a:p>
            <a:r>
              <a:rPr lang="tr-TR" dirty="0"/>
              <a:t>Örneğin:</a:t>
            </a:r>
          </a:p>
          <a:p>
            <a:r>
              <a:rPr lang="tr-TR" dirty="0"/>
              <a:t>yanlış bilgi üretimi</a:t>
            </a:r>
          </a:p>
          <a:p>
            <a:r>
              <a:rPr lang="tr-TR" dirty="0"/>
              <a:t>otomasyon</a:t>
            </a:r>
          </a:p>
          <a:p>
            <a:r>
              <a:rPr lang="tr-TR" dirty="0"/>
              <a:t>etik riskler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6143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Mevcut sistemlerde sorun: Her görev için dev bir etiketli veri seti gerekiyor</a:t>
            </a:r>
          </a:p>
          <a:p>
            <a:r>
              <a:rPr lang="tr-TR" dirty="0"/>
              <a:t>NLP modelleri eskiden:</a:t>
            </a:r>
          </a:p>
          <a:p>
            <a:r>
              <a:rPr lang="tr-TR" dirty="0"/>
              <a:t>kelime vektörleri →</a:t>
            </a:r>
          </a:p>
          <a:p>
            <a:r>
              <a:rPr lang="tr-TR" dirty="0"/>
              <a:t>RNN →</a:t>
            </a:r>
          </a:p>
          <a:p>
            <a:r>
              <a:rPr lang="tr-TR" dirty="0" err="1"/>
              <a:t>transformer’lar</a:t>
            </a:r>
            <a:r>
              <a:rPr lang="tr-TR" dirty="0"/>
              <a:t> →</a:t>
            </a:r>
            <a:br>
              <a:rPr lang="tr-TR" dirty="0"/>
            </a:br>
            <a:r>
              <a:rPr lang="tr-TR" dirty="0"/>
              <a:t>gibi aşamalardan geçti ama </a:t>
            </a:r>
            <a:r>
              <a:rPr lang="tr-TR" b="1" dirty="0"/>
              <a:t>hepsi yeni bir görev için ayrı bir </a:t>
            </a:r>
            <a:r>
              <a:rPr lang="tr-TR" b="1" dirty="0" err="1"/>
              <a:t>fine-tuning</a:t>
            </a:r>
            <a:r>
              <a:rPr lang="tr-TR" dirty="0"/>
              <a:t> istiyordu.</a:t>
            </a:r>
          </a:p>
          <a:p>
            <a:r>
              <a:rPr lang="tr-TR" dirty="0"/>
              <a:t>Bu sorunlu çünkü:</a:t>
            </a:r>
          </a:p>
          <a:p>
            <a:r>
              <a:rPr lang="tr-TR" dirty="0"/>
              <a:t>Her görev için </a:t>
            </a:r>
            <a:r>
              <a:rPr lang="tr-TR" b="1" dirty="0"/>
              <a:t>binlerce etiketli veri</a:t>
            </a:r>
            <a:r>
              <a:rPr lang="tr-TR" dirty="0"/>
              <a:t> toplamak gerekiyor.</a:t>
            </a:r>
          </a:p>
          <a:p>
            <a:r>
              <a:rPr lang="tr-TR" dirty="0"/>
              <a:t>Her seferinde modeli </a:t>
            </a:r>
            <a:r>
              <a:rPr lang="tr-TR" b="1" dirty="0"/>
              <a:t>yeniden eğitmek</a:t>
            </a:r>
            <a:r>
              <a:rPr lang="tr-TR" dirty="0"/>
              <a:t> gerekiyor.</a:t>
            </a:r>
          </a:p>
          <a:p>
            <a:r>
              <a:rPr lang="tr-TR" dirty="0"/>
              <a:t>Bu veri toplama süreci pahalı ve tekrarlanması gerekiyor.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2) </a:t>
            </a:r>
            <a:r>
              <a:rPr lang="tr-TR" b="1" dirty="0" err="1"/>
              <a:t>Fine-tuning'in</a:t>
            </a:r>
            <a:r>
              <a:rPr lang="tr-TR" b="1" dirty="0"/>
              <a:t> 3 büyük problemi</a:t>
            </a:r>
          </a:p>
          <a:p>
            <a:r>
              <a:rPr lang="tr-TR" b="1" dirty="0"/>
              <a:t>(a) Her yeni görev için veri toplamak zor</a:t>
            </a:r>
          </a:p>
          <a:p>
            <a:r>
              <a:rPr lang="tr-TR" dirty="0"/>
              <a:t>Dil görevleri çok geniş: çeviri, özetleme, duygu analizi, mantık vs.</a:t>
            </a:r>
            <a:br>
              <a:rPr lang="tr-TR" dirty="0"/>
            </a:br>
            <a:r>
              <a:rPr lang="tr-TR" dirty="0"/>
              <a:t>Her biri için koca </a:t>
            </a:r>
            <a:r>
              <a:rPr lang="tr-TR" dirty="0" err="1"/>
              <a:t>dataset</a:t>
            </a:r>
            <a:r>
              <a:rPr lang="tr-TR" dirty="0"/>
              <a:t> oluşturmak maliyetli.</a:t>
            </a:r>
          </a:p>
          <a:p>
            <a:r>
              <a:rPr lang="tr-TR" b="1" dirty="0"/>
              <a:t>(b) </a:t>
            </a:r>
            <a:r>
              <a:rPr lang="tr-TR" b="1" dirty="0" err="1"/>
              <a:t>Fine-tuned</a:t>
            </a:r>
            <a:r>
              <a:rPr lang="tr-TR" b="1" dirty="0"/>
              <a:t> modeller genelde dağılım dışı (OOD) genelleme yapamıyor</a:t>
            </a:r>
          </a:p>
          <a:p>
            <a:r>
              <a:rPr lang="tr-TR" dirty="0"/>
              <a:t>Model:</a:t>
            </a:r>
          </a:p>
          <a:p>
            <a:r>
              <a:rPr lang="tr-TR" dirty="0" err="1"/>
              <a:t>pre-training</a:t>
            </a:r>
            <a:r>
              <a:rPr lang="tr-TR" dirty="0"/>
              <a:t> sırasında her şeyi öğreniyor</a:t>
            </a:r>
          </a:p>
          <a:p>
            <a:r>
              <a:rPr lang="tr-TR" dirty="0"/>
              <a:t>ince ayarda </a:t>
            </a:r>
            <a:r>
              <a:rPr lang="tr-TR" i="1" dirty="0"/>
              <a:t>dar</a:t>
            </a:r>
            <a:r>
              <a:rPr lang="tr-TR" dirty="0"/>
              <a:t> bir dağıma göre eğitiliyor</a:t>
            </a:r>
            <a:br>
              <a:rPr lang="tr-TR" dirty="0"/>
            </a:br>
            <a:r>
              <a:rPr lang="tr-TR" dirty="0"/>
              <a:t>Böyle olunca:</a:t>
            </a:r>
          </a:p>
          <a:p>
            <a:r>
              <a:rPr lang="tr-TR" dirty="0"/>
              <a:t>Model, ince ayar verisine aşırı uyum sağlıyor</a:t>
            </a:r>
          </a:p>
          <a:p>
            <a:r>
              <a:rPr lang="tr-TR" dirty="0"/>
              <a:t>Yeni, farklı tarzda bir veride performans çöküyor</a:t>
            </a:r>
          </a:p>
          <a:p>
            <a:r>
              <a:rPr lang="tr-TR" b="1" dirty="0"/>
              <a:t>(c) İnsanlar gibi öğrenemiyor</a:t>
            </a:r>
          </a:p>
          <a:p>
            <a:r>
              <a:rPr lang="tr-TR" dirty="0"/>
              <a:t>İnsanlar:</a:t>
            </a:r>
          </a:p>
          <a:p>
            <a:r>
              <a:rPr lang="tr-TR" dirty="0"/>
              <a:t>2–3 örnek görünce görevi anlıyor.</a:t>
            </a:r>
          </a:p>
          <a:p>
            <a:r>
              <a:rPr lang="tr-TR" dirty="0"/>
              <a:t>“Şu cümle mutlu mu mutsuz mu?” gibi şeyleri </a:t>
            </a:r>
            <a:r>
              <a:rPr lang="tr-TR" i="1" dirty="0"/>
              <a:t>direkt</a:t>
            </a:r>
            <a:r>
              <a:rPr lang="tr-TR" dirty="0"/>
              <a:t> çözebiliyor.</a:t>
            </a:r>
          </a:p>
          <a:p>
            <a:r>
              <a:rPr lang="tr-TR" dirty="0"/>
              <a:t>Modeller ise:</a:t>
            </a:r>
          </a:p>
          <a:p>
            <a:r>
              <a:rPr lang="tr-TR" dirty="0"/>
              <a:t>binlerce örneğe ihtiyaç duyuyor.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3) GPT-3 yaklaşımı: “</a:t>
            </a:r>
            <a:r>
              <a:rPr lang="tr-TR" b="1" dirty="0" err="1"/>
              <a:t>In-context</a:t>
            </a:r>
            <a:r>
              <a:rPr lang="tr-TR" b="1" dirty="0"/>
              <a:t> </a:t>
            </a:r>
            <a:r>
              <a:rPr lang="tr-TR" b="1" dirty="0" err="1"/>
              <a:t>learning</a:t>
            </a:r>
            <a:r>
              <a:rPr lang="tr-TR" b="1" dirty="0"/>
              <a:t> = bağlamdan öğrenme”</a:t>
            </a:r>
          </a:p>
          <a:p>
            <a:r>
              <a:rPr lang="tr-TR" dirty="0"/>
              <a:t>Model dev hale getirilince </a:t>
            </a:r>
            <a:r>
              <a:rPr lang="tr-TR" dirty="0" err="1"/>
              <a:t>pre-training</a:t>
            </a:r>
            <a:r>
              <a:rPr lang="tr-TR" dirty="0"/>
              <a:t> sırasında:</a:t>
            </a:r>
          </a:p>
          <a:p>
            <a:r>
              <a:rPr lang="tr-TR" dirty="0"/>
              <a:t>çok geniş bir beceri seti,</a:t>
            </a:r>
          </a:p>
          <a:p>
            <a:r>
              <a:rPr lang="tr-TR" dirty="0"/>
              <a:t>çok iyi bir </a:t>
            </a:r>
            <a:r>
              <a:rPr lang="tr-TR" dirty="0" err="1"/>
              <a:t>pattern</a:t>
            </a:r>
            <a:r>
              <a:rPr lang="tr-TR" dirty="0"/>
              <a:t> gibi tanıma kabiliyeti</a:t>
            </a:r>
            <a:br>
              <a:rPr lang="tr-TR" dirty="0"/>
            </a:br>
            <a:r>
              <a:rPr lang="tr-TR" dirty="0"/>
              <a:t>öğreniyor.</a:t>
            </a:r>
          </a:p>
          <a:p>
            <a:r>
              <a:rPr lang="tr-TR" dirty="0"/>
              <a:t>Bu sayede </a:t>
            </a:r>
            <a:r>
              <a:rPr lang="tr-TR" dirty="0" err="1"/>
              <a:t>inference</a:t>
            </a:r>
            <a:r>
              <a:rPr lang="tr-TR" dirty="0"/>
              <a:t> aşamasında:</a:t>
            </a:r>
          </a:p>
          <a:p>
            <a:r>
              <a:rPr lang="tr-TR" dirty="0"/>
              <a:t>birkaç örnek veriyorsun</a:t>
            </a:r>
          </a:p>
          <a:p>
            <a:r>
              <a:rPr lang="tr-TR" dirty="0"/>
              <a:t>model direkt görevi çözüyor</a:t>
            </a:r>
            <a:br>
              <a:rPr lang="tr-TR" dirty="0"/>
            </a:br>
            <a:r>
              <a:rPr lang="tr-TR" b="1" dirty="0"/>
              <a:t>(hiç </a:t>
            </a:r>
            <a:r>
              <a:rPr lang="tr-TR" b="1" dirty="0" err="1"/>
              <a:t>fine-tuning</a:t>
            </a:r>
            <a:r>
              <a:rPr lang="tr-TR" b="1" dirty="0"/>
              <a:t> olmadan)</a:t>
            </a:r>
            <a:endParaRPr lang="tr-TR" dirty="0"/>
          </a:p>
          <a:p>
            <a:r>
              <a:rPr lang="tr-TR" dirty="0"/>
              <a:t>Bu olaya makale:</a:t>
            </a:r>
            <a:br>
              <a:rPr lang="tr-TR" dirty="0"/>
            </a:br>
            <a:r>
              <a:rPr lang="tr-TR" dirty="0"/>
              <a:t>👉 </a:t>
            </a:r>
            <a:r>
              <a:rPr lang="tr-TR" b="1" dirty="0"/>
              <a:t>Language model meta-</a:t>
            </a:r>
            <a:r>
              <a:rPr lang="tr-TR" b="1" dirty="0" err="1"/>
              <a:t>learning</a:t>
            </a:r>
            <a:br>
              <a:rPr lang="tr-TR" dirty="0"/>
            </a:br>
            <a:r>
              <a:rPr lang="tr-TR" dirty="0"/>
              <a:t>diyor.</a:t>
            </a:r>
          </a:p>
          <a:p>
            <a:r>
              <a:rPr lang="tr-TR" dirty="0"/>
              <a:t>Yani model, eğitim sırasında öğrenmeyi öğreniyor.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74116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 err="1"/>
              <a:t>Few-shot</a:t>
            </a:r>
            <a:r>
              <a:rPr lang="tr-TR" b="1" dirty="0"/>
              <a:t> olayı ne demek? Çok basit anlatım</a:t>
            </a:r>
          </a:p>
          <a:p>
            <a:r>
              <a:rPr lang="tr-TR" b="1" dirty="0"/>
              <a:t>📌 Normalde yapay zekâ şöyle çalışır:</a:t>
            </a:r>
          </a:p>
          <a:p>
            <a:r>
              <a:rPr lang="tr-TR" dirty="0"/>
              <a:t>Bir görevi yapması için </a:t>
            </a:r>
            <a:r>
              <a:rPr lang="tr-TR" i="1" dirty="0"/>
              <a:t>binlerce örnek</a:t>
            </a:r>
            <a:r>
              <a:rPr lang="tr-TR" dirty="0"/>
              <a:t> göstermelisin.</a:t>
            </a:r>
          </a:p>
          <a:p>
            <a:r>
              <a:rPr lang="tr-TR" dirty="0"/>
              <a:t>Mesela:</a:t>
            </a:r>
          </a:p>
          <a:p>
            <a:r>
              <a:rPr lang="tr-TR" dirty="0"/>
              <a:t>“Bu cümle olumlu mu olumsuz mu?”</a:t>
            </a:r>
            <a:br>
              <a:rPr lang="tr-TR" dirty="0"/>
            </a:br>
            <a:r>
              <a:rPr lang="tr-TR" dirty="0"/>
              <a:t>10.000 örnek → model öğreniyor.</a:t>
            </a:r>
          </a:p>
          <a:p>
            <a:r>
              <a:rPr lang="tr-TR" dirty="0"/>
              <a:t>Bu yönteme </a:t>
            </a:r>
            <a:r>
              <a:rPr lang="tr-TR" b="1" dirty="0" err="1"/>
              <a:t>fine-tuning</a:t>
            </a:r>
            <a:r>
              <a:rPr lang="tr-TR" dirty="0"/>
              <a:t> deniyor.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📌 GPT-3’te ise şunu keşfettiler:</a:t>
            </a:r>
          </a:p>
          <a:p>
            <a:r>
              <a:rPr lang="tr-TR" dirty="0"/>
              <a:t>Modeli </a:t>
            </a:r>
            <a:r>
              <a:rPr lang="tr-TR" b="1" dirty="0"/>
              <a:t>çok çok büyük yapınca</a:t>
            </a:r>
            <a:r>
              <a:rPr lang="tr-TR" dirty="0"/>
              <a:t>, model </a:t>
            </a:r>
            <a:r>
              <a:rPr lang="tr-TR" i="1" dirty="0"/>
              <a:t>zaten çoğu şeyi önceden öğrenmiş oluyor.</a:t>
            </a:r>
            <a:endParaRPr lang="tr-TR" dirty="0"/>
          </a:p>
          <a:p>
            <a:r>
              <a:rPr lang="tr-TR" dirty="0"/>
              <a:t>Bu yüzden:</a:t>
            </a:r>
          </a:p>
          <a:p>
            <a:r>
              <a:rPr lang="tr-TR" b="1" dirty="0"/>
              <a:t>👉 Yeni bir görevi öğrenmesi için binlerce örnek gerekmiyor.</a:t>
            </a:r>
          </a:p>
          <a:p>
            <a:r>
              <a:rPr lang="tr-TR" b="1" dirty="0"/>
              <a:t>👉 Sadece 2–3 örnek bile yetiyor.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b="1" dirty="0"/>
              <a:t>📚 Basit örnek (senin daha iyi anlaman için):</a:t>
            </a:r>
          </a:p>
          <a:p>
            <a:r>
              <a:rPr lang="tr-TR" b="1" dirty="0"/>
              <a:t>Normal model:</a:t>
            </a:r>
          </a:p>
          <a:p>
            <a:r>
              <a:rPr lang="tr-TR" dirty="0"/>
              <a:t>“Yiğit, bu modeli </a:t>
            </a:r>
            <a:r>
              <a:rPr lang="tr-TR" dirty="0" err="1"/>
              <a:t>İngilizce’den</a:t>
            </a:r>
            <a:r>
              <a:rPr lang="tr-TR" dirty="0"/>
              <a:t> </a:t>
            </a:r>
            <a:r>
              <a:rPr lang="tr-TR" dirty="0" err="1"/>
              <a:t>Türkçe’ye</a:t>
            </a:r>
            <a:r>
              <a:rPr lang="tr-TR" dirty="0"/>
              <a:t> çeviri yapsın diye eğitelim.”</a:t>
            </a:r>
          </a:p>
          <a:p>
            <a:r>
              <a:rPr lang="tr-TR" dirty="0"/>
              <a:t>200.000 tane çeviri çifti verirsin.</a:t>
            </a:r>
          </a:p>
          <a:p>
            <a:r>
              <a:rPr lang="tr-TR" dirty="0"/>
              <a:t>Model öğrenir.</a:t>
            </a:r>
          </a:p>
          <a:p>
            <a:r>
              <a:rPr lang="tr-TR" b="1" dirty="0"/>
              <a:t>GPT-3 gibi dev bir model:</a:t>
            </a:r>
          </a:p>
          <a:p>
            <a:r>
              <a:rPr lang="tr-TR" dirty="0"/>
              <a:t>Sadece şöyle yazıyorsun:</a:t>
            </a:r>
          </a:p>
          <a:p>
            <a:pPr rtl="0"/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İngilizce → Türkçe çevir:</a:t>
            </a:r>
          </a:p>
          <a:p>
            <a:pPr rtl="0"/>
            <a:endParaRPr lang="tr-T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“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Hello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→ “Merhaba”</a:t>
            </a:r>
          </a:p>
          <a:p>
            <a:pPr rtl="0"/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“How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?” → “Nasılsın?”</a:t>
            </a:r>
          </a:p>
          <a:p>
            <a:pPr rtl="0"/>
            <a:endParaRPr lang="tr-T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rtl="0"/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Şimdi bunu çevir:</a:t>
            </a:r>
          </a:p>
          <a:p>
            <a:pPr rtl="0"/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• “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Where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going</a:t>
            </a:r>
            <a:r>
              <a:rPr lang="tr-T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?”</a:t>
            </a:r>
          </a:p>
          <a:p>
            <a:r>
              <a:rPr lang="tr-TR" dirty="0"/>
              <a:t>Ve model </a:t>
            </a:r>
            <a:r>
              <a:rPr lang="tr-TR" b="1" dirty="0"/>
              <a:t>direkt doğru çeviriyi yapıyor.</a:t>
            </a: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1031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175B’lık dev model örnek verildikçe çok hızlı öğreniyor</a:t>
            </a:r>
          </a:p>
          <a:p>
            <a:r>
              <a:rPr lang="tr-TR" dirty="0"/>
              <a:t>Mavi çizgi → 175B parametre</a:t>
            </a:r>
          </a:p>
          <a:p>
            <a:r>
              <a:rPr lang="tr-TR" dirty="0"/>
              <a:t>Başlangıçta diğerleriyle yakın</a:t>
            </a:r>
          </a:p>
          <a:p>
            <a:r>
              <a:rPr lang="tr-TR" dirty="0"/>
              <a:t>1, 2, 10, 20 örnek verdikçe doğruluk </a:t>
            </a:r>
            <a:r>
              <a:rPr lang="tr-TR" b="1" dirty="0"/>
              <a:t>uçuyor</a:t>
            </a:r>
            <a:endParaRPr lang="tr-TR" dirty="0"/>
          </a:p>
          <a:p>
            <a:r>
              <a:rPr lang="tr-TR" dirty="0"/>
              <a:t>60% üstü performans yakalıyor</a:t>
            </a:r>
          </a:p>
          <a:p>
            <a:r>
              <a:rPr lang="tr-TR" dirty="0"/>
              <a:t>Bu “in-</a:t>
            </a:r>
            <a:r>
              <a:rPr lang="tr-TR" dirty="0" err="1"/>
              <a:t>context</a:t>
            </a:r>
            <a:r>
              <a:rPr lang="tr-TR" dirty="0"/>
              <a:t> </a:t>
            </a:r>
            <a:r>
              <a:rPr lang="tr-TR" dirty="0" err="1"/>
              <a:t>learning”in</a:t>
            </a:r>
            <a:r>
              <a:rPr lang="tr-TR" dirty="0"/>
              <a:t> büyük modellerde daha iyi çalıştığını kanıtlıyor.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602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Üç test türü var:</a:t>
            </a:r>
          </a:p>
          <a:p>
            <a:r>
              <a:rPr lang="tr-TR" b="1" dirty="0"/>
              <a:t>Zero-</a:t>
            </a:r>
            <a:r>
              <a:rPr lang="tr-TR" b="1" dirty="0" err="1"/>
              <a:t>shot</a:t>
            </a:r>
            <a:r>
              <a:rPr lang="tr-TR" dirty="0"/>
              <a:t> → Hiç örnek yok, sadece talimat</a:t>
            </a:r>
          </a:p>
          <a:p>
            <a:r>
              <a:rPr lang="tr-TR" b="1" dirty="0" err="1"/>
              <a:t>One-shot</a:t>
            </a:r>
            <a:r>
              <a:rPr lang="tr-TR" dirty="0"/>
              <a:t> → 1 örnek var</a:t>
            </a:r>
          </a:p>
          <a:p>
            <a:r>
              <a:rPr lang="tr-TR" b="1" dirty="0" err="1"/>
              <a:t>Few-shot</a:t>
            </a:r>
            <a:r>
              <a:rPr lang="tr-TR" dirty="0"/>
              <a:t> → Birkaç örnek var</a:t>
            </a:r>
          </a:p>
          <a:p>
            <a:r>
              <a:rPr lang="tr-TR" dirty="0"/>
              <a:t>Grafik sonucu:</a:t>
            </a:r>
          </a:p>
          <a:p>
            <a:r>
              <a:rPr lang="tr-TR" dirty="0"/>
              <a:t>➡️ </a:t>
            </a:r>
            <a:r>
              <a:rPr lang="tr-TR" b="1" dirty="0"/>
              <a:t>Model ne kadar büyükse, bu üç modda da daha iyi performans veriyor.</a:t>
            </a:r>
            <a:endParaRPr lang="tr-TR" dirty="0"/>
          </a:p>
          <a:p>
            <a:r>
              <a:rPr lang="tr-TR" dirty="0"/>
              <a:t>➡️ Özellikle </a:t>
            </a:r>
            <a:r>
              <a:rPr lang="tr-TR" b="1" dirty="0" err="1"/>
              <a:t>few-shot</a:t>
            </a:r>
            <a:r>
              <a:rPr lang="tr-TR" b="1" dirty="0"/>
              <a:t> performansı model büyüdükçe çok hızlı artıyor.</a:t>
            </a:r>
            <a:endParaRPr lang="tr-TR" dirty="0"/>
          </a:p>
          <a:p>
            <a:r>
              <a:rPr lang="tr-TR" dirty="0"/>
              <a:t>Bu demek oluyor ki:</a:t>
            </a:r>
          </a:p>
          <a:p>
            <a:r>
              <a:rPr lang="tr-TR" b="1" dirty="0"/>
              <a:t>Büyük modeller bağlamdan öğrenmeyi çok daha iyi yapıyor.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1018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Model gerçek zamanlı akıl yürütme benzeri şeyler yapabiliyor</a:t>
            </a:r>
          </a:p>
          <a:p>
            <a:r>
              <a:rPr lang="tr-TR" dirty="0"/>
              <a:t>Bu örnekler </a:t>
            </a:r>
            <a:r>
              <a:rPr lang="tr-TR" i="1" dirty="0"/>
              <a:t>çok dikkat çekici</a:t>
            </a:r>
            <a:r>
              <a:rPr lang="tr-TR" dirty="0"/>
              <a:t>:</a:t>
            </a:r>
          </a:p>
          <a:p>
            <a:r>
              <a:rPr lang="tr-TR" dirty="0"/>
              <a:t>kelime çözme (</a:t>
            </a:r>
            <a:r>
              <a:rPr lang="tr-TR" dirty="0" err="1"/>
              <a:t>unscrambling</a:t>
            </a:r>
            <a:r>
              <a:rPr lang="tr-TR" dirty="0"/>
              <a:t>)</a:t>
            </a:r>
          </a:p>
          <a:p>
            <a:r>
              <a:rPr lang="tr-TR" dirty="0"/>
              <a:t>aritmetik</a:t>
            </a:r>
          </a:p>
          <a:p>
            <a:r>
              <a:rPr lang="tr-TR" dirty="0"/>
              <a:t>yeni kelimeyi cümlede kullanma</a:t>
            </a:r>
          </a:p>
          <a:p>
            <a:r>
              <a:rPr lang="tr-TR" dirty="0" err="1"/>
              <a:t>Logics</a:t>
            </a:r>
            <a:r>
              <a:rPr lang="tr-TR" dirty="0"/>
              <a:t> </a:t>
            </a:r>
            <a:br>
              <a:rPr lang="tr-TR" dirty="0"/>
            </a:br>
            <a:r>
              <a:rPr lang="tr-TR" dirty="0" err="1"/>
              <a:t>The</a:t>
            </a:r>
            <a:r>
              <a:rPr lang="tr-TR" dirty="0"/>
              <a:t> model is </a:t>
            </a:r>
            <a:r>
              <a:rPr lang="tr-TR" dirty="0" err="1"/>
              <a:t>able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things</a:t>
            </a:r>
            <a:r>
              <a:rPr lang="tr-TR" dirty="0"/>
              <a:t> </a:t>
            </a:r>
            <a:r>
              <a:rPr lang="tr-TR" dirty="0" err="1"/>
              <a:t>that</a:t>
            </a:r>
            <a:r>
              <a:rPr lang="tr-TR" dirty="0"/>
              <a:t> it </a:t>
            </a:r>
            <a:r>
              <a:rPr lang="tr-TR" dirty="0" err="1"/>
              <a:t>didnot</a:t>
            </a:r>
            <a:r>
              <a:rPr lang="tr-TR" dirty="0"/>
              <a:t> </a:t>
            </a:r>
            <a:r>
              <a:rPr lang="tr-TR" dirty="0" err="1"/>
              <a:t>see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</a:t>
            </a:r>
            <a:r>
              <a:rPr lang="tr-TR" dirty="0" err="1"/>
              <a:t>training</a:t>
            </a:r>
            <a:r>
              <a:rPr lang="tr-TR" dirty="0"/>
              <a:t> </a:t>
            </a:r>
            <a:br>
              <a:rPr lang="tr-TR" dirty="0"/>
            </a:br>
            <a:br>
              <a:rPr lang="tr-TR" dirty="0"/>
            </a:br>
            <a:r>
              <a:rPr lang="tr-TR" b="1" dirty="0"/>
              <a:t>Ama her şey mükemmel değil</a:t>
            </a:r>
          </a:p>
          <a:p>
            <a:r>
              <a:rPr lang="tr-TR" dirty="0"/>
              <a:t>Şu eksikleri vurguluyorlar:</a:t>
            </a:r>
          </a:p>
          <a:p>
            <a:r>
              <a:rPr lang="tr-TR" dirty="0"/>
              <a:t>RACE ve </a:t>
            </a:r>
            <a:r>
              <a:rPr lang="tr-TR" dirty="0" err="1"/>
              <a:t>QuAC</a:t>
            </a:r>
            <a:r>
              <a:rPr lang="tr-TR" dirty="0"/>
              <a:t> gibi bazı veri setlerinde </a:t>
            </a:r>
            <a:r>
              <a:rPr lang="tr-TR" dirty="0" err="1"/>
              <a:t>unsuccesfull</a:t>
            </a:r>
            <a:br>
              <a:rPr lang="tr-TR" dirty="0"/>
            </a:br>
            <a:r>
              <a:rPr lang="tr-TR" dirty="0"/>
              <a:t>in </a:t>
            </a:r>
            <a:r>
              <a:rPr lang="tr-TR" dirty="0" err="1"/>
              <a:t>some</a:t>
            </a:r>
            <a:r>
              <a:rPr lang="tr-TR" dirty="0"/>
              <a:t> </a:t>
            </a:r>
            <a:r>
              <a:rPr lang="tr-TR" dirty="0" err="1"/>
              <a:t>tasks</a:t>
            </a:r>
            <a:r>
              <a:rPr lang="tr-TR" dirty="0"/>
              <a:t>, </a:t>
            </a:r>
            <a:r>
              <a:rPr lang="tr-TR" dirty="0" err="1"/>
              <a:t>there</a:t>
            </a:r>
            <a:r>
              <a:rPr lang="tr-TR" dirty="0"/>
              <a:t> is a </a:t>
            </a:r>
            <a:r>
              <a:rPr lang="tr-TR" dirty="0" err="1"/>
              <a:t>bias</a:t>
            </a:r>
            <a:r>
              <a:rPr lang="tr-TR" dirty="0"/>
              <a:t> </a:t>
            </a:r>
            <a:r>
              <a:rPr lang="tr-TR" dirty="0" err="1"/>
              <a:t>coming</a:t>
            </a:r>
            <a:r>
              <a:rPr lang="tr-TR" dirty="0"/>
              <a:t> </a:t>
            </a:r>
            <a:r>
              <a:rPr lang="tr-TR" dirty="0" err="1"/>
              <a:t>from</a:t>
            </a:r>
            <a:r>
              <a:rPr lang="tr-TR" dirty="0"/>
              <a:t> </a:t>
            </a:r>
            <a:r>
              <a:rPr lang="tr-TR" dirty="0" err="1"/>
              <a:t>training</a:t>
            </a:r>
            <a:r>
              <a:rPr lang="tr-TR" dirty="0"/>
              <a:t> data</a:t>
            </a:r>
            <a:br>
              <a:rPr lang="tr-TR" dirty="0"/>
            </a:br>
            <a:r>
              <a:rPr lang="tr-TR" dirty="0" err="1"/>
              <a:t>complex</a:t>
            </a:r>
            <a:r>
              <a:rPr lang="tr-TR" dirty="0"/>
              <a:t> </a:t>
            </a:r>
            <a:r>
              <a:rPr lang="tr-TR" dirty="0" err="1"/>
              <a:t>reading</a:t>
            </a:r>
            <a:r>
              <a:rPr lang="tr-TR" dirty="0"/>
              <a:t> </a:t>
            </a:r>
            <a:r>
              <a:rPr lang="tr-TR" dirty="0" err="1"/>
              <a:t>comprehensions</a:t>
            </a:r>
            <a:br>
              <a:rPr lang="tr-TR" dirty="0"/>
            </a:br>
            <a:br>
              <a:rPr lang="tr-TR" dirty="0"/>
            </a:b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1936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eaLnBrk="1" latinLnBrk="0" hangingPunct="1"/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GPT-3:</a:t>
            </a:r>
            <a:endParaRPr lang="tr-TR" dirty="0">
              <a:effectLst/>
            </a:endParaRPr>
          </a:p>
          <a:p>
            <a:pPr rtl="0" eaLnBrk="1" latinLnBrk="0" hangingPunct="1"/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Few-shot’ta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çok iyi</a:t>
            </a:r>
            <a:endParaRPr lang="tr-TR" dirty="0">
              <a:effectLst/>
            </a:endParaRPr>
          </a:p>
          <a:p>
            <a:pPr rtl="0" eaLnBrk="1" latinLnBrk="0" hangingPunct="1"/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Çoğu görevde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fine-tuning’e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yaklaşacak kadar güçlü</a:t>
            </a:r>
            <a:endParaRPr lang="tr-TR" dirty="0">
              <a:effectLst/>
            </a:endParaRPr>
          </a:p>
          <a:p>
            <a:pPr rtl="0" eaLnBrk="1" latinLnBrk="0" hangingPunct="1"/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Zaman, maliyet ve veri gereksinimini azaltıyor</a:t>
            </a:r>
            <a:endParaRPr lang="tr-TR" dirty="0">
              <a:effectLst/>
            </a:endParaRPr>
          </a:p>
          <a:p>
            <a:pPr rtl="0" eaLnBrk="1" latinLnBrk="0" hangingPunct="1"/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 yüzden araştırmacılar:</a:t>
            </a:r>
            <a:b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➡ “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Few-shot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mantıklı karşılaştırma olabilir”</a:t>
            </a:r>
            <a:b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diyor.</a:t>
            </a:r>
            <a:endParaRPr lang="tr-TR" dirty="0">
              <a:effectLst/>
            </a:endParaRP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52922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8 farklı model</a:t>
            </a:r>
            <a:r>
              <a:rPr lang="tr-TR" dirty="0"/>
              <a:t> eğitmişler ki boyut arttıkça performans nasıl değişiyor görebilsinler.</a:t>
            </a:r>
          </a:p>
          <a:p>
            <a:r>
              <a:rPr lang="tr-TR" dirty="0"/>
              <a:t>Ayrıca tabloda şunlar var:</a:t>
            </a:r>
          </a:p>
          <a:p>
            <a:r>
              <a:rPr lang="tr-TR" b="1" dirty="0"/>
              <a:t>katman sayısı (</a:t>
            </a:r>
            <a:r>
              <a:rPr lang="tr-TR" b="1" dirty="0" err="1"/>
              <a:t>n_layers</a:t>
            </a:r>
            <a:r>
              <a:rPr lang="tr-TR" b="1" dirty="0"/>
              <a:t>)</a:t>
            </a:r>
            <a:endParaRPr lang="tr-TR" dirty="0"/>
          </a:p>
          <a:p>
            <a:r>
              <a:rPr lang="tr-TR" b="1" dirty="0"/>
              <a:t>her katmandaki boyut (</a:t>
            </a:r>
            <a:r>
              <a:rPr lang="tr-TR" b="1" dirty="0" err="1"/>
              <a:t>d_model</a:t>
            </a:r>
            <a:r>
              <a:rPr lang="tr-TR" b="1" dirty="0"/>
              <a:t>)</a:t>
            </a:r>
            <a:endParaRPr lang="tr-TR" dirty="0"/>
          </a:p>
          <a:p>
            <a:r>
              <a:rPr lang="tr-TR" b="1" dirty="0"/>
              <a:t>çoklu-kafa dikkat sayısı (</a:t>
            </a:r>
            <a:r>
              <a:rPr lang="tr-TR" b="1" dirty="0" err="1"/>
              <a:t>n_heads</a:t>
            </a:r>
            <a:r>
              <a:rPr lang="tr-TR" b="1" dirty="0"/>
              <a:t>)</a:t>
            </a:r>
            <a:endParaRPr lang="tr-TR" dirty="0"/>
          </a:p>
          <a:p>
            <a:r>
              <a:rPr lang="tr-TR" b="1" dirty="0"/>
              <a:t>her kafanın boyutu (</a:t>
            </a:r>
            <a:r>
              <a:rPr lang="tr-TR" b="1" dirty="0" err="1"/>
              <a:t>d_head</a:t>
            </a:r>
            <a:r>
              <a:rPr lang="tr-TR" b="1" dirty="0"/>
              <a:t>)</a:t>
            </a:r>
            <a:endParaRPr lang="tr-TR" dirty="0"/>
          </a:p>
          <a:p>
            <a:r>
              <a:rPr lang="tr-TR" b="1" dirty="0" err="1"/>
              <a:t>batch</a:t>
            </a:r>
            <a:r>
              <a:rPr lang="tr-TR" b="1" dirty="0"/>
              <a:t> size</a:t>
            </a:r>
            <a:endParaRPr lang="tr-TR" dirty="0"/>
          </a:p>
          <a:p>
            <a:r>
              <a:rPr lang="tr-TR" b="1" dirty="0" err="1"/>
              <a:t>learning</a:t>
            </a:r>
            <a:r>
              <a:rPr lang="tr-TR" b="1" dirty="0"/>
              <a:t> rate</a:t>
            </a:r>
            <a:endParaRPr lang="tr-TR" dirty="0"/>
          </a:p>
          <a:p>
            <a:r>
              <a:rPr lang="tr-TR" dirty="0"/>
              <a:t>Ama önemli olan şu:</a:t>
            </a:r>
          </a:p>
          <a:p>
            <a:r>
              <a:rPr lang="tr-TR" dirty="0"/>
              <a:t>👉 </a:t>
            </a:r>
            <a:r>
              <a:rPr lang="tr-TR" b="1" dirty="0"/>
              <a:t>Hepsi aynı mimariyi kullanıyor (GPT-2’nin geliştirilmiş hali)</a:t>
            </a:r>
            <a:br>
              <a:rPr lang="tr-TR" dirty="0"/>
            </a:br>
            <a:r>
              <a:rPr lang="tr-TR" dirty="0"/>
              <a:t>👉 Fark sadece “ne kadar büyük oldukları”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42774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tr-TR" b="1" dirty="0"/>
            </a:br>
            <a:r>
              <a:rPr lang="tr-TR" dirty="0"/>
              <a:t>Toplamda </a:t>
            </a:r>
            <a:r>
              <a:rPr lang="tr-TR" b="1" dirty="0"/>
              <a:t>yaklaşık 500 milyar </a:t>
            </a:r>
            <a:r>
              <a:rPr lang="tr-TR" b="1" dirty="0" err="1"/>
              <a:t>token</a:t>
            </a:r>
            <a:r>
              <a:rPr lang="tr-TR" dirty="0" err="1"/>
              <a:t>lik</a:t>
            </a:r>
            <a:r>
              <a:rPr lang="tr-TR" dirty="0"/>
              <a:t> bir karışım.</a:t>
            </a:r>
          </a:p>
          <a:p>
            <a:r>
              <a:rPr lang="tr-TR" dirty="0"/>
              <a:t>Ana kaynaklar:</a:t>
            </a:r>
          </a:p>
          <a:p>
            <a:r>
              <a:rPr lang="tr-TR" b="1" dirty="0"/>
              <a:t>🔹 1) </a:t>
            </a:r>
            <a:r>
              <a:rPr lang="tr-TR" b="1" dirty="0" err="1"/>
              <a:t>Common</a:t>
            </a:r>
            <a:r>
              <a:rPr lang="tr-TR" b="1" dirty="0"/>
              <a:t> </a:t>
            </a:r>
            <a:r>
              <a:rPr lang="tr-TR" b="1" dirty="0" err="1"/>
              <a:t>Crawl</a:t>
            </a:r>
            <a:r>
              <a:rPr lang="tr-TR" b="1" dirty="0"/>
              <a:t> (ham internet verisi)</a:t>
            </a:r>
          </a:p>
          <a:p>
            <a:r>
              <a:rPr lang="tr-TR" dirty="0"/>
              <a:t>2016–2019 arası 410B </a:t>
            </a:r>
            <a:r>
              <a:rPr lang="tr-TR" dirty="0" err="1"/>
              <a:t>token</a:t>
            </a:r>
            <a:br>
              <a:rPr lang="tr-TR" dirty="0"/>
            </a:br>
            <a:r>
              <a:rPr lang="tr-TR" dirty="0"/>
              <a:t>Ama “ham” </a:t>
            </a:r>
            <a:r>
              <a:rPr lang="tr-TR" dirty="0" err="1"/>
              <a:t>Common</a:t>
            </a:r>
            <a:r>
              <a:rPr lang="tr-TR" dirty="0"/>
              <a:t> </a:t>
            </a:r>
            <a:r>
              <a:rPr lang="tr-TR" dirty="0" err="1"/>
              <a:t>Crawl</a:t>
            </a:r>
            <a:r>
              <a:rPr lang="tr-TR" dirty="0"/>
              <a:t> çok gürültülü, o yüzden:</a:t>
            </a:r>
          </a:p>
          <a:p>
            <a:r>
              <a:rPr lang="tr-TR" dirty="0"/>
              <a:t>✔ filtreleme</a:t>
            </a:r>
            <a:br>
              <a:rPr lang="tr-TR" dirty="0"/>
            </a:br>
            <a:r>
              <a:rPr lang="tr-TR" dirty="0"/>
              <a:t>✔ kalite skoru ile sıralama</a:t>
            </a:r>
            <a:br>
              <a:rPr lang="tr-TR" dirty="0"/>
            </a:br>
            <a:r>
              <a:rPr lang="tr-TR" dirty="0"/>
              <a:t>✔ düşük kaliteli olanları atma</a:t>
            </a:r>
            <a:br>
              <a:rPr lang="tr-TR" dirty="0"/>
            </a:br>
            <a:r>
              <a:rPr lang="tr-TR" dirty="0"/>
              <a:t>✔ </a:t>
            </a:r>
            <a:r>
              <a:rPr lang="tr-TR" dirty="0" err="1"/>
              <a:t>deduplication</a:t>
            </a:r>
            <a:r>
              <a:rPr lang="tr-TR" dirty="0"/>
              <a:t> (kopyaları silme)</a:t>
            </a:r>
            <a:br>
              <a:rPr lang="tr-TR" dirty="0"/>
            </a:br>
            <a:r>
              <a:rPr lang="tr-TR" dirty="0"/>
              <a:t>yapılmış.</a:t>
            </a:r>
          </a:p>
          <a:p>
            <a:r>
              <a:rPr lang="tr-TR" b="1" dirty="0"/>
              <a:t>🔹 2) Yüksek kaliteli veri kaynakları</a:t>
            </a:r>
          </a:p>
          <a:p>
            <a:r>
              <a:rPr lang="tr-TR" dirty="0"/>
              <a:t>WebText2 (</a:t>
            </a:r>
            <a:r>
              <a:rPr lang="tr-TR" dirty="0" err="1"/>
              <a:t>OpenAI’in</a:t>
            </a:r>
            <a:r>
              <a:rPr lang="tr-TR" dirty="0"/>
              <a:t> özel internet </a:t>
            </a:r>
            <a:r>
              <a:rPr lang="tr-TR" dirty="0" err="1"/>
              <a:t>dataset’i</a:t>
            </a:r>
            <a:r>
              <a:rPr lang="tr-TR" dirty="0"/>
              <a:t>)</a:t>
            </a:r>
          </a:p>
          <a:p>
            <a:r>
              <a:rPr lang="tr-TR" dirty="0"/>
              <a:t>Kitap veri setleri (Books1 + Books2)</a:t>
            </a:r>
          </a:p>
          <a:p>
            <a:r>
              <a:rPr lang="tr-TR" dirty="0"/>
              <a:t>İngilizce Wikipedia</a:t>
            </a:r>
          </a:p>
          <a:p>
            <a:r>
              <a:rPr lang="tr-TR" dirty="0"/>
              <a:t>Bu kaliteli kaynaklar:</a:t>
            </a:r>
            <a:br>
              <a:rPr lang="tr-TR" dirty="0"/>
            </a:br>
            <a:r>
              <a:rPr lang="tr-TR" dirty="0"/>
              <a:t>👉 eğitimde daha sık gösteriliyor (yüksek ağırlık veriliyor)</a:t>
            </a:r>
          </a:p>
          <a:p>
            <a:r>
              <a:rPr lang="tr-TR" dirty="0"/>
              <a:t>Çünkü modelin daha temiz veriyle daha iyi öğrenmesi sağlanıyor.</a:t>
            </a:r>
          </a:p>
          <a:p>
            <a:br>
              <a:rPr lang="tr-TR" b="1" dirty="0"/>
            </a:br>
            <a:br>
              <a:rPr lang="tr-TR" b="1" dirty="0"/>
            </a:br>
            <a:r>
              <a:rPr lang="tr-TR" b="1" dirty="0"/>
              <a:t>Bu sayfada önemli bir uyarı: Data </a:t>
            </a:r>
            <a:r>
              <a:rPr lang="tr-TR" b="1" dirty="0" err="1"/>
              <a:t>Contamination</a:t>
            </a:r>
            <a:r>
              <a:rPr lang="tr-TR" b="1" dirty="0"/>
              <a:t> (veri sızıntısı)</a:t>
            </a:r>
          </a:p>
          <a:p>
            <a:r>
              <a:rPr lang="tr-TR" dirty="0"/>
              <a:t>Büyük modeller çok veri görüp akılda tutabildiği için:</a:t>
            </a:r>
          </a:p>
          <a:p>
            <a:r>
              <a:rPr lang="tr-TR" b="1" dirty="0"/>
              <a:t>⚠️ Tehlike:</a:t>
            </a:r>
          </a:p>
          <a:p>
            <a:r>
              <a:rPr lang="tr-TR" dirty="0"/>
              <a:t>Eğitim verisiyle test verisi örtüşürse sonuçlar </a:t>
            </a:r>
            <a:r>
              <a:rPr lang="tr-TR" b="1" dirty="0"/>
              <a:t>yanlış yüksek</a:t>
            </a:r>
            <a:r>
              <a:rPr lang="tr-TR" dirty="0"/>
              <a:t> çıkar.</a:t>
            </a:r>
          </a:p>
          <a:p>
            <a:r>
              <a:rPr lang="tr-TR" dirty="0" err="1"/>
              <a:t>OpenAI</a:t>
            </a:r>
            <a:r>
              <a:rPr lang="tr-TR" dirty="0"/>
              <a:t> bunu azaltmaya çalışmış:</a:t>
            </a:r>
          </a:p>
          <a:p>
            <a:r>
              <a:rPr lang="tr-TR" dirty="0"/>
              <a:t>Test setleriyle eğitim verilerini karşılaştırmış</a:t>
            </a:r>
          </a:p>
          <a:p>
            <a:r>
              <a:rPr lang="tr-TR" dirty="0" err="1"/>
              <a:t>Overlap'ı</a:t>
            </a:r>
            <a:r>
              <a:rPr lang="tr-TR" dirty="0"/>
              <a:t> silmeye çalışmış</a:t>
            </a:r>
          </a:p>
          <a:p>
            <a:r>
              <a:rPr lang="tr-TR" dirty="0"/>
              <a:t>Ama:</a:t>
            </a:r>
          </a:p>
          <a:p>
            <a:r>
              <a:rPr lang="tr-TR" b="1" dirty="0"/>
              <a:t>❗ Bir </a:t>
            </a:r>
            <a:r>
              <a:rPr lang="tr-TR" b="1" dirty="0" err="1"/>
              <a:t>bug</a:t>
            </a:r>
            <a:r>
              <a:rPr lang="tr-TR" b="1" dirty="0"/>
              <a:t> yüzünden bazı test verileri yine de eğitimde yer aldı</a:t>
            </a:r>
          </a:p>
          <a:p>
            <a:r>
              <a:rPr lang="tr-TR" dirty="0"/>
              <a:t>Ve eğitim çok pahalı olduğu için yeniden eğitim yapamadılar.</a:t>
            </a:r>
          </a:p>
          <a:p>
            <a:r>
              <a:rPr lang="tr-TR" dirty="0"/>
              <a:t>Bu yüzden makalede:</a:t>
            </a:r>
            <a:br>
              <a:rPr lang="tr-TR" dirty="0"/>
            </a:br>
            <a:r>
              <a:rPr lang="tr-TR" dirty="0"/>
              <a:t>➡️ Bazı veri setlerini yıldız ile işaretlediler</a:t>
            </a:r>
            <a:br>
              <a:rPr lang="tr-TR" dirty="0"/>
            </a:br>
            <a:r>
              <a:rPr lang="tr-TR" dirty="0"/>
              <a:t>➡️ Bazılarını tamamen dışarıda bıraktılar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9152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Multiple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Choice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(Çoktan Seçmeli Sorular)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bakar.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Örnek Senaryo: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Soru: "Türkiye'nin başkenti neresidir?"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Seçenek A: İstanbul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Seçenek B: Ankara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 şöyle işler:</a:t>
            </a:r>
            <a:endParaRPr lang="tr-TR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önce şu cümleyi kurar: 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"Türkiye'nin başkenti İstanbul"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 cümlenin olasılığını hesaplar (Diyelim ki %20).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Sonra şunu kurar: </a:t>
            </a:r>
            <a:r>
              <a:rPr lang="tr-TR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"Türkiye'nin başkenti Ankara"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 cümlenin olasılığını hesaplar (Diyelim ki %95).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Hangisinin olasılığı yüksekse o cevabı seçer.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Buradaki "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Normalized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Probability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(Normalizasyon) detayı şudur: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Eğer seçeneklerden biri çok kısaysa (tek kelime), diğeri çok uzunsa (5 kelime), uzun olanın olasılığı matematiksel olarak hep daha düşük çıkar (çünkü daha çok ihtimali çarpıyorsun).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Haksızlık olmasın diye: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Toplam olasılığı kelime sayısına bölerler. Buna </a:t>
            </a:r>
            <a:r>
              <a:rPr lang="tr-TR" sz="120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normalization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denir. Böylece uzun cevapla kısa cevap adil yarışır.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Binary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Classification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(İkili Sınıflandırma)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Mantık: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Cevabın sadece iki ihtimali olduğu durumlar (Evet/Hayır, Doğru/Yanlış, Olumlu/Olumsuz).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Örnek Senaryo: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Modele bir yorum veriyorsun ve "Bu yorum olumlu mu?" diye soruyorsun.</a:t>
            </a:r>
          </a:p>
          <a:p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(Girdi):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Film berbattı, hiç beğenmedim.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 yorum olumlu mu?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Cevap: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 şöyle işler: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 sözlüğündeki (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vocabulary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tüm kelimelere bakılmaz. Sadece iki kelimenin yarışına bakılır: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"True"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(Evet/Doğru) kelimesinin gelme ihtimali: %0.01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(Hayır/Yanlış) kelimesinin gelme ihtimali: %99.9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bakar: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True. O zaman çıktı olarak "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sonucunu döndürür.</a:t>
            </a:r>
          </a:p>
          <a:p>
            <a:br>
              <a:rPr lang="tr-TR" dirty="0"/>
            </a:br>
            <a:endParaRPr lang="tr-TR" dirty="0"/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3.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Free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-Form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Generation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(Serbest Üretim)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Mantık: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Çeviri yapmak veya makale yazmak gibi, sonucun A/B şıkkı olmadığı, modelin cümle kurduğu durumlar.</a:t>
            </a:r>
          </a:p>
          <a:p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Beam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(Işın Arama) Nedir?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bir sonraki kelimeyi seçerken sadece "en iyi tek kelimeyi" seçip gitmez. Çünkü bazen başta iyi görünen bir kelime, cümlenin devamını bozar.</a:t>
            </a:r>
          </a:p>
          <a:p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Beam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width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4: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 her adımda 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iyi 4 ihtimali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aynı anda aklında tutar ve 4 farklı yol gibi ilerletir. Cümlenin sonunda bu 4 yoldan toplam puanı en yüksek olanı seçer. Satrançta 3-4 hamle sonrasını düşünmek gibidir.</a:t>
            </a:r>
          </a:p>
          <a:p>
            <a:r>
              <a:rPr lang="tr-TR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Metrics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(Puanlama):</a:t>
            </a:r>
          </a:p>
          <a:p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cevabı üretti, peki doğru mu? Bunu anlamak için referans (insan cevabı) ile kıyaslarlar.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BLEU: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Çeviride kullanılır. Modelin yazdığı kelimelerle insanın çevirisindeki kelimeler ne kadar örtüşüyor?</a:t>
            </a:r>
          </a:p>
          <a:p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Exact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Match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Birebir aynı mı? (Özellikle kısa cevaplarda).</a:t>
            </a:r>
          </a:p>
          <a:p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F1 </a:t>
            </a:r>
            <a:r>
              <a:rPr lang="tr-TR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Score</a:t>
            </a:r>
            <a:r>
              <a:rPr lang="tr-T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tr-T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Hem doğruları bilmiş mi, hem de yanlış bir şey uydurmamış mı? (Denge puanı)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482538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3.1.2 LAMBADA</a:t>
            </a:r>
          </a:p>
          <a:p>
            <a:r>
              <a:rPr lang="tr-TR" dirty="0"/>
              <a:t>LAMBADA nedir?</a:t>
            </a:r>
          </a:p>
          <a:p>
            <a:r>
              <a:rPr lang="tr-TR" dirty="0"/>
              <a:t>👉 “Model paragrafın tamamını okuyup son kelimeyi doğru tahmin edebiliyor mu?” testi</a:t>
            </a:r>
          </a:p>
          <a:p>
            <a:br>
              <a:rPr lang="tr-TR" dirty="0"/>
            </a:br>
            <a:r>
              <a:rPr lang="tr-TR" dirty="0"/>
              <a:t>Uzun menzilli bağlam anlayışı gerektirir</a:t>
            </a:r>
          </a:p>
          <a:p>
            <a:r>
              <a:rPr lang="tr-TR" b="1" dirty="0" err="1"/>
              <a:t>HellaSwag</a:t>
            </a:r>
            <a:r>
              <a:rPr lang="tr-TR" b="1" dirty="0"/>
              <a:t>:</a:t>
            </a:r>
            <a:r>
              <a:rPr lang="tr-TR" dirty="0"/>
              <a:t> Gündelik olayların en mantıklı devamını tahmin ettirerek modelin "sağduyusunu" (</a:t>
            </a:r>
            <a:r>
              <a:rPr lang="tr-TR" dirty="0" err="1"/>
              <a:t>common</a:t>
            </a:r>
            <a:r>
              <a:rPr lang="tr-TR" dirty="0"/>
              <a:t> sense) ölçen ve özellikle yapay zekayı zorlamak için üretilmiş bir veri setidir.</a:t>
            </a:r>
          </a:p>
          <a:p>
            <a:r>
              <a:rPr lang="tr-TR" b="1" dirty="0" err="1"/>
              <a:t>StoryCloze</a:t>
            </a:r>
            <a:r>
              <a:rPr lang="tr-TR" b="1" dirty="0"/>
              <a:t>:</a:t>
            </a:r>
            <a:r>
              <a:rPr lang="tr-TR" dirty="0"/>
              <a:t> Dört cümlelik kısa bir hikayenin akışına en uygun düşen "beşinci cümleyi" seçtirtmek üzerine kurulu, hikaye tamamlama ve neden-sonuç becerisini ölçen bir testtir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378509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 err="1"/>
              <a:t>TriviaQA</a:t>
            </a:r>
            <a:r>
              <a:rPr lang="tr-TR" b="1" dirty="0"/>
              <a:t>:</a:t>
            </a:r>
            <a:r>
              <a:rPr lang="tr-TR" dirty="0"/>
              <a:t> Web ve Wikipedia kaynaklı, karmaşık ve detaylı genel kültür sorularıyla modelin geniş bilgi dağarcığını ölçen zorlu bir veri setidir.</a:t>
            </a:r>
          </a:p>
          <a:p>
            <a:r>
              <a:rPr lang="tr-TR" b="1" dirty="0" err="1"/>
              <a:t>WebQs</a:t>
            </a:r>
            <a:r>
              <a:rPr lang="tr-TR" b="1" dirty="0"/>
              <a:t> (</a:t>
            </a:r>
            <a:r>
              <a:rPr lang="tr-TR" b="1" dirty="0" err="1"/>
              <a:t>WebQuestions</a:t>
            </a:r>
            <a:r>
              <a:rPr lang="tr-TR" b="1" dirty="0"/>
              <a:t>):</a:t>
            </a:r>
            <a:r>
              <a:rPr lang="tr-TR" dirty="0"/>
              <a:t> Google aramalarından derlenen, daha çok "X kimdir, Y neresidir" gibi net bilgi ve varlık (</a:t>
            </a:r>
            <a:r>
              <a:rPr lang="tr-TR" dirty="0" err="1"/>
              <a:t>entity</a:t>
            </a:r>
            <a:r>
              <a:rPr lang="tr-TR" dirty="0"/>
              <a:t>) sorgularına odaklanan bir veri setidir.</a:t>
            </a:r>
          </a:p>
          <a:p>
            <a:r>
              <a:rPr lang="tr-TR" b="1" dirty="0" err="1"/>
              <a:t>NaturalQs</a:t>
            </a:r>
            <a:r>
              <a:rPr lang="tr-TR" b="1" dirty="0"/>
              <a:t> (Natural </a:t>
            </a:r>
            <a:r>
              <a:rPr lang="tr-TR" b="1" dirty="0" err="1"/>
              <a:t>Questions</a:t>
            </a:r>
            <a:r>
              <a:rPr lang="tr-TR" b="1" dirty="0"/>
              <a:t>):</a:t>
            </a:r>
            <a:r>
              <a:rPr lang="tr-TR" dirty="0"/>
              <a:t> Gerçek kullanıcıların Google’a sorduğu günlük/doğal soruları ve bunlara Wikipedia metinleri içinden cevap bulmayı gerektiren modern bir soru-cevap setidir.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7295610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 err="1"/>
              <a:t>Winograd</a:t>
            </a:r>
            <a:r>
              <a:rPr lang="tr-TR" dirty="0"/>
              <a:t> tarzı testler:</a:t>
            </a:r>
          </a:p>
          <a:p>
            <a:r>
              <a:rPr lang="tr-TR" dirty="0"/>
              <a:t>Bu görevler “mantık + dil anlayışı” testleridir.</a:t>
            </a:r>
            <a:br>
              <a:rPr lang="tr-TR" dirty="0"/>
            </a:br>
            <a:endParaRPr lang="tr-TR" dirty="0"/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994467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PIQA (</a:t>
            </a:r>
            <a:r>
              <a:rPr lang="tr-TR" b="1" dirty="0" err="1"/>
              <a:t>Physical</a:t>
            </a:r>
            <a:r>
              <a:rPr lang="tr-TR" b="1" dirty="0"/>
              <a:t> </a:t>
            </a:r>
            <a:r>
              <a:rPr lang="tr-TR" b="1" dirty="0" err="1"/>
              <a:t>Interaction</a:t>
            </a:r>
            <a:r>
              <a:rPr lang="tr-TR" b="1" dirty="0"/>
              <a:t> QA):</a:t>
            </a:r>
            <a:r>
              <a:rPr lang="tr-TR" dirty="0"/>
              <a:t> Fiziksel dünya hakkındaki sağduyuyu ölçmek amacıyla, günlük hayattaki nesnelerin nasıl kullanıldığına ve fiziksel etkileşimlerine (örneğin, "yumurta nasıl kırılır?") odaklanan bir veri setidir.</a:t>
            </a:r>
          </a:p>
          <a:p>
            <a:r>
              <a:rPr lang="tr-TR" b="1" dirty="0"/>
              <a:t>ARC (AI2 </a:t>
            </a:r>
            <a:r>
              <a:rPr lang="tr-TR" b="1" dirty="0" err="1"/>
              <a:t>Reasoning</a:t>
            </a:r>
            <a:r>
              <a:rPr lang="tr-TR" b="1" dirty="0"/>
              <a:t> Challenge):</a:t>
            </a:r>
            <a:r>
              <a:rPr lang="tr-TR" dirty="0"/>
              <a:t> Basit bilgi aramasıyla çözülemeyen, modelin derinlemesine mantık yürütmesini gerektiren ilkokul seviyesindeki zorlu fen bilgisi sorularından oluşur.</a:t>
            </a:r>
          </a:p>
          <a:p>
            <a:r>
              <a:rPr lang="tr-TR" b="1" dirty="0" err="1"/>
              <a:t>OpenBookQA</a:t>
            </a:r>
            <a:r>
              <a:rPr lang="tr-TR" b="1" dirty="0"/>
              <a:t>:</a:t>
            </a:r>
            <a:r>
              <a:rPr lang="tr-TR" dirty="0"/>
              <a:t> Temel bilimsel gerçekleri genel hayat bilgisiyle birleştirerek çıkarım yapmayı gerektiren, adeta bir "açık kitap sınavı" mantığında hazırlanmış zorlu bir testtir.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86246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391705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 err="1"/>
              <a:t>SuperGLUE</a:t>
            </a:r>
            <a:r>
              <a:rPr lang="tr-TR" b="1" dirty="0"/>
              <a:t>:</a:t>
            </a:r>
            <a:r>
              <a:rPr lang="tr-TR" dirty="0"/>
              <a:t> Mevcut yapay zeka modellerini daha fazla zorlamak için bir araya getirilmiş, mantık yürütme ve dil anlama gerektiren en zorlu testlerin genel paketidir (Aşağıdakilerin çoğunu kapsar).</a:t>
            </a:r>
          </a:p>
          <a:p>
            <a:r>
              <a:rPr lang="tr-TR" b="1" dirty="0" err="1"/>
              <a:t>BoolQ</a:t>
            </a:r>
            <a:r>
              <a:rPr lang="tr-TR" b="1" dirty="0"/>
              <a:t> (</a:t>
            </a:r>
            <a:r>
              <a:rPr lang="tr-TR" b="1" dirty="0" err="1"/>
              <a:t>Boolean</a:t>
            </a:r>
            <a:r>
              <a:rPr lang="tr-TR" b="1" dirty="0"/>
              <a:t> </a:t>
            </a:r>
            <a:r>
              <a:rPr lang="tr-TR" b="1" dirty="0" err="1"/>
              <a:t>Questions</a:t>
            </a:r>
            <a:r>
              <a:rPr lang="tr-TR" b="1" dirty="0"/>
              <a:t>):</a:t>
            </a:r>
            <a:r>
              <a:rPr lang="tr-TR" dirty="0"/>
              <a:t> Bir paragraf okutulup, o paragrafa dayanarak sorulan zorlayıcı "Evet/Hayır" sorularını içeren bir okuma-anlama testidir.</a:t>
            </a:r>
          </a:p>
          <a:p>
            <a:r>
              <a:rPr lang="tr-TR" b="1" dirty="0"/>
              <a:t>CB (</a:t>
            </a:r>
            <a:r>
              <a:rPr lang="tr-TR" b="1" dirty="0" err="1"/>
              <a:t>CommitmentBank</a:t>
            </a:r>
            <a:r>
              <a:rPr lang="tr-TR" b="1" dirty="0"/>
              <a:t>):</a:t>
            </a:r>
            <a:r>
              <a:rPr lang="tr-TR" dirty="0"/>
              <a:t> Bir konuşmacının söylediği söze ne kadar sadık olduğunu veya cümlenin kesinlik derecesini (ima edilen anlamı) ölçen dilbilimsel bir testtir.</a:t>
            </a:r>
          </a:p>
          <a:p>
            <a:r>
              <a:rPr lang="tr-TR" b="1" dirty="0"/>
              <a:t>COPA (</a:t>
            </a:r>
            <a:r>
              <a:rPr lang="tr-TR" b="1" dirty="0" err="1"/>
              <a:t>Choice</a:t>
            </a:r>
            <a:r>
              <a:rPr lang="tr-TR" b="1" dirty="0"/>
              <a:t> of </a:t>
            </a:r>
            <a:r>
              <a:rPr lang="tr-TR" b="1" dirty="0" err="1"/>
              <a:t>Plausible</a:t>
            </a:r>
            <a:r>
              <a:rPr lang="tr-TR" b="1" dirty="0"/>
              <a:t> </a:t>
            </a:r>
            <a:r>
              <a:rPr lang="tr-TR" b="1" dirty="0" err="1"/>
              <a:t>Alternatives</a:t>
            </a:r>
            <a:r>
              <a:rPr lang="tr-TR" b="1" dirty="0"/>
              <a:t>):</a:t>
            </a:r>
            <a:r>
              <a:rPr lang="tr-TR" dirty="0"/>
              <a:t> Verilen bir olayın en mantıklı sebebini veya sonucunu buldurarak modelin neden-sonuç ilişkisi kurma becerisini ölçer.</a:t>
            </a:r>
          </a:p>
          <a:p>
            <a:r>
              <a:rPr lang="tr-TR" b="1" dirty="0"/>
              <a:t>RTE (</a:t>
            </a:r>
            <a:r>
              <a:rPr lang="tr-TR" b="1" dirty="0" err="1"/>
              <a:t>Recognizing</a:t>
            </a:r>
            <a:r>
              <a:rPr lang="tr-TR" b="1" dirty="0"/>
              <a:t> </a:t>
            </a:r>
            <a:r>
              <a:rPr lang="tr-TR" b="1" dirty="0" err="1"/>
              <a:t>Textual</a:t>
            </a:r>
            <a:r>
              <a:rPr lang="tr-TR" b="1" dirty="0"/>
              <a:t> </a:t>
            </a:r>
            <a:r>
              <a:rPr lang="tr-TR" b="1" dirty="0" err="1"/>
              <a:t>Entailment</a:t>
            </a:r>
            <a:r>
              <a:rPr lang="tr-TR" b="1" dirty="0"/>
              <a:t>):</a:t>
            </a:r>
            <a:r>
              <a:rPr lang="tr-TR" dirty="0"/>
              <a:t> Verilen iki cümleden birincisinin, ikinci cümleyi mantıksal olarak kanıtlayıp kanıtlamadığını (çıkarım yapmayı) test eder.</a:t>
            </a:r>
          </a:p>
          <a:p>
            <a:r>
              <a:rPr lang="tr-TR" b="1" dirty="0" err="1"/>
              <a:t>WiC</a:t>
            </a:r>
            <a:r>
              <a:rPr lang="tr-TR" b="1" dirty="0"/>
              <a:t> (Word-in-</a:t>
            </a:r>
            <a:r>
              <a:rPr lang="tr-TR" b="1" dirty="0" err="1"/>
              <a:t>Context</a:t>
            </a:r>
            <a:r>
              <a:rPr lang="tr-TR" b="1" dirty="0"/>
              <a:t>):</a:t>
            </a:r>
            <a:r>
              <a:rPr lang="tr-TR" dirty="0"/>
              <a:t> Aynı kelimenin iki farklı cümlede aynı anlamda mı yoksa farklı anlamda mı kullanıldığını ayırt etmeyi gerektiren bir kelime anlamı testidir.</a:t>
            </a:r>
          </a:p>
          <a:p>
            <a:r>
              <a:rPr lang="tr-TR" b="1" dirty="0"/>
              <a:t>WSC (</a:t>
            </a:r>
            <a:r>
              <a:rPr lang="tr-TR" b="1" dirty="0" err="1"/>
              <a:t>Winograd</a:t>
            </a:r>
            <a:r>
              <a:rPr lang="tr-TR" b="1" dirty="0"/>
              <a:t> </a:t>
            </a:r>
            <a:r>
              <a:rPr lang="tr-TR" b="1" dirty="0" err="1"/>
              <a:t>Schema</a:t>
            </a:r>
            <a:r>
              <a:rPr lang="tr-TR" b="1" dirty="0"/>
              <a:t> Challenge):</a:t>
            </a:r>
            <a:r>
              <a:rPr lang="tr-TR" dirty="0"/>
              <a:t> Cümledeki "o/bu" gibi zamirlerin hangi isme gönderme yaptığını anlamak için mantık yürütmeyi gerektiren (kazak-ceket örneği gibi) testtir.</a:t>
            </a:r>
          </a:p>
          <a:p>
            <a:r>
              <a:rPr lang="tr-TR" b="1" dirty="0" err="1"/>
              <a:t>MultiRC</a:t>
            </a:r>
            <a:r>
              <a:rPr lang="tr-TR" b="1" dirty="0"/>
              <a:t> (Multi-</a:t>
            </a:r>
            <a:r>
              <a:rPr lang="tr-TR" b="1" dirty="0" err="1"/>
              <a:t>Sentence</a:t>
            </a:r>
            <a:r>
              <a:rPr lang="tr-TR" b="1" dirty="0"/>
              <a:t> Reading </a:t>
            </a:r>
            <a:r>
              <a:rPr lang="tr-TR" b="1" dirty="0" err="1"/>
              <a:t>Comprehension</a:t>
            </a:r>
            <a:r>
              <a:rPr lang="tr-TR" b="1" dirty="0"/>
              <a:t>):</a:t>
            </a:r>
            <a:r>
              <a:rPr lang="tr-TR" dirty="0"/>
              <a:t> Soruyu cevaplamak için tek bir cümlenin yetmediği, metindeki birden fazla cümleden bilgi birleştirmeyi gerektiren okuma testidir.</a:t>
            </a:r>
          </a:p>
          <a:p>
            <a:r>
              <a:rPr lang="tr-TR" b="1" dirty="0" err="1"/>
              <a:t>ReCoRD</a:t>
            </a:r>
            <a:r>
              <a:rPr lang="tr-TR" b="1" dirty="0"/>
              <a:t>:</a:t>
            </a:r>
            <a:r>
              <a:rPr lang="tr-TR" dirty="0"/>
              <a:t> Haber metinleri içindeki boşlukları doldurmak için genel kültür ve sağduyu (</a:t>
            </a:r>
            <a:r>
              <a:rPr lang="tr-TR" dirty="0" err="1"/>
              <a:t>common</a:t>
            </a:r>
            <a:r>
              <a:rPr lang="tr-TR" dirty="0"/>
              <a:t> sense) kullanmayı gerektiren bir anlama testidir.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19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00636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dirty="0"/>
              <a:t>NLI (Natural Language </a:t>
            </a:r>
            <a:r>
              <a:rPr lang="tr-TR" b="1" dirty="0" err="1"/>
              <a:t>Inference</a:t>
            </a:r>
            <a:r>
              <a:rPr lang="tr-TR" b="1" dirty="0"/>
              <a:t>):</a:t>
            </a:r>
            <a:r>
              <a:rPr lang="tr-TR" dirty="0"/>
              <a:t> İki cümle arasındaki mantıksal ilişkiyi analiz ederek, birinci cümlenin ikinciyi doğrulayıp doğrulamadığını veya çelişip çelişmediğini belirleyen temel bir görevdir.</a:t>
            </a:r>
          </a:p>
          <a:p>
            <a:r>
              <a:rPr lang="tr-TR" b="1" dirty="0"/>
              <a:t>ANLI (</a:t>
            </a:r>
            <a:r>
              <a:rPr lang="tr-TR" b="1" dirty="0" err="1"/>
              <a:t>Adversarial</a:t>
            </a:r>
            <a:r>
              <a:rPr lang="tr-TR" b="1" dirty="0"/>
              <a:t> NLI):</a:t>
            </a:r>
            <a:r>
              <a:rPr lang="tr-TR" dirty="0"/>
              <a:t> Standart yapay zeka modellerinin açıklarını yakalamak ve onları yanıltmak amacıyla insanlar tarafından özel olarak üretilmiş, çok daha zorlayıcı ve şaşırtmacalı mantık sorularından oluşan bir test setidir.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302702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06485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dirty="0"/>
              <a:t>Burada model büyüdükçe insanların gerçek olup olmadığını anlamakta zorlandığını gösteriyor. 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21629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The Question:</a:t>
            </a:r>
            <a:r>
              <a:rPr lang="en-US" dirty="0"/>
              <a:t> "We asked: Did the model cheat? Did it see the exam questions before taking the test?"</a:t>
            </a:r>
          </a:p>
          <a:p>
            <a:r>
              <a:rPr lang="en-US" b="1" dirty="0"/>
              <a:t>The Method:</a:t>
            </a:r>
            <a:r>
              <a:rPr lang="en-US" dirty="0"/>
              <a:t> "To find out, we separated the test questions into 'Clean' (unseen) and 'Dirty' (potentially seen)."</a:t>
            </a:r>
          </a:p>
          <a:p>
            <a:r>
              <a:rPr lang="en-US" b="1" dirty="0"/>
              <a:t>The Result:</a:t>
            </a:r>
            <a:r>
              <a:rPr lang="en-US" dirty="0"/>
              <a:t> "The results were a relief. Even if the model had seen a question before, its score didn't jump significantly. This proves the model is actually </a:t>
            </a:r>
            <a:r>
              <a:rPr lang="en-US" i="1" dirty="0"/>
              <a:t>learning</a:t>
            </a:r>
            <a:r>
              <a:rPr lang="en-US" dirty="0"/>
              <a:t> logic, not just memorizing answers."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4981976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 Section 1 (Generation):</a:t>
            </a:r>
            <a:r>
              <a:rPr lang="en-US" dirty="0"/>
              <a:t> "It writes well, but it can hallucinate or lose the plot if the text gets too long. It's not a perfect writer yet."</a:t>
            </a:r>
          </a:p>
          <a:p>
            <a:r>
              <a:rPr lang="en-US" b="1" dirty="0"/>
              <a:t>On Section 2 (Tasks):</a:t>
            </a:r>
            <a:r>
              <a:rPr lang="en-US" dirty="0"/>
              <a:t> "It fails at things that seem simple to us, like basic physics or comparing the meaning of words in tricky contexts."</a:t>
            </a:r>
          </a:p>
          <a:p>
            <a:r>
              <a:rPr lang="en-US" b="1" dirty="0"/>
              <a:t>On Section 3 (Architecture):</a:t>
            </a:r>
            <a:r>
              <a:rPr lang="en-US" dirty="0"/>
              <a:t> "This is a technical limit. GPT-3 reads like a human (left to right). Models like BERT read the whole sentence at once (Bidirectional). That makes BERT better at 'filling in the blanks', while GPT-3 is better at writing new text."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760608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tr-TR" dirty="0"/>
            </a:br>
            <a:r>
              <a:rPr lang="en-US" b="1" dirty="0"/>
              <a:t>Grounding:</a:t>
            </a:r>
            <a:r>
              <a:rPr lang="en-US" dirty="0"/>
              <a:t> (</a:t>
            </a:r>
            <a:r>
              <a:rPr lang="en-US" dirty="0" err="1"/>
              <a:t>Temellendirme</a:t>
            </a:r>
            <a:r>
              <a:rPr lang="en-US" dirty="0"/>
              <a:t>) Connecting words to real-world physical experiences/objects.</a:t>
            </a:r>
          </a:p>
          <a:p>
            <a:r>
              <a:rPr lang="en-US" b="1" dirty="0"/>
              <a:t>Sample Efficiency:</a:t>
            </a:r>
            <a:r>
              <a:rPr lang="en-US" dirty="0"/>
              <a:t> (</a:t>
            </a:r>
            <a:r>
              <a:rPr lang="en-US" dirty="0" err="1"/>
              <a:t>Örneklem</a:t>
            </a:r>
            <a:r>
              <a:rPr lang="en-US" dirty="0"/>
              <a:t> </a:t>
            </a:r>
            <a:r>
              <a:rPr lang="en-US" dirty="0" err="1"/>
              <a:t>verimliliği</a:t>
            </a:r>
            <a:r>
              <a:rPr lang="en-US" dirty="0"/>
              <a:t>) How much data you need to learn a concept.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52764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 Misuse:</a:t>
            </a:r>
            <a:r>
              <a:rPr lang="en-US" dirty="0"/>
              <a:t> "Before GPT-3, scammers often had bad grammar. Now, GPT-3 removes that barrier. It makes phishing cheap and high-quality."</a:t>
            </a:r>
          </a:p>
          <a:p>
            <a:r>
              <a:rPr lang="en-US" b="1" dirty="0"/>
              <a:t>On Bias:</a:t>
            </a:r>
            <a:r>
              <a:rPr lang="en-US" dirty="0"/>
              <a:t> "The model is like a mirror of the internet. If the internet says doctors are usually men, the model says the same. In the tests, 83% of jobs were biased towards men."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190784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Opening:</a:t>
            </a:r>
            <a:r>
              <a:rPr lang="en-US" dirty="0"/>
              <a:t> "The results on bias were quite revealing. Since GPT-3 reads the internet, it learns the internet’s </a:t>
            </a:r>
            <a:r>
              <a:rPr lang="tr-TR" dirty="0" err="1"/>
              <a:t>society</a:t>
            </a:r>
            <a:r>
              <a:rPr lang="en-US" dirty="0"/>
              <a:t>."</a:t>
            </a:r>
          </a:p>
          <a:p>
            <a:r>
              <a:rPr lang="en-US" b="1" dirty="0"/>
              <a:t>On Race:</a:t>
            </a:r>
            <a:r>
              <a:rPr lang="en-US" dirty="0"/>
              <a:t> "For example, the word 'Asian' usually leads to positive words, while 'Black' leads to negative ones. This isn't because the AI is racist; it's because the AI read history books and news about slavery and racism, and it learned those negative associations."</a:t>
            </a:r>
          </a:p>
          <a:p>
            <a:r>
              <a:rPr lang="en-US" b="1" dirty="0"/>
              <a:t>On Religion:</a:t>
            </a:r>
            <a:r>
              <a:rPr lang="en-US" dirty="0"/>
              <a:t> "We see the same problem with religion. Words like 'Islam' trigger words like 'terrorism' because they appear together so often in news reports on the web."</a:t>
            </a:r>
          </a:p>
          <a:p>
            <a:r>
              <a:rPr lang="en-US" b="1" dirty="0"/>
              <a:t>Conclusion:</a:t>
            </a:r>
            <a:r>
              <a:rPr lang="en-US" dirty="0"/>
              <a:t> "The 175B model is slightly better at handling this than small models, but it is far from perfect.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127329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On Future:</a:t>
            </a:r>
            <a:r>
              <a:rPr lang="en-US" dirty="0"/>
              <a:t> "We are only looking at the tip of the iceberg. We ignore ageism or classism. Also, math alone can't fix this; we need sociologists and ethicists involved."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946622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"In short, the researchers are saying: 'We used the simplest architecture (autoregressive). If we had added advanced techniques like BERT’s bidirectional reading or T5 to this scale, the results would likely be even crazier.' This is a big hint for GPT-4 and beyond."</a:t>
            </a:r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98602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A33D2C-8C30-440A-A811-2F0986E26A5B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108686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8881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25569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68376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83710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1079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2576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92089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6182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8912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şlık ve Resim Yazıs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2610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sim Yazılı Alın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2336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59327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ıntı İsim Kart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50196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ğru veya Yanlı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8293906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921366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706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tr-T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05757A-9553-4FE4-80D3-A2DF4216D727}" type="datetimeFigureOut">
              <a:rPr lang="tr-TR" smtClean="0"/>
              <a:t>30.11.2025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04FD3ED-643B-418A-8406-5366D9B7808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5082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05ACF99-A92A-6A9D-5192-5AA2D4709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9678988" cy="3673474"/>
          </a:xfrm>
        </p:spPr>
        <p:txBody>
          <a:bodyPr>
            <a:normAutofit/>
          </a:bodyPr>
          <a:lstStyle/>
          <a:p>
            <a:r>
              <a:rPr lang="tr-TR" sz="6000" dirty="0">
                <a:solidFill>
                  <a:schemeClr val="tx2"/>
                </a:solidFill>
              </a:rPr>
              <a:t>CENG543 RESEARCH PRESENTATION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1C09047-C16C-6EC1-4879-F4BE4CB7E7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83807" y="4532451"/>
            <a:ext cx="7005742" cy="114300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>
                    <a:alpha val="80000"/>
                  </a:schemeClr>
                </a:solidFill>
              </a:rPr>
              <a:t>Language Models are Few-Shot Learners</a:t>
            </a:r>
            <a:br>
              <a:rPr lang="tr-TR" dirty="0">
                <a:solidFill>
                  <a:schemeClr val="tx1">
                    <a:alpha val="80000"/>
                  </a:schemeClr>
                </a:solidFill>
              </a:rPr>
            </a:br>
            <a:r>
              <a:rPr lang="tr-TR" dirty="0">
                <a:solidFill>
                  <a:schemeClr val="tx1">
                    <a:alpha val="80000"/>
                  </a:schemeClr>
                </a:solidFill>
              </a:rPr>
              <a:t>Hüseyin Talha Uysal - 290201027</a:t>
            </a:r>
          </a:p>
        </p:txBody>
      </p:sp>
    </p:spTree>
    <p:extLst>
      <p:ext uri="{BB962C8B-B14F-4D97-AF65-F5344CB8AC3E}">
        <p14:creationId xmlns:p14="http://schemas.microsoft.com/office/powerpoint/2010/main" val="2384209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2E8A820-0C58-E70C-80D0-8FAB3E23E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115" y="533162"/>
            <a:ext cx="8534400" cy="1507067"/>
          </a:xfrm>
        </p:spPr>
        <p:txBody>
          <a:bodyPr/>
          <a:lstStyle/>
          <a:p>
            <a:r>
              <a:rPr lang="tr-TR" dirty="0" err="1"/>
              <a:t>Abstract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5B9D56A-3B88-538F-A9A6-C081D4D8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9964" y="1689410"/>
            <a:ext cx="9437707" cy="5168590"/>
          </a:xfrm>
        </p:spPr>
        <p:txBody>
          <a:bodyPr>
            <a:normAutofit/>
          </a:bodyPr>
          <a:lstStyle/>
          <a:p>
            <a:r>
              <a:rPr lang="en-US" b="1" dirty="0"/>
              <a:t>GPT-3: Language Models are Few-Shot Learners</a:t>
            </a:r>
            <a:endParaRPr lang="en-US" dirty="0"/>
          </a:p>
          <a:p>
            <a:r>
              <a:rPr lang="en-US" dirty="0"/>
              <a:t>Unlike traditional models that require extensive </a:t>
            </a:r>
            <a:r>
              <a:rPr lang="en-US" b="1" dirty="0"/>
              <a:t>fine-tuning</a:t>
            </a:r>
            <a:r>
              <a:rPr lang="en-US" dirty="0"/>
              <a:t>, humans learn from just a few examples.</a:t>
            </a:r>
          </a:p>
          <a:p>
            <a:r>
              <a:rPr lang="en-US" dirty="0"/>
              <a:t>GPT-3 (175 billion parameters) bridges this gap through massive scaling.</a:t>
            </a:r>
          </a:p>
          <a:p>
            <a:r>
              <a:rPr lang="en-US" dirty="0"/>
              <a:t>It performs </a:t>
            </a:r>
            <a:r>
              <a:rPr lang="en-US" b="1" dirty="0"/>
              <a:t>"Few-Shot" learning</a:t>
            </a:r>
            <a:r>
              <a:rPr lang="tr-TR" b="1" dirty="0"/>
              <a:t> </a:t>
            </a:r>
            <a:r>
              <a:rPr lang="en-US" dirty="0"/>
              <a:t>solving tasks with just a prompt and examples, no gradient updates required.</a:t>
            </a:r>
          </a:p>
          <a:p>
            <a:r>
              <a:rPr lang="en-US" dirty="0"/>
              <a:t>Excels in translation, Q&amp;A, and reasoning; generates news articles indistinguishable from human writing.</a:t>
            </a:r>
          </a:p>
          <a:p>
            <a:r>
              <a:rPr lang="en-US" b="1" dirty="0"/>
              <a:t>Limitations &amp; Risks:</a:t>
            </a:r>
            <a:endParaRPr lang="en-US" dirty="0"/>
          </a:p>
          <a:p>
            <a:pPr lvl="1"/>
            <a:r>
              <a:rPr lang="en-US" dirty="0"/>
              <a:t>Struggles with highly specific datasets and common sense physics.</a:t>
            </a:r>
          </a:p>
          <a:p>
            <a:pPr lvl="1"/>
            <a:r>
              <a:rPr lang="en-US" dirty="0"/>
              <a:t>Raises concerns regarding bias, misinformation, and societal impact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61978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ED54FE4-242F-BF85-A0E2-274037EF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8016" y="595923"/>
            <a:ext cx="8534400" cy="1507067"/>
          </a:xfrm>
        </p:spPr>
        <p:txBody>
          <a:bodyPr/>
          <a:lstStyle/>
          <a:p>
            <a:r>
              <a:rPr lang="tr-TR" dirty="0"/>
              <a:t>Problem Definition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2FB19F-7F67-D442-CBA0-86762E95CD9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4246" y="1638503"/>
            <a:ext cx="5629866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Fine-Tuning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Bottleneck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Evolution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NLP: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Word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RNNs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Transformers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common</a:t>
            </a:r>
            <a:r>
              <a:rPr kumimoji="0" lang="tr-TR" altLang="tr-T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flaw</a:t>
            </a:r>
            <a:r>
              <a:rPr kumimoji="0" lang="tr-TR" altLang="tr-T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step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still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required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task-specific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fine-tuning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Major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Problems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Fine-Tuning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Creating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large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labeled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datasets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every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single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task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translation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sentiment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reasoning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 is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expensive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Fine-tuned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overfit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their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narrow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distribution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 They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often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fail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facing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Out</a:t>
            </a:r>
            <a:r>
              <a:rPr kumimoji="0" lang="tr-TR" altLang="tr-TR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-of-Distribution (OOD) 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41FF955-D097-B202-EF49-48AFE92A6BCC}"/>
              </a:ext>
            </a:extLst>
          </p:cNvPr>
          <p:cNvSpPr txBox="1"/>
          <p:nvPr/>
        </p:nvSpPr>
        <p:spPr>
          <a:xfrm>
            <a:off x="6082666" y="1638503"/>
            <a:ext cx="6109334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Meta-Learning &amp; In-Context Learning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The Approach: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Instead of updating weights for every task, GPT-3 uses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"In-Context Learning."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How it Works: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During massive pre-training, the model develops a broad set of skills and pattern recognition abilities.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At </a:t>
            </a: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inference time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it uses these existing skills to solve new tasks based on the prompt alone.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Calibri" panose="020F0502020204030204" pitchFamily="34" charset="0"/>
                <a:cs typeface="Calibri" panose="020F0502020204030204" pitchFamily="34" charset="0"/>
              </a:rPr>
              <a:t>The Concept:</a:t>
            </a:r>
            <a:endParaRPr lang="en-US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The model essentially "learns how to learn" during its pre-training phase.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i="1" dirty="0"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No gradient updates or fine-tuning steps are needed for new tasks.</a:t>
            </a:r>
          </a:p>
        </p:txBody>
      </p:sp>
    </p:spTree>
    <p:extLst>
      <p:ext uri="{BB962C8B-B14F-4D97-AF65-F5344CB8AC3E}">
        <p14:creationId xmlns:p14="http://schemas.microsoft.com/office/powerpoint/2010/main" val="2303225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FCEE88C-3095-EBC5-A391-B212449CE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505" y="615441"/>
            <a:ext cx="8534400" cy="1507067"/>
          </a:xfrm>
        </p:spPr>
        <p:txBody>
          <a:bodyPr/>
          <a:lstStyle/>
          <a:p>
            <a:r>
              <a:rPr lang="tr-TR" dirty="0"/>
              <a:t>WHAT IS FEW-SHOT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A9E332-98AC-1C56-98CE-AFCEEF9C1A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3446" y="1780317"/>
            <a:ext cx="4951142" cy="370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Traditional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AI (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Fine-Tuning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Requires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thousands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learn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specific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task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</a:t>
            </a:r>
            <a:r>
              <a:rPr kumimoji="0" lang="tr-TR" altLang="tr-T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learn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Sentiment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Analysis,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you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must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10,000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labeled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sentences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GPT-3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Approach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Few-Shot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 is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massive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pre-trained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already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knows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"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patterns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required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new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tasks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You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only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need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provide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2–3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shots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 in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prompt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guide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3420C1B0-3E0F-28D3-5F47-FA9425647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7413" y="1780317"/>
            <a:ext cx="5746595" cy="43242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Old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Way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Fine-Tuning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):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Provide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dataset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of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200,000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sentence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pairs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Retrain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model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for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hours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/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days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Few-Shot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Way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(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In-Context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Learning):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You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simply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provide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text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prompt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with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few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examples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Input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Prompt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Translate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English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Turkish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"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Hello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" -&gt; "Merhaba"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"How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are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you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?" -&gt; "Nasılsın?"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Task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"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Where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are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you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going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?"  -&gt;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[Model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Google Sans Text"/>
              </a:rPr>
              <a:t>Generates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Google Sans Text"/>
              </a:rPr>
              <a:t>: "Nereye gidiyorsun?"]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120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esim 8">
            <a:extLst>
              <a:ext uri="{FF2B5EF4-FFF2-40B4-BE49-F238E27FC236}">
                <a16:creationId xmlns:a16="http://schemas.microsoft.com/office/drawing/2014/main" id="{91ECD2EF-6DD0-0310-B8BF-52CBF7CBD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39" y="0"/>
            <a:ext cx="8794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2479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5D7F8130-9E25-32CA-C19A-D8D1859D6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858" y="335665"/>
            <a:ext cx="10989631" cy="593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79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AC11ECE-70FD-5B7E-F1B1-9C157F4988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9519" y="0"/>
            <a:ext cx="10532962" cy="6711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404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76C8EC-CD58-A6E4-BA93-2504DC3EB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671" y="1122883"/>
            <a:ext cx="8534400" cy="3615267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chemeClr val="tx1"/>
                </a:solidFill>
              </a:rPr>
              <a:t>Emergent Capabilities (Reasoning &amp; Writing)</a:t>
            </a:r>
          </a:p>
          <a:p>
            <a:pPr marL="0" indent="0">
              <a:buNone/>
            </a:pPr>
            <a:r>
              <a:rPr lang="tr-TR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The model can solve tasks it wasn't explicitly trained for, simply from context: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Arithmetic &amp; Logic puzzles.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Word unscrambling.</a:t>
            </a:r>
          </a:p>
          <a:p>
            <a:pPr lvl="1"/>
            <a:r>
              <a:rPr lang="en-US" sz="1800" dirty="0">
                <a:solidFill>
                  <a:schemeClr val="tx1"/>
                </a:solidFill>
              </a:rPr>
              <a:t>Using novel words in sentences correctly.</a:t>
            </a:r>
          </a:p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8BB6666D-9F08-8049-4F92-6FF8E4C06FBE}"/>
              </a:ext>
            </a:extLst>
          </p:cNvPr>
          <p:cNvSpPr txBox="1"/>
          <p:nvPr/>
        </p:nvSpPr>
        <p:spPr>
          <a:xfrm>
            <a:off x="2893671" y="3756180"/>
            <a:ext cx="7580112" cy="2459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tr-TR" sz="2000" b="1" dirty="0" err="1"/>
              <a:t>Current</a:t>
            </a:r>
            <a:r>
              <a:rPr lang="tr-TR" sz="2000" b="1" dirty="0"/>
              <a:t> </a:t>
            </a:r>
            <a:r>
              <a:rPr lang="tr-TR" sz="2000" b="1" dirty="0" err="1"/>
              <a:t>Limitations</a:t>
            </a:r>
            <a:endParaRPr lang="tr-TR" sz="2000" b="1" dirty="0"/>
          </a:p>
          <a:p>
            <a:pPr marL="742950" lvl="1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tr-TR" dirty="0"/>
              <a:t> </a:t>
            </a:r>
            <a:r>
              <a:rPr lang="tr-TR" dirty="0" err="1"/>
              <a:t>Performance</a:t>
            </a:r>
            <a:r>
              <a:rPr lang="tr-TR" dirty="0"/>
              <a:t> </a:t>
            </a:r>
            <a:r>
              <a:rPr lang="tr-TR" dirty="0" err="1"/>
              <a:t>lags</a:t>
            </a:r>
            <a:r>
              <a:rPr lang="tr-TR" dirty="0"/>
              <a:t> on </a:t>
            </a:r>
            <a:r>
              <a:rPr lang="tr-TR" dirty="0" err="1"/>
              <a:t>complex</a:t>
            </a:r>
            <a:r>
              <a:rPr lang="tr-TR" dirty="0"/>
              <a:t> </a:t>
            </a:r>
            <a:r>
              <a:rPr lang="tr-TR" dirty="0" err="1"/>
              <a:t>reading</a:t>
            </a:r>
            <a:r>
              <a:rPr lang="tr-TR" dirty="0"/>
              <a:t> </a:t>
            </a:r>
            <a:r>
              <a:rPr lang="tr-TR" dirty="0" err="1"/>
              <a:t>comprehension</a:t>
            </a:r>
            <a:r>
              <a:rPr lang="tr-TR" dirty="0"/>
              <a:t> </a:t>
            </a:r>
            <a:r>
              <a:rPr lang="tr-TR" dirty="0" err="1"/>
              <a:t>datasets</a:t>
            </a:r>
            <a:r>
              <a:rPr lang="tr-TR" dirty="0"/>
              <a:t> </a:t>
            </a:r>
            <a:r>
              <a:rPr lang="tr-TR" dirty="0" err="1"/>
              <a:t>like</a:t>
            </a:r>
            <a:r>
              <a:rPr lang="tr-TR" dirty="0"/>
              <a:t> RACE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QuAC</a:t>
            </a:r>
            <a:r>
              <a:rPr lang="tr-TR" dirty="0"/>
              <a:t>.</a:t>
            </a:r>
          </a:p>
          <a:p>
            <a:pPr marL="742950" lvl="1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tr-TR" dirty="0"/>
              <a:t> </a:t>
            </a:r>
            <a:r>
              <a:rPr lang="tr-TR" dirty="0" err="1"/>
              <a:t>Inherits</a:t>
            </a:r>
            <a:r>
              <a:rPr lang="tr-TR" dirty="0"/>
              <a:t> </a:t>
            </a:r>
            <a:r>
              <a:rPr lang="tr-TR" dirty="0" err="1"/>
              <a:t>stereotypes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biases</a:t>
            </a:r>
            <a:r>
              <a:rPr lang="tr-TR" dirty="0"/>
              <a:t> </a:t>
            </a:r>
            <a:r>
              <a:rPr lang="tr-TR" dirty="0" err="1"/>
              <a:t>present</a:t>
            </a:r>
            <a:r>
              <a:rPr lang="tr-TR" dirty="0"/>
              <a:t> in </a:t>
            </a:r>
            <a:r>
              <a:rPr lang="tr-TR" dirty="0" err="1"/>
              <a:t>the</a:t>
            </a:r>
            <a:r>
              <a:rPr lang="tr-TR" dirty="0"/>
              <a:t> web-</a:t>
            </a:r>
            <a:r>
              <a:rPr lang="tr-TR" dirty="0" err="1"/>
              <a:t>crawled</a:t>
            </a:r>
            <a:r>
              <a:rPr lang="tr-TR" dirty="0"/>
              <a:t> </a:t>
            </a:r>
            <a:r>
              <a:rPr lang="tr-TR" dirty="0" err="1"/>
              <a:t>training</a:t>
            </a:r>
            <a:r>
              <a:rPr lang="tr-TR" dirty="0"/>
              <a:t> data.</a:t>
            </a:r>
          </a:p>
          <a:p>
            <a:pPr marL="742950" lvl="1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tr-TR" dirty="0" err="1"/>
              <a:t>Still</a:t>
            </a:r>
            <a:r>
              <a:rPr lang="tr-TR" dirty="0"/>
              <a:t> </a:t>
            </a:r>
            <a:r>
              <a:rPr lang="tr-TR" dirty="0" err="1"/>
              <a:t>prone</a:t>
            </a:r>
            <a:r>
              <a:rPr lang="tr-TR" dirty="0"/>
              <a:t> </a:t>
            </a:r>
            <a:r>
              <a:rPr lang="tr-TR" dirty="0" err="1"/>
              <a:t>to</a:t>
            </a:r>
            <a:r>
              <a:rPr lang="tr-TR" dirty="0"/>
              <a:t> </a:t>
            </a:r>
            <a:r>
              <a:rPr lang="tr-TR" dirty="0" err="1"/>
              <a:t>occasional</a:t>
            </a:r>
            <a:r>
              <a:rPr lang="tr-TR" dirty="0"/>
              <a:t> "</a:t>
            </a:r>
            <a:r>
              <a:rPr lang="tr-TR" dirty="0" err="1"/>
              <a:t>common</a:t>
            </a:r>
            <a:r>
              <a:rPr lang="tr-TR" dirty="0"/>
              <a:t> sense" </a:t>
            </a:r>
            <a:r>
              <a:rPr lang="tr-TR" dirty="0" err="1"/>
              <a:t>errors</a:t>
            </a:r>
            <a:r>
              <a:rPr lang="tr-TR" dirty="0"/>
              <a:t> </a:t>
            </a:r>
            <a:r>
              <a:rPr lang="tr-TR" dirty="0" err="1"/>
              <a:t>and</a:t>
            </a:r>
            <a:r>
              <a:rPr lang="tr-TR" dirty="0"/>
              <a:t> </a:t>
            </a:r>
            <a:r>
              <a:rPr lang="tr-TR" dirty="0" err="1"/>
              <a:t>hallucinations</a:t>
            </a:r>
            <a:r>
              <a:rPr lang="tr-T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66194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39F10CC-EF8E-EBF8-0A10-681ADAF2C2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85041" y="1145946"/>
            <a:ext cx="752223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Fine-tuning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Training +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lots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+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weight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update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Few-shot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10–100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examples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in-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contex</a:t>
            </a:r>
            <a:r>
              <a:rPr lang="tr-TR" altLang="tr-TR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tr-TR" altLang="tr-TR" sz="2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tr-TR" altLang="tr-TR" sz="2400" dirty="0" err="1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learning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One-shot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1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Zero-</a:t>
            </a:r>
            <a:r>
              <a:rPr kumimoji="0" lang="tr-TR" altLang="tr-TR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shot</a:t>
            </a:r>
            <a:r>
              <a:rPr kumimoji="0" lang="tr-TR" altLang="tr-T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→ 0 </a:t>
            </a:r>
            <a:r>
              <a:rPr kumimoji="0" lang="tr-TR" altLang="tr-TR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endParaRPr kumimoji="0" lang="tr-TR" altLang="tr-TR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E1A7B15-EF85-7DCD-65A8-BB290F8F145B}"/>
              </a:ext>
            </a:extLst>
          </p:cNvPr>
          <p:cNvSpPr txBox="1"/>
          <p:nvPr/>
        </p:nvSpPr>
        <p:spPr>
          <a:xfrm>
            <a:off x="3585041" y="3234722"/>
            <a:ext cx="6468942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GPT-3: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sz="2400" dirty="0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sz="2400" dirty="0" err="1">
                <a:latin typeface="Calibri" panose="020F0502020204030204" pitchFamily="34" charset="0"/>
                <a:cs typeface="Calibri" panose="020F0502020204030204" pitchFamily="34" charset="0"/>
              </a:rPr>
              <a:t>xcels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at Few-shot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Powerful enough to approach fine-tuning performance on most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Reduces time, cost, and data requirements.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Therefore, researchers suggest: ➡ "Few-shot might be the most logical comparison."</a:t>
            </a:r>
          </a:p>
          <a:p>
            <a:pPr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7420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0925427-F081-717F-1F07-D33EF541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8613" y="621388"/>
            <a:ext cx="8534400" cy="1507067"/>
          </a:xfrm>
        </p:spPr>
        <p:txBody>
          <a:bodyPr/>
          <a:lstStyle/>
          <a:p>
            <a:r>
              <a:rPr lang="tr-TR" dirty="0"/>
              <a:t>Training of gpt3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9F0ECEE2-0DCC-8854-A39D-C8418361AC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89213" y="2689496"/>
            <a:ext cx="9054920" cy="2708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059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16E3BBE-ED3F-2768-E1EC-670A572C1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485" y="659757"/>
            <a:ext cx="8534400" cy="1507067"/>
          </a:xfrm>
        </p:spPr>
        <p:txBody>
          <a:bodyPr/>
          <a:lstStyle/>
          <a:p>
            <a:r>
              <a:rPr lang="tr-TR" dirty="0" err="1"/>
              <a:t>Dataset</a:t>
            </a:r>
            <a:r>
              <a:rPr lang="tr-TR" dirty="0"/>
              <a:t>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D52D13B-9703-946C-AE91-55675FB16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0403" y="1507067"/>
            <a:ext cx="8841396" cy="518545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b="1" dirty="0"/>
              <a:t>Overview: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Massive Dataset:</a:t>
            </a:r>
            <a:r>
              <a:rPr lang="en-US" dirty="0"/>
              <a:t> The model is trained on a mixture of approximately </a:t>
            </a:r>
            <a:r>
              <a:rPr lang="en-US" b="1" dirty="0"/>
              <a:t>500 billion tokens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1. Primary Source: Common Crawl (Raw Web Data)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410 Billion tokens (Data from 2016–2019).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Challenge:</a:t>
            </a:r>
            <a:r>
              <a:rPr lang="en-US" dirty="0"/>
              <a:t> Raw Common Crawl data is very "noisy."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The Solution (Processing Steps):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Filtering:</a:t>
            </a:r>
            <a:r>
              <a:rPr lang="en-US" dirty="0"/>
              <a:t> Removing noise.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tr-TR" b="1" dirty="0"/>
              <a:t> </a:t>
            </a:r>
            <a:r>
              <a:rPr lang="en-US" b="1" dirty="0"/>
              <a:t>Quality Scoring:</a:t>
            </a:r>
            <a:r>
              <a:rPr lang="en-US" dirty="0"/>
              <a:t> Ranking data based on quality.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Discarding:</a:t>
            </a:r>
            <a:r>
              <a:rPr lang="en-US" dirty="0"/>
              <a:t> Dropping low-quality content.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b="1" dirty="0"/>
              <a:t>Deduplication:</a:t>
            </a:r>
            <a:r>
              <a:rPr lang="en-US" dirty="0"/>
              <a:t> Removing duplicate text.</a:t>
            </a:r>
          </a:p>
          <a:p>
            <a:pPr>
              <a:buNone/>
            </a:pPr>
            <a:r>
              <a:rPr lang="en-US" b="1" dirty="0"/>
              <a:t>2. High-Quality Data Sources</a:t>
            </a:r>
          </a:p>
          <a:p>
            <a:pPr>
              <a:buNone/>
            </a:pPr>
            <a:r>
              <a:rPr lang="en-US" dirty="0"/>
              <a:t>To improve performance, they added </a:t>
            </a:r>
            <a:r>
              <a:rPr lang="tr-TR" dirty="0" err="1"/>
              <a:t>quality</a:t>
            </a:r>
            <a:r>
              <a:rPr lang="tr-TR" dirty="0"/>
              <a:t> </a:t>
            </a:r>
            <a:r>
              <a:rPr lang="en-US" dirty="0"/>
              <a:t>datasets: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WebText2</a:t>
            </a:r>
            <a:r>
              <a:rPr lang="en-US" dirty="0"/>
              <a:t> (OpenAI’s custom high-quality web dataset).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Books1 + Books2</a:t>
            </a:r>
            <a:r>
              <a:rPr lang="en-US" dirty="0"/>
              <a:t> (Book corpora).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English Wikipedia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Training Strategy:</a:t>
            </a:r>
            <a:r>
              <a:rPr lang="en-US" dirty="0"/>
              <a:t>  </a:t>
            </a:r>
            <a:r>
              <a:rPr lang="en-US" b="1" dirty="0"/>
              <a:t>Higher Weighting:</a:t>
            </a:r>
            <a:r>
              <a:rPr lang="en-US" dirty="0"/>
              <a:t> These high-quality sources are </a:t>
            </a:r>
            <a:r>
              <a:rPr lang="en-US" b="1" dirty="0"/>
              <a:t>sampled more frequently</a:t>
            </a:r>
            <a:r>
              <a:rPr lang="en-US" dirty="0"/>
              <a:t> during training than the Common Crawl data.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134804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CC38677-0CFD-01FB-8ABF-133E5B290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6008" y="601884"/>
            <a:ext cx="8534400" cy="1507067"/>
          </a:xfrm>
        </p:spPr>
        <p:txBody>
          <a:bodyPr/>
          <a:lstStyle/>
          <a:p>
            <a:r>
              <a:rPr lang="tr-TR" altLang="tr-TR" b="1" cap="none" dirty="0">
                <a:ln>
                  <a:noFill/>
                </a:ln>
                <a:latin typeface="Google Sans Text"/>
              </a:rPr>
              <a:t>Evaluation </a:t>
            </a:r>
            <a:r>
              <a:rPr lang="tr-TR" altLang="tr-TR" b="1" cap="none" dirty="0" err="1">
                <a:ln>
                  <a:noFill/>
                </a:ln>
                <a:latin typeface="Google Sans Text"/>
              </a:rPr>
              <a:t>Methodology</a:t>
            </a:r>
            <a:br>
              <a:rPr lang="tr-TR" altLang="tr-TR" cap="none" dirty="0">
                <a:ln>
                  <a:noFill/>
                </a:ln>
              </a:rPr>
            </a:b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C7EB5CB-AB2E-A679-ED5B-6B43D3292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54891" y="1025634"/>
            <a:ext cx="8615372" cy="58323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1.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Few-Shot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Setup &amp;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Context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Method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lang="tr-TR" altLang="tr-TR" sz="1800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 is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provided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randomly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drawn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from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training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set).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Prompt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Format: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1 - &gt;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2 </a:t>
            </a:r>
            <a:r>
              <a:rPr lang="tr-TR" altLang="tr-TR" sz="1800" dirty="0">
                <a:solidFill>
                  <a:schemeClr val="tx1"/>
                </a:solidFill>
                <a:latin typeface="Google Sans Text"/>
              </a:rPr>
              <a:t>- &gt;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... </a:t>
            </a:r>
            <a:r>
              <a:rPr lang="tr-TR" altLang="tr-TR" sz="1800" dirty="0">
                <a:solidFill>
                  <a:schemeClr val="tx1"/>
                </a:solidFill>
                <a:latin typeface="Google Sans Text"/>
              </a:rPr>
              <a:t>- &gt;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Question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?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lang="tr-TR" altLang="tr-TR" sz="1800" dirty="0">
                <a:solidFill>
                  <a:schemeClr val="tx1"/>
                </a:solidFill>
                <a:latin typeface="Google Sans Text"/>
              </a:rPr>
              <a:t>- &gt; 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[Model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generates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Answer</a:t>
            </a:r>
            <a:r>
              <a:rPr kumimoji="0" lang="tr-TR" altLang="tr-T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"K"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Factor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K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ranges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from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0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100.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Limited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Context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Window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(2048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tokens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Zero-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Shot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K=0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Instruction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only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Few-Shot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many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examples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as fit in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window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2.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Scoring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Strategies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by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Task</a:t>
            </a:r>
            <a:endParaRPr kumimoji="0" lang="tr-TR" altLang="tr-T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Multiple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Choice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predicts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probability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of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each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option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Selection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based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on 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Per-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token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likelihood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Normalized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probability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Binary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Classification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Prompt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ends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Answer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True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Answer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False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model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selects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token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with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higher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probability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Free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-Form </a:t>
            </a:r>
            <a:r>
              <a:rPr kumimoji="0" lang="tr-TR" altLang="tr-TR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Generation</a:t>
            </a:r>
            <a:r>
              <a:rPr kumimoji="0" lang="tr-TR" altLang="tr-T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Beam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Search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Beam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width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4,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Length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penalty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alpha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= 0.6).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Metrics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BLEU,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Exact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Match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, F1.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728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1FBCECDB-7953-FD59-1818-88375DF873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6499" y="88073"/>
            <a:ext cx="6291942" cy="4066376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66EDEDE-7507-B4AF-475A-5F6DEAE269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2" y="88073"/>
            <a:ext cx="5347060" cy="1425292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64DC944C-7D9E-A5A9-335B-F0F15701CB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499" y="4199018"/>
            <a:ext cx="7867368" cy="2570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2165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61961C0-2E68-3833-C1F3-E2DD165AD2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974080" y="122195"/>
            <a:ext cx="5858693" cy="173543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5377FA5D-0B1D-2F1A-1387-2201A83730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07" y="0"/>
            <a:ext cx="5858693" cy="3715268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2AAB472-F818-DFFC-ADA7-FF8C2AC2EF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306" y="3744542"/>
            <a:ext cx="7117403" cy="3113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04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8EF09D5-7CD3-CE52-A576-9FA18BDEDA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7574280" cy="419947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C34E4C52-C65D-7E12-537B-2809B93E54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99475"/>
            <a:ext cx="11684306" cy="22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48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32CC0AB-441E-090A-C5F8-D93C23B2A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6810676" cy="436347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42F853D5-74E0-92F4-E17E-0CF990CD3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363479"/>
            <a:ext cx="10424559" cy="2289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8158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AD916475-3C64-8F61-1F36-6525A8755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95793" cy="481584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816D3F4D-3A80-C420-7BE5-0FD364CB60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912092"/>
            <a:ext cx="6970533" cy="1621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969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CFA4176-C3F1-7A1C-AF23-915A375C7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856966" y="-2"/>
            <a:ext cx="5318654" cy="1776209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D05B772-650A-8EB6-36E3-416D3CC8F1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6982799" cy="4344006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34FD72BA-6CD7-2C27-3C9D-808C2A6966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799" y="1776208"/>
            <a:ext cx="5192821" cy="494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73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0E66614C-C7AF-2F81-CF63-1AA7FCE924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7866529" cy="3614738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DA9DB7BB-F0A8-C650-A640-AB0C55F652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5038" y="117088"/>
            <a:ext cx="4436962" cy="1901632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D481C214-A4FD-4D08-6AE1-7AA4AE0F67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614738"/>
            <a:ext cx="10195179" cy="324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544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50B3D5D2-6D4F-6483-FCDB-963694B39F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5965903" cy="4241225"/>
          </a:xfrm>
          <a:prstGeom prst="rect">
            <a:avLst/>
          </a:prstGeom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6B003849-2B28-A0C3-416C-CDAD71CDFD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27990"/>
            <a:ext cx="10640910" cy="283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B4568BBF-8809-3776-A92B-F87C98A89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6028634" cy="3860858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472A7FCC-14C7-D161-D7EA-BD5BF317E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367" y="0"/>
            <a:ext cx="6028633" cy="3617919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D1B2D186-ECB5-A458-ECB6-146FB4111A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" y="3860858"/>
            <a:ext cx="6096001" cy="2997142"/>
          </a:xfrm>
          <a:prstGeom prst="rect">
            <a:avLst/>
          </a:prstGeom>
        </p:spPr>
      </p:pic>
      <p:pic>
        <p:nvPicPr>
          <p:cNvPr id="13" name="Resim 12">
            <a:extLst>
              <a:ext uri="{FF2B5EF4-FFF2-40B4-BE49-F238E27FC236}">
                <a16:creationId xmlns:a16="http://schemas.microsoft.com/office/drawing/2014/main" id="{892D934E-D7E0-0CD4-9369-D039196288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6645" y="4731492"/>
            <a:ext cx="6255355" cy="952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248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872B0EC7-F98D-DB09-277B-A3CE63A105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7615" y="110848"/>
            <a:ext cx="8090704" cy="663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08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6FE0AF2-9091-AC53-D806-ECC62E2EF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7458" y="662907"/>
            <a:ext cx="8534400" cy="1507067"/>
          </a:xfrm>
        </p:spPr>
        <p:txBody>
          <a:bodyPr/>
          <a:lstStyle/>
          <a:p>
            <a:r>
              <a:rPr lang="tr-TR" dirty="0"/>
              <a:t>DID THE MODEL CHEAT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FC547CE-56CB-DF05-DEAC-48AF355A8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6551" y="1826292"/>
            <a:ext cx="8534400" cy="361526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tr-TR" b="1" dirty="0"/>
              <a:t>T</a:t>
            </a:r>
            <a:r>
              <a:rPr lang="en-US" b="1" dirty="0"/>
              <a:t>he Concern:</a:t>
            </a:r>
            <a:r>
              <a:rPr lang="en-US" dirty="0"/>
              <a:t> Given the massive size of the training data (Common Crawl), there is a risk that some </a:t>
            </a:r>
            <a:r>
              <a:rPr lang="en-US" b="1" dirty="0"/>
              <a:t>Test Sets</a:t>
            </a:r>
            <a:r>
              <a:rPr lang="en-US" dirty="0"/>
              <a:t> (like </a:t>
            </a:r>
            <a:r>
              <a:rPr lang="en-US" dirty="0" err="1"/>
              <a:t>QuAC</a:t>
            </a:r>
            <a:r>
              <a:rPr lang="en-US" dirty="0"/>
              <a:t>) were accidentally included in the training.</a:t>
            </a:r>
          </a:p>
          <a:p>
            <a:r>
              <a:rPr lang="en-US" b="1" dirty="0"/>
              <a:t>The Analysis:</a:t>
            </a:r>
            <a:r>
              <a:rPr lang="en-US" dirty="0"/>
              <a:t> Researchers compared performance on two subsets to check for memorization:</a:t>
            </a:r>
          </a:p>
          <a:p>
            <a:r>
              <a:rPr lang="en-US" b="1" dirty="0"/>
              <a:t>"Clean" subset:</a:t>
            </a:r>
            <a:r>
              <a:rPr lang="en-US" dirty="0"/>
              <a:t> Examples confirmed </a:t>
            </a:r>
            <a:r>
              <a:rPr lang="en-US" b="1" dirty="0"/>
              <a:t>not</a:t>
            </a:r>
            <a:r>
              <a:rPr lang="en-US" dirty="0"/>
              <a:t> to be in the training data.</a:t>
            </a:r>
          </a:p>
          <a:p>
            <a:r>
              <a:rPr lang="en-US" b="1" dirty="0"/>
              <a:t>"Dirty" subset:</a:t>
            </a:r>
            <a:r>
              <a:rPr lang="en-US" dirty="0"/>
              <a:t> Examples that had similarities to the training data.</a:t>
            </a:r>
          </a:p>
          <a:p>
            <a:r>
              <a:rPr lang="en-US" b="1" dirty="0"/>
              <a:t>Key Findings (from Figure 4.2):</a:t>
            </a:r>
            <a:endParaRPr lang="en-US" dirty="0"/>
          </a:p>
          <a:p>
            <a:r>
              <a:rPr lang="en-US" b="1" dirty="0"/>
              <a:t> Most benchmarks are unaffected:</a:t>
            </a:r>
            <a:r>
              <a:rPr lang="en-US" dirty="0"/>
              <a:t> Performance on "clean" and "dirty" versions is nearly identical.</a:t>
            </a:r>
          </a:p>
          <a:p>
            <a:r>
              <a:rPr lang="en-US" b="1" dirty="0"/>
              <a:t> Minor Contamination:</a:t>
            </a:r>
            <a:r>
              <a:rPr lang="en-US" dirty="0"/>
              <a:t> Slight overlap was found in only a few tasks (e.g., </a:t>
            </a:r>
            <a:r>
              <a:rPr lang="en-US" b="1" dirty="0"/>
              <a:t>PIQA</a:t>
            </a:r>
            <a:r>
              <a:rPr lang="en-US" dirty="0"/>
              <a:t> and </a:t>
            </a:r>
            <a:r>
              <a:rPr lang="en-US" b="1" dirty="0"/>
              <a:t>Winograd</a:t>
            </a:r>
            <a:r>
              <a:rPr lang="en-US" dirty="0"/>
              <a:t>).</a:t>
            </a:r>
          </a:p>
          <a:p>
            <a:r>
              <a:rPr lang="en-US" b="1" dirty="0"/>
              <a:t> Negligible Impact:</a:t>
            </a:r>
            <a:r>
              <a:rPr lang="en-US" dirty="0"/>
              <a:t> Even in contaminated tasks, the performance gap is very small (</a:t>
            </a:r>
            <a:r>
              <a:rPr lang="en-US" b="1" dirty="0"/>
              <a:t>~2–4%</a:t>
            </a:r>
            <a:r>
              <a:rPr lang="en-US" dirty="0"/>
              <a:t>).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941448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650460-0CF0-8144-4953-59AE62369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660" y="-66380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/>
              <a:t>Limitations &amp; Weaknesses</a:t>
            </a:r>
            <a:br>
              <a:rPr lang="en-US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D2ECD9F-AB32-D989-EEE4-DC279BABD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3832" y="687153"/>
            <a:ext cx="11377915" cy="377704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Text Generation Issues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Despite its power, GPT-3 still exhibits non-human behaviors: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Tendency to repeat phrases or get stuck in loops.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Struggles to maintain a consistent narrative in </a:t>
            </a: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long passages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Occasionally produces sentences that are unrelated to the context.</a:t>
            </a:r>
          </a:p>
          <a:p>
            <a:pPr marL="0" indent="0">
              <a:buNone/>
            </a:pPr>
            <a:r>
              <a:rPr lang="en-US" sz="5600" i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Conclusion: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is impressive, but not yet fully at the human level.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Poor Performance on Specific Tasks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model struggles significantly (sometimes near random chance) with tasks requiring deep logic or comparison: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Common-Sense Physics: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(e.g., "If I put cheese in the fridge, will it melt?")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WIC (Word-in-Context):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Identifying if a word has the same meaning in two different sentences.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ANLI: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Adversarial Natural Language Inference.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Reading Comprehension: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Struggles with specific types of complex document analysis.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3. Architectural Constraints</a:t>
            </a:r>
          </a:p>
          <a:p>
            <a:pPr marL="0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fundamental design creates structural limits: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Unidirectional: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GPT-3 is an </a:t>
            </a: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Autoregressive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 (reads left-to-right only).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Disadvantage: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Unlike </a:t>
            </a: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Bidirectional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models (like BERT), it lacks context from "future" words.</a:t>
            </a:r>
          </a:p>
          <a:p>
            <a:pPr marL="0" indent="0">
              <a:buNone/>
            </a:pPr>
            <a:r>
              <a:rPr lang="en-US" sz="5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It underperforms in:</a:t>
            </a:r>
          </a:p>
          <a:p>
            <a:pPr marL="457200" lvl="1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Fill-in-the-blank tasks.</a:t>
            </a:r>
          </a:p>
          <a:p>
            <a:pPr marL="457200" lvl="1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Comparing two long texts directly.</a:t>
            </a:r>
          </a:p>
          <a:p>
            <a:pPr marL="457200" lvl="1" indent="0">
              <a:buNone/>
            </a:pPr>
            <a:r>
              <a:rPr lang="en-US" sz="56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Extracting short answers from long passages.</a:t>
            </a:r>
          </a:p>
          <a:p>
            <a:endParaRPr lang="tr-T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499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şlık 1">
            <a:extLst>
              <a:ext uri="{FF2B5EF4-FFF2-40B4-BE49-F238E27FC236}">
                <a16:creationId xmlns:a16="http://schemas.microsoft.com/office/drawing/2014/main" id="{5486068C-0DFF-F3FC-4469-84BE6BA2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5106" y="616526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/>
              <a:t>Limitations &amp; Weaknesses</a:t>
            </a:r>
            <a:br>
              <a:rPr lang="en-US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DDBDB8-0F07-CC10-6098-44354F30C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14355" y="2454743"/>
            <a:ext cx="8534400" cy="3615267"/>
          </a:xfrm>
        </p:spPr>
        <p:txBody>
          <a:bodyPr>
            <a:normAutofit/>
          </a:bodyPr>
          <a:lstStyle/>
          <a:p>
            <a:r>
              <a:rPr lang="en-US" sz="2000" b="1" dirty="0"/>
              <a:t>On Objective:</a:t>
            </a:r>
            <a:r>
              <a:rPr lang="en-US" sz="2000" dirty="0"/>
              <a:t> The model doesn't know what is important. It tries to predict the word 'the' with the same effort as the word 'nuclear’. </a:t>
            </a:r>
            <a:br>
              <a:rPr lang="tr-TR" sz="2000" dirty="0"/>
            </a:br>
            <a:r>
              <a:rPr lang="en-US" sz="2000" b="1" dirty="0"/>
              <a:t>On Efficiency:</a:t>
            </a:r>
            <a:r>
              <a:rPr lang="en-US" sz="2000" dirty="0"/>
              <a:t> A human child learns language with very little data. GPT-3 needed the whole internet. We need to make AI learn as efficiently as humans.</a:t>
            </a:r>
          </a:p>
          <a:p>
            <a:r>
              <a:rPr lang="en-US" sz="2000" b="1" dirty="0"/>
              <a:t>On Few-Shot:</a:t>
            </a:r>
            <a:r>
              <a:rPr lang="en-US" sz="2000" dirty="0"/>
              <a:t> This is the big philosophical question: Is GPT-3 actually intelligent in the moment? Or is it just really good at remembering patterns it saw 3 years ago? The paper suggests it's a bit of both.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674339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4AA2459-1246-5884-C144-19BFB497E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738" y="543742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/>
              <a:t>Broader Impacts: Risks &amp; Fairness</a:t>
            </a:r>
            <a:br>
              <a:rPr lang="en-US" b="1" dirty="0"/>
            </a:b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DD77CB-9FAB-9FED-7BFC-0758ED45C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190" y="1424598"/>
            <a:ext cx="8984507" cy="3615267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1. Misuse (Potential Risks)</a:t>
            </a:r>
          </a:p>
          <a:p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High-quality text generation lowers the barrier for malicious actors.</a:t>
            </a:r>
          </a:p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Threats:</a:t>
            </a:r>
            <a:endParaRPr lang="en-US" sz="6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Misinformation: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Automating fake news generation.</a:t>
            </a:r>
          </a:p>
          <a:p>
            <a:pPr lvl="1"/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Spam &amp; Phishing: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Creating high-quality, personalized fraudulent emails at scale.</a:t>
            </a:r>
          </a:p>
          <a:p>
            <a:pPr lvl="1"/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Social Engineering: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More convincing interactions for fraud.</a:t>
            </a:r>
          </a:p>
          <a:p>
            <a:pPr lvl="1"/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Fake Documents: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Generating academic papers or legal texts.</a:t>
            </a:r>
          </a:p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Threat Actors: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Currently benefits low-to-mid-level hackers the most. State-level actors (APTs) require more control than the model currently offers.</a:t>
            </a:r>
          </a:p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2. Fairness &amp; Bias</a:t>
            </a:r>
          </a:p>
          <a:p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Since GPT-3 is trained on internet data, it reflects societal biases (Gender, Race, Religion).</a:t>
            </a:r>
          </a:p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Gender Bias:</a:t>
            </a:r>
            <a:endParaRPr lang="en-US" sz="64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83%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of tested occupations were found to be male-biased.</a:t>
            </a:r>
          </a:p>
          <a:p>
            <a:pPr lvl="1"/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Stereotypes: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Women are associated with roles like "midwife" or "receptionist," while men are associated with authority/power.</a:t>
            </a:r>
          </a:p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Co-occurrence: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"Competent" prompts increase male bias.</a:t>
            </a:r>
          </a:p>
          <a:p>
            <a:r>
              <a:rPr lang="en-US" sz="6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Result:</a:t>
            </a:r>
            <a:r>
              <a:rPr lang="en-US" sz="64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Even the largest models (175B) retain significant biases.</a:t>
            </a:r>
          </a:p>
          <a:p>
            <a:endParaRPr lang="tr-T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5466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D8A2DE-E9C4-292C-8608-493E06230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761" y="609562"/>
            <a:ext cx="8534400" cy="1507067"/>
          </a:xfrm>
        </p:spPr>
        <p:txBody>
          <a:bodyPr>
            <a:normAutofit fontScale="90000"/>
          </a:bodyPr>
          <a:lstStyle/>
          <a:p>
            <a:r>
              <a:rPr lang="tr-TR" altLang="tr-TR" b="1" cap="none" dirty="0">
                <a:ln>
                  <a:noFill/>
                </a:ln>
                <a:latin typeface="Google Sans"/>
              </a:rPr>
              <a:t>General </a:t>
            </a:r>
            <a:r>
              <a:rPr lang="tr-TR" altLang="tr-TR" b="1" cap="none" dirty="0" err="1">
                <a:ln>
                  <a:noFill/>
                </a:ln>
                <a:latin typeface="Google Sans"/>
              </a:rPr>
              <a:t>Findings</a:t>
            </a:r>
            <a:r>
              <a:rPr lang="tr-TR" altLang="tr-TR" b="1" cap="none" dirty="0">
                <a:ln>
                  <a:noFill/>
                </a:ln>
                <a:latin typeface="Google Sans"/>
              </a:rPr>
              <a:t>: </a:t>
            </a:r>
            <a:r>
              <a:rPr lang="tr-TR" altLang="tr-TR" b="1" cap="none" dirty="0" err="1">
                <a:ln>
                  <a:noFill/>
                </a:ln>
                <a:latin typeface="Google Sans"/>
              </a:rPr>
              <a:t>Racial</a:t>
            </a:r>
            <a:r>
              <a:rPr lang="tr-TR" altLang="tr-TR" b="1" cap="none" dirty="0">
                <a:ln>
                  <a:noFill/>
                </a:ln>
                <a:latin typeface="Google Sans"/>
              </a:rPr>
              <a:t> &amp; </a:t>
            </a:r>
            <a:r>
              <a:rPr lang="tr-TR" altLang="tr-TR" b="1" cap="none" dirty="0" err="1">
                <a:ln>
                  <a:noFill/>
                </a:ln>
                <a:latin typeface="Google Sans"/>
              </a:rPr>
              <a:t>Religious</a:t>
            </a:r>
            <a:r>
              <a:rPr lang="tr-TR" altLang="tr-TR" b="1" cap="none" dirty="0">
                <a:ln>
                  <a:noFill/>
                </a:ln>
                <a:latin typeface="Google Sans"/>
              </a:rPr>
              <a:t> </a:t>
            </a:r>
            <a:r>
              <a:rPr lang="tr-TR" altLang="tr-TR" b="1" cap="none" dirty="0" err="1">
                <a:ln>
                  <a:noFill/>
                </a:ln>
                <a:latin typeface="Google Sans"/>
              </a:rPr>
              <a:t>Bias</a:t>
            </a:r>
            <a:r>
              <a:rPr lang="tr-TR" altLang="tr-TR" b="1" cap="none" dirty="0">
                <a:ln>
                  <a:noFill/>
                </a:ln>
                <a:latin typeface="Google Sans"/>
              </a:rPr>
              <a:t> Profile</a:t>
            </a:r>
            <a:br>
              <a:rPr lang="tr-TR" altLang="tr-TR" b="1" cap="none" dirty="0">
                <a:ln>
                  <a:noFill/>
                </a:ln>
                <a:latin typeface="Google Sans"/>
              </a:rPr>
            </a:br>
            <a:endParaRPr lang="tr-TR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A13914-9A25-A4E3-1472-F40BB73FB4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80172" y="1754514"/>
            <a:ext cx="8864902" cy="4878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A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Mirror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Internet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model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functions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as a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reflection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data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internet).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absorbs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reproduces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historical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political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found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corpus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Racial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Analysis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Asian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Sentiment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Consistently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leans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positive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reflecting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stereotypes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such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as "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hardworking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smart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"Black"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Sentiment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Consistently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leans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negative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Reason</a:t>
            </a:r>
            <a:r>
              <a:rPr kumimoji="0" lang="tr-TR" altLang="tr-TR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training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data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contains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heavy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context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regarding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slavery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historical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racism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political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conflict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Religious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Associations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Toxic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Co-occurrences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Specific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religious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terms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trigger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problematic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associations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based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on web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toxicity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Islam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frequently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associated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terrorism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Judaism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-&gt;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frequently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associated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"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racists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money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Effect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of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Scale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Interesting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Finding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largest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model (175B)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shows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slightly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less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extreme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compared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smaller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versions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1867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6">
            <a:extLst>
              <a:ext uri="{FF2B5EF4-FFF2-40B4-BE49-F238E27FC236}">
                <a16:creationId xmlns:a16="http://schemas.microsoft.com/office/drawing/2014/main" id="{1ED0117E-AEF4-343C-368C-2D4A2AED93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520" y="1714027"/>
            <a:ext cx="8982011" cy="4047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1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Fixing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harder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than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finding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it."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Current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Analysis is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Superficial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check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Gender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Religion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Missing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Disability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Age,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Socio-economics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Accents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Geography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Metrics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Are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Not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Enough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cannot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fix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just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banning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words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Solution: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Holistic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Approach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"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is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needed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Technical Analysis +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Social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Science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+ Human Feedback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Scale</a:t>
            </a:r>
            <a:r>
              <a:rPr kumimoji="0" lang="tr-TR" altLang="tr-TR" sz="2000" b="1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1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Paradox</a:t>
            </a: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Larger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models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1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some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explicit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like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racial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sentiment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gaps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However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biases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never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disappear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completely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; they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just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become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tr-TR" altLang="tr-TR" sz="2000" b="0" i="0" u="none" strike="noStrike" cap="none" normalizeH="0" baseline="0" dirty="0" err="1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sophisticated</a:t>
            </a:r>
            <a:r>
              <a:rPr kumimoji="0" lang="tr-TR" altLang="tr-TR" sz="2000" b="0" i="0" u="none" strike="noStrike" cap="none" normalizeH="0" baseline="0" dirty="0">
                <a:ln>
                  <a:noFill/>
                </a:ln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2000" b="0" i="0" u="none" strike="noStrike" cap="none" normalizeH="0" baseline="0" dirty="0">
              <a:ln>
                <a:noFill/>
              </a:ln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Başlık 1">
            <a:extLst>
              <a:ext uri="{FF2B5EF4-FFF2-40B4-BE49-F238E27FC236}">
                <a16:creationId xmlns:a16="http://schemas.microsoft.com/office/drawing/2014/main" id="{230FE575-FB20-4DEA-F3F1-FA973A20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4911" y="613458"/>
            <a:ext cx="8534400" cy="1507067"/>
          </a:xfrm>
        </p:spPr>
        <p:txBody>
          <a:bodyPr>
            <a:normAutofit/>
          </a:bodyPr>
          <a:lstStyle/>
          <a:p>
            <a:r>
              <a:rPr lang="tr-TR" b="1" dirty="0" err="1"/>
              <a:t>Future</a:t>
            </a:r>
            <a:r>
              <a:rPr lang="tr-TR" b="1" dirty="0"/>
              <a:t> </a:t>
            </a:r>
            <a:r>
              <a:rPr lang="tr-TR" b="1" dirty="0" err="1"/>
              <a:t>Challenges</a:t>
            </a:r>
            <a:r>
              <a:rPr lang="tr-TR" b="1" dirty="0"/>
              <a:t> </a:t>
            </a:r>
            <a:r>
              <a:rPr lang="tr-TR" b="1" dirty="0" err="1"/>
              <a:t>ın</a:t>
            </a:r>
            <a:r>
              <a:rPr lang="tr-TR" b="1" dirty="0"/>
              <a:t> </a:t>
            </a:r>
            <a:r>
              <a:rPr lang="tr-TR" b="1" dirty="0" err="1"/>
              <a:t>Fairness</a:t>
            </a:r>
            <a:br>
              <a:rPr lang="tr-TR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518760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80F58D-9BC1-2C2F-1ECD-0535B972C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0955" y="2133921"/>
            <a:ext cx="8534400" cy="3615267"/>
          </a:xfrm>
        </p:spPr>
        <p:txBody>
          <a:bodyPr>
            <a:normAutofit/>
          </a:bodyPr>
          <a:lstStyle/>
          <a:p>
            <a:r>
              <a:rPr lang="en-US" b="1" dirty="0"/>
              <a:t>Simple Architecture:</a:t>
            </a:r>
            <a:r>
              <a:rPr lang="en-US" dirty="0"/>
              <a:t> GPT-3 relies on a standard </a:t>
            </a:r>
            <a:r>
              <a:rPr lang="en-US" b="1" dirty="0"/>
              <a:t>autoregressive model</a:t>
            </a:r>
            <a:r>
              <a:rPr lang="en-US" dirty="0"/>
              <a:t>, bypassing recent architectural innovations like </a:t>
            </a:r>
            <a:r>
              <a:rPr lang="en-US" b="1" dirty="0"/>
              <a:t>bidirectional denoising (BERT)</a:t>
            </a:r>
            <a:r>
              <a:rPr lang="en-US" dirty="0"/>
              <a:t> or </a:t>
            </a:r>
            <a:r>
              <a:rPr lang="en-US" b="1" dirty="0"/>
              <a:t>encoder-decoder frameworks (T5)</a:t>
            </a:r>
            <a:r>
              <a:rPr lang="en-US" dirty="0"/>
              <a:t>.</a:t>
            </a:r>
          </a:p>
          <a:p>
            <a:r>
              <a:rPr lang="en-US" b="1" dirty="0"/>
              <a:t>Missed Optimizations:</a:t>
            </a:r>
            <a:r>
              <a:rPr lang="en-US" dirty="0"/>
              <a:t> The training did not utilize advanced efficiency methods such as </a:t>
            </a:r>
            <a:r>
              <a:rPr lang="en-US" b="1" dirty="0"/>
              <a:t>improved data filtering</a:t>
            </a:r>
            <a:r>
              <a:rPr lang="en-US" dirty="0"/>
              <a:t>, </a:t>
            </a:r>
            <a:r>
              <a:rPr lang="en-US" b="1" dirty="0"/>
              <a:t>random permutations</a:t>
            </a:r>
            <a:r>
              <a:rPr lang="en-US" dirty="0"/>
              <a:t>, or </a:t>
            </a:r>
            <a:r>
              <a:rPr lang="en-US" b="1" dirty="0"/>
              <a:t>efficient embedding strategies</a:t>
            </a:r>
            <a:r>
              <a:rPr lang="en-US" dirty="0"/>
              <a:t>.</a:t>
            </a:r>
          </a:p>
          <a:p>
            <a:r>
              <a:rPr lang="en-US" b="1" dirty="0"/>
              <a:t>Future Outlook:</a:t>
            </a:r>
            <a:r>
              <a:rPr lang="en-US" dirty="0"/>
              <a:t> The paper suggests that combining GPT-3’s massive scale with these advanced techniques could yield even </a:t>
            </a:r>
            <a:r>
              <a:rPr lang="en-US" b="1" dirty="0"/>
              <a:t>stronger performance</a:t>
            </a:r>
            <a:r>
              <a:rPr lang="en-US" dirty="0"/>
              <a:t> in the future</a:t>
            </a:r>
          </a:p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96D15B5F-EF17-F51D-F547-FA9B431599DE}"/>
              </a:ext>
            </a:extLst>
          </p:cNvPr>
          <p:cNvSpPr txBox="1"/>
          <p:nvPr/>
        </p:nvSpPr>
        <p:spPr>
          <a:xfrm>
            <a:off x="1647740" y="693313"/>
            <a:ext cx="79822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Untapped Potential: Techniques NOT used in GPT-3</a:t>
            </a:r>
            <a:br>
              <a:rPr lang="tr-TR" sz="2400" b="1" dirty="0"/>
            </a:br>
            <a:endParaRPr lang="tr-TR" sz="2400" b="1" dirty="0"/>
          </a:p>
        </p:txBody>
      </p:sp>
    </p:spTree>
    <p:extLst>
      <p:ext uri="{BB962C8B-B14F-4D97-AF65-F5344CB8AC3E}">
        <p14:creationId xmlns:p14="http://schemas.microsoft.com/office/powerpoint/2010/main" val="3456942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9C1E290-141F-10E4-EEE6-5DCCA78A4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6846" y="548982"/>
            <a:ext cx="8534400" cy="1507067"/>
          </a:xfrm>
        </p:spPr>
        <p:txBody>
          <a:bodyPr/>
          <a:lstStyle/>
          <a:p>
            <a:r>
              <a:rPr lang="tr-TR" dirty="0" err="1"/>
              <a:t>Related</a:t>
            </a:r>
            <a:r>
              <a:rPr lang="tr-TR" dirty="0"/>
              <a:t> </a:t>
            </a:r>
            <a:r>
              <a:rPr lang="tr-TR" dirty="0" err="1"/>
              <a:t>works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17497CD-5E10-8542-F250-C6CC94175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529" y="2160220"/>
            <a:ext cx="8534400" cy="3615267"/>
          </a:xfrm>
        </p:spPr>
        <p:txBody>
          <a:bodyPr/>
          <a:lstStyle/>
          <a:p>
            <a:r>
              <a:rPr lang="en-US" b="1" dirty="0"/>
              <a:t>▶ GPT-3 examined all prior work and said:</a:t>
            </a:r>
            <a:r>
              <a:rPr lang="en-US" dirty="0"/>
              <a:t> </a:t>
            </a:r>
            <a:r>
              <a:rPr lang="en-US" b="1" dirty="0"/>
              <a:t>"The best way is to scale up. So I did."</a:t>
            </a:r>
            <a:r>
              <a:rPr lang="en-US" dirty="0"/>
              <a:t> </a:t>
            </a:r>
            <a:r>
              <a:rPr lang="en-US" b="1" dirty="0"/>
              <a:t>That’s it.</a:t>
            </a:r>
            <a:endParaRPr lang="en-US" dirty="0"/>
          </a:p>
          <a:p>
            <a:r>
              <a:rPr lang="en-US" b="1" dirty="0"/>
              <a:t>▶ So, it didn’t bother with other complex methods.</a:t>
            </a:r>
            <a:r>
              <a:rPr lang="en-US" dirty="0"/>
              <a:t> </a:t>
            </a:r>
            <a:r>
              <a:rPr lang="en-US" b="1" dirty="0"/>
              <a:t>It built a giant Transformer, and the problem was solved.</a:t>
            </a:r>
            <a:endParaRPr lang="en-US" dirty="0"/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4631769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şlık 1">
            <a:extLst>
              <a:ext uri="{FF2B5EF4-FFF2-40B4-BE49-F238E27FC236}">
                <a16:creationId xmlns:a16="http://schemas.microsoft.com/office/drawing/2014/main" id="{F28F5E5A-EDE0-13B6-9B4A-E83E52920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697" y="630003"/>
            <a:ext cx="10867708" cy="1507067"/>
          </a:xfrm>
        </p:spPr>
        <p:txBody>
          <a:bodyPr/>
          <a:lstStyle/>
          <a:p>
            <a:r>
              <a:rPr lang="tr-TR" dirty="0"/>
              <a:t>Gpt3 data-</a:t>
            </a:r>
            <a:r>
              <a:rPr lang="tr-TR" dirty="0" err="1"/>
              <a:t>training</a:t>
            </a:r>
            <a:r>
              <a:rPr lang="tr-TR" dirty="0"/>
              <a:t>-</a:t>
            </a:r>
            <a:r>
              <a:rPr lang="tr-TR" dirty="0" err="1"/>
              <a:t>contamination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4AAC3E-012E-CB60-9F59-051C10A47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296" y="1955672"/>
            <a:ext cx="8534400" cy="361526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Data Processing:</a:t>
            </a:r>
            <a:r>
              <a:rPr lang="en-US" dirty="0"/>
              <a:t> The team filtered and cleaned the Common Crawl data, discarding low-quality content and removing duplicates.</a:t>
            </a:r>
          </a:p>
          <a:p>
            <a:r>
              <a:rPr lang="en-US" b="1" dirty="0"/>
              <a:t>Training Strategy:</a:t>
            </a:r>
            <a:r>
              <a:rPr lang="en-US" dirty="0"/>
              <a:t> The model was trained on massive data using Adam optimization, cosine LR decay, warmup, and large batch sizes.</a:t>
            </a:r>
          </a:p>
          <a:p>
            <a:r>
              <a:rPr lang="en-US" b="1" dirty="0"/>
              <a:t>Contamination Check:</a:t>
            </a:r>
            <a:r>
              <a:rPr lang="en-US" dirty="0"/>
              <a:t> They checked for test data leakage using </a:t>
            </a:r>
            <a:r>
              <a:rPr lang="en-US" b="1" dirty="0"/>
              <a:t>13-gram matching</a:t>
            </a:r>
            <a:r>
              <a:rPr lang="en-US" dirty="0"/>
              <a:t>; most datasets were clean, with only minor overlap found in a few.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9862064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A31A37B-C6A7-B0FA-24A6-45D9B0CB1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5586" y="606597"/>
            <a:ext cx="8534400" cy="1507067"/>
          </a:xfrm>
        </p:spPr>
        <p:txBody>
          <a:bodyPr/>
          <a:lstStyle/>
          <a:p>
            <a:r>
              <a:rPr lang="tr-TR" dirty="0"/>
              <a:t>REFERENCES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9B9D3-DAB0-9ED5-11FC-8BC99C1F40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30928" y="1582340"/>
            <a:ext cx="90521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Source 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Brown, T. B., Mann, B.,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Ryder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N., et al. (2020).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Few-Shot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arXiv:2005.14165.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GPT-3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Foundational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Works:</a:t>
            </a:r>
            <a:endParaRPr kumimoji="0" lang="tr-TR" altLang="tr-T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Kaplan, J.,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McCandlish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S.,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Henighan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T., et al. (2020).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Scaling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Laws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Language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preprint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arXiv:2001.08361.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Radford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Wu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J., Child, R., et al. (2019).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Unsupervised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Multitask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OpenAI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Blog.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GPT-2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Vaswani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A.,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Shazeer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N., </a:t>
            </a:r>
            <a:r>
              <a:rPr kumimoji="0" lang="tr-TR" altLang="tr-TR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Parmar</a:t>
            </a:r>
            <a:r>
              <a:rPr kumimoji="0" lang="tr-TR" altLang="tr-T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N., et al. (2017).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Attention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</a:t>
            </a:r>
            <a:r>
              <a:rPr kumimoji="0" lang="tr-TR" altLang="tr-TR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Information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Processing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Systems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(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original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architecture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tr-TR" altLang="tr-T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paper</a:t>
            </a:r>
            <a:r>
              <a:rPr kumimoji="0" lang="tr-TR" altLang="tr-T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altLang="tr-T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5924857"/>
      </p:ext>
    </p:extLst>
  </p:cSld>
  <p:clrMapOvr>
    <a:masterClrMapping/>
  </p:clrMapOvr>
</p:sld>
</file>

<file path=ppt/theme/theme1.xml><?xml version="1.0" encoding="utf-8"?>
<a:theme xmlns:a="http://schemas.openxmlformats.org/drawingml/2006/main" name="Duman">
  <a:themeElements>
    <a:clrScheme name="Duman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Duman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uman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FDD3A7FD16CAC24AB14869E051BC66D7" ma:contentTypeVersion="3" ma:contentTypeDescription="Yeni belge oluşturun." ma:contentTypeScope="" ma:versionID="89cac7f1e1de45334f4a7af93b008dff">
  <xsd:schema xmlns:xsd="http://www.w3.org/2001/XMLSchema" xmlns:xs="http://www.w3.org/2001/XMLSchema" xmlns:p="http://schemas.microsoft.com/office/2006/metadata/properties" xmlns:ns2="6bfd5f63-3232-42a0-8db4-2484f8efdeaa" targetNamespace="http://schemas.microsoft.com/office/2006/metadata/properties" ma:root="true" ma:fieldsID="7ffae74ceffa62c4c775c89a27f27671" ns2:_="">
    <xsd:import namespace="6bfd5f63-3232-42a0-8db4-2484f8efdea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d5f63-3232-42a0-8db4-2484f8efde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9CBD8D5-AD59-4793-BF52-35E521C602C7}"/>
</file>

<file path=customXml/itemProps2.xml><?xml version="1.0" encoding="utf-8"?>
<ds:datastoreItem xmlns:ds="http://schemas.openxmlformats.org/officeDocument/2006/customXml" ds:itemID="{4C480216-BB90-4DCA-B2D8-1A2D8A0008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7F3A86C-A44C-480D-9EBA-782C22A46722}">
  <ds:schemaRefs>
    <ds:schemaRef ds:uri="http://purl.org/dc/elements/1.1/"/>
    <ds:schemaRef ds:uri="http://schemas.microsoft.com/office/2006/metadata/properties"/>
    <ds:schemaRef ds:uri="http://purl.org/dc/dcmitype/"/>
    <ds:schemaRef ds:uri="5deb53c8-1dc5-4e44-acc8-470b46c1f8e5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e8f8c175-61c5-4bc3-895a-540e029b7698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463</TotalTime>
  <Words>4849</Words>
  <Application>Microsoft Office PowerPoint</Application>
  <PresentationFormat>Geniş ekran</PresentationFormat>
  <Paragraphs>451</Paragraphs>
  <Slides>32</Slides>
  <Notes>27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7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32</vt:i4>
      </vt:variant>
    </vt:vector>
  </HeadingPairs>
  <TitlesOfParts>
    <vt:vector size="40" baseType="lpstr">
      <vt:lpstr>Aptos</vt:lpstr>
      <vt:lpstr>Arial</vt:lpstr>
      <vt:lpstr>Calibri</vt:lpstr>
      <vt:lpstr>Century Gothic</vt:lpstr>
      <vt:lpstr>Google Sans</vt:lpstr>
      <vt:lpstr>Google Sans Text</vt:lpstr>
      <vt:lpstr>Wingdings 3</vt:lpstr>
      <vt:lpstr>Duman</vt:lpstr>
      <vt:lpstr>CENG543 RESEARCH PRESENTATION</vt:lpstr>
      <vt:lpstr>Abstract</vt:lpstr>
      <vt:lpstr>Problem Definition</vt:lpstr>
      <vt:lpstr>WHAT IS FEW-SHOT</vt:lpstr>
      <vt:lpstr>PowerPoint Sunusu</vt:lpstr>
      <vt:lpstr>PowerPoint Sunusu</vt:lpstr>
      <vt:lpstr>PowerPoint Sunusu</vt:lpstr>
      <vt:lpstr>PowerPoint Sunusu</vt:lpstr>
      <vt:lpstr>PowerPoint Sunusu</vt:lpstr>
      <vt:lpstr>Training of gpt3</vt:lpstr>
      <vt:lpstr>Dataset </vt:lpstr>
      <vt:lpstr>Evaluation Methodology 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DID THE MODEL CHEAT</vt:lpstr>
      <vt:lpstr>Limitations &amp; Weaknesses </vt:lpstr>
      <vt:lpstr>Limitations &amp; Weaknesses </vt:lpstr>
      <vt:lpstr>Broader Impacts: Risks &amp; Fairness </vt:lpstr>
      <vt:lpstr>General Findings: Racial &amp; Religious Bias Profile </vt:lpstr>
      <vt:lpstr>Future Challenges ın Fairness </vt:lpstr>
      <vt:lpstr>PowerPoint Sunusu</vt:lpstr>
      <vt:lpstr>Related works</vt:lpstr>
      <vt:lpstr>Gpt3 data-training-contamination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HÜSEYİN TALHA UYSAL</dc:creator>
  <cp:lastModifiedBy>HÜSEYİN TALHA UYSAL</cp:lastModifiedBy>
  <cp:revision>4</cp:revision>
  <dcterms:created xsi:type="dcterms:W3CDTF">2025-11-30T08:08:31Z</dcterms:created>
  <dcterms:modified xsi:type="dcterms:W3CDTF">2025-11-30T15:52:28Z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0x010100FDD3A7FD16CAC24AB14869E051BC66D7</vt:lpwstr>
  </property>
</Properties>
</file>