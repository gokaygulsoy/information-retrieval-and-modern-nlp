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sldIdLst>
    <p:sldId id="256" r:id="rId5"/>
    <p:sldId id="257" r:id="rId6"/>
    <p:sldId id="258" r:id="rId7"/>
    <p:sldId id="260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E9BD7B-04CA-4C7A-BB5F-9929BB1954B3}">
          <p14:sldIdLst>
            <p14:sldId id="256"/>
            <p14:sldId id="257"/>
            <p14:sldId id="258"/>
            <p14:sldId id="260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73"/>
          </p14:sldIdLst>
        </p14:section>
        <p14:section name="Untitled Section" id="{4FBD003A-9A0C-496D-9F03-83152BC892D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0000"/>
    <a:srgbClr val="3C0101"/>
    <a:srgbClr val="5F0101"/>
    <a:srgbClr val="FDF1DF"/>
    <a:srgbClr val="FFFDFB"/>
    <a:srgbClr val="FFF3F3"/>
    <a:srgbClr val="FCFFFF"/>
    <a:srgbClr val="530101"/>
    <a:srgbClr val="FFF7F7"/>
    <a:srgbClr val="FF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48F08-AF5D-86C8-07F5-7ED67153DE2C}" v="1" dt="2025-12-05T14:07:27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KET YAVUZ" userId="S::buketyavuz@ogr365.iyte.edu.tr::d4928def-4347-45de-b1a4-ceca3eaf5c3a" providerId="AD" clId="Web-{34F48F08-AF5D-86C8-07F5-7ED67153DE2C}"/>
    <pc:docChg chg="sldOrd">
      <pc:chgData name="BUKET YAVUZ" userId="S::buketyavuz@ogr365.iyte.edu.tr::d4928def-4347-45de-b1a4-ceca3eaf5c3a" providerId="AD" clId="Web-{34F48F08-AF5D-86C8-07F5-7ED67153DE2C}" dt="2025-12-05T14:07:27.310" v="0"/>
      <pc:docMkLst>
        <pc:docMk/>
      </pc:docMkLst>
      <pc:sldChg chg="ord">
        <pc:chgData name="BUKET YAVUZ" userId="S::buketyavuz@ogr365.iyte.edu.tr::d4928def-4347-45de-b1a4-ceca3eaf5c3a" providerId="AD" clId="Web-{34F48F08-AF5D-86C8-07F5-7ED67153DE2C}" dt="2025-12-05T14:07:27.310" v="0"/>
        <pc:sldMkLst>
          <pc:docMk/>
          <pc:sldMk cId="1796783768" sldId="260"/>
        </pc:sldMkLst>
      </pc:sldChg>
    </pc:docChg>
  </pc:docChgLst>
  <pc:docChgLst>
    <pc:chgData name="ILAHA KARIMLI" userId="S::ilahakarimli@ogr365.iyte.edu.tr::e0ebd65e-294c-46fc-845a-229ac0891ada" providerId="AD" clId="Web-{77EF742A-DAFA-444C-BEFB-F6CCDEA93A27}"/>
    <pc:docChg chg="addSld delSld modSection">
      <pc:chgData name="ILAHA KARIMLI" userId="S::ilahakarimli@ogr365.iyte.edu.tr::e0ebd65e-294c-46fc-845a-229ac0891ada" providerId="AD" clId="Web-{77EF742A-DAFA-444C-BEFB-F6CCDEA93A27}" dt="2025-11-30T17:01:00.265" v="1"/>
      <pc:docMkLst>
        <pc:docMk/>
      </pc:docMkLst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4DCF43-947E-4E30-BA19-D3092EA50F0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065FDD-02FF-4027-A97B-46E696E1A326}">
      <dgm:prSet custT="1"/>
      <dgm:spPr/>
      <dgm:t>
        <a:bodyPr/>
        <a:lstStyle/>
        <a:p>
          <a:r>
            <a:rPr lang="en-US" sz="2400" b="1"/>
            <a:t>In-Context Learning &amp; Problem Definition</a:t>
          </a:r>
          <a:endParaRPr lang="en-US" sz="2400"/>
        </a:p>
      </dgm:t>
    </dgm:pt>
    <dgm:pt modelId="{62F1835F-D54A-4FC9-8555-1898F8A0FD0E}" type="parTrans" cxnId="{49061980-2FC7-41CB-895D-F3E82A8ABEA5}">
      <dgm:prSet/>
      <dgm:spPr/>
      <dgm:t>
        <a:bodyPr/>
        <a:lstStyle/>
        <a:p>
          <a:endParaRPr lang="en-US"/>
        </a:p>
      </dgm:t>
    </dgm:pt>
    <dgm:pt modelId="{8BF06B5E-DC9D-4985-9477-E73055A77242}" type="sibTrans" cxnId="{49061980-2FC7-41CB-895D-F3E82A8ABEA5}">
      <dgm:prSet/>
      <dgm:spPr/>
      <dgm:t>
        <a:bodyPr/>
        <a:lstStyle/>
        <a:p>
          <a:endParaRPr lang="en-US"/>
        </a:p>
      </dgm:t>
    </dgm:pt>
    <dgm:pt modelId="{08180A4D-7B05-4983-8A44-3A7C01C17E84}">
      <dgm:prSet custT="1"/>
      <dgm:spPr/>
      <dgm:t>
        <a:bodyPr/>
        <a:lstStyle/>
        <a:p>
          <a:pPr>
            <a:spcBef>
              <a:spcPts val="400"/>
            </a:spcBef>
          </a:pPr>
          <a:r>
            <a:rPr lang="en-US" sz="1600"/>
            <a:t>LLM s can perform well with only a few examples.</a:t>
          </a:r>
        </a:p>
      </dgm:t>
    </dgm:pt>
    <dgm:pt modelId="{D413D01A-AA1B-45F2-B4C7-71C0742FC9DF}" type="parTrans" cxnId="{368D76A2-8E2A-4F69-B448-969EE0E76010}">
      <dgm:prSet/>
      <dgm:spPr/>
      <dgm:t>
        <a:bodyPr/>
        <a:lstStyle/>
        <a:p>
          <a:endParaRPr lang="en-US"/>
        </a:p>
      </dgm:t>
    </dgm:pt>
    <dgm:pt modelId="{23B15BA8-D030-4899-A582-62B563FCE445}" type="sibTrans" cxnId="{368D76A2-8E2A-4F69-B448-969EE0E76010}">
      <dgm:prSet/>
      <dgm:spPr/>
      <dgm:t>
        <a:bodyPr/>
        <a:lstStyle/>
        <a:p>
          <a:endParaRPr lang="en-US"/>
        </a:p>
      </dgm:t>
    </dgm:pt>
    <dgm:pt modelId="{5993B6C1-DFCE-4B0F-B3D8-A7B146324FEA}">
      <dgm:prSet custT="1"/>
      <dgm:spPr/>
      <dgm:t>
        <a:bodyPr/>
        <a:lstStyle/>
        <a:p>
          <a:pPr>
            <a:spcBef>
              <a:spcPts val="400"/>
            </a:spcBef>
          </a:pPr>
          <a:r>
            <a:rPr lang="en-US" sz="1600"/>
            <a:t>This approach is called In-Context Learning (ICL).</a:t>
          </a:r>
        </a:p>
      </dgm:t>
    </dgm:pt>
    <dgm:pt modelId="{7AC46C71-F549-486B-85D7-353104765D0E}" type="parTrans" cxnId="{2DF428EC-C6B2-460E-A4B8-D59EB55F015C}">
      <dgm:prSet/>
      <dgm:spPr/>
      <dgm:t>
        <a:bodyPr/>
        <a:lstStyle/>
        <a:p>
          <a:endParaRPr lang="en-US"/>
        </a:p>
      </dgm:t>
    </dgm:pt>
    <dgm:pt modelId="{894647F8-0038-4CEA-B523-395425496D32}" type="sibTrans" cxnId="{2DF428EC-C6B2-460E-A4B8-D59EB55F015C}">
      <dgm:prSet/>
      <dgm:spPr/>
      <dgm:t>
        <a:bodyPr/>
        <a:lstStyle/>
        <a:p>
          <a:endParaRPr lang="en-US"/>
        </a:p>
      </dgm:t>
    </dgm:pt>
    <dgm:pt modelId="{4AE4A629-85EF-45CB-9BCE-349E04579484}">
      <dgm:prSet custT="1"/>
      <dgm:spPr/>
      <dgm:t>
        <a:bodyPr/>
        <a:lstStyle/>
        <a:p>
          <a:pPr>
            <a:spcBef>
              <a:spcPts val="400"/>
            </a:spcBef>
          </a:pPr>
          <a:r>
            <a:rPr lang="en-US" sz="1600"/>
            <a:t>An ICL prompt is built from a template + ordering of examples.</a:t>
          </a:r>
        </a:p>
      </dgm:t>
    </dgm:pt>
    <dgm:pt modelId="{571D1C66-2B0C-4AB7-A2D7-C6D5527FF894}" type="parTrans" cxnId="{8426A524-AF7A-45EA-97FD-502172778400}">
      <dgm:prSet/>
      <dgm:spPr/>
      <dgm:t>
        <a:bodyPr/>
        <a:lstStyle/>
        <a:p>
          <a:endParaRPr lang="en-US"/>
        </a:p>
      </dgm:t>
    </dgm:pt>
    <dgm:pt modelId="{571A5A11-CE8D-4C09-B1E7-18C2ABD99E51}" type="sibTrans" cxnId="{8426A524-AF7A-45EA-97FD-502172778400}">
      <dgm:prSet/>
      <dgm:spPr/>
      <dgm:t>
        <a:bodyPr/>
        <a:lstStyle/>
        <a:p>
          <a:endParaRPr lang="en-US"/>
        </a:p>
      </dgm:t>
    </dgm:pt>
    <dgm:pt modelId="{D87DB2FC-7FCC-461D-A61B-EF92B542E5CE}">
      <dgm:prSet custT="1"/>
      <dgm:spPr/>
      <dgm:t>
        <a:bodyPr/>
        <a:lstStyle/>
        <a:p>
          <a:r>
            <a:rPr lang="en-US" sz="1600"/>
            <a:t>Prior work shows that </a:t>
          </a:r>
          <a:r>
            <a:rPr lang="en-US" sz="1600" b="1"/>
            <a:t>template design</a:t>
          </a:r>
          <a:r>
            <a:rPr lang="en-US" sz="1600"/>
            <a:t> strongly affects performance.</a:t>
          </a:r>
        </a:p>
      </dgm:t>
    </dgm:pt>
    <dgm:pt modelId="{63590FB5-0682-4C2C-8616-3A3539C6DECF}" type="parTrans" cxnId="{8FB6E49B-1022-4D8F-B0F3-6F09729557DE}">
      <dgm:prSet/>
      <dgm:spPr/>
      <dgm:t>
        <a:bodyPr/>
        <a:lstStyle/>
        <a:p>
          <a:endParaRPr lang="en-US"/>
        </a:p>
      </dgm:t>
    </dgm:pt>
    <dgm:pt modelId="{45249D6F-5C42-4657-8414-0AF6D106151B}" type="sibTrans" cxnId="{8FB6E49B-1022-4D8F-B0F3-6F09729557DE}">
      <dgm:prSet/>
      <dgm:spPr/>
      <dgm:t>
        <a:bodyPr/>
        <a:lstStyle/>
        <a:p>
          <a:endParaRPr lang="en-US"/>
        </a:p>
      </dgm:t>
    </dgm:pt>
    <dgm:pt modelId="{AA4B08AE-0116-4D2E-869D-6FC24EF4DD4F}">
      <dgm:prSet custT="1"/>
      <dgm:spPr/>
      <dgm:t>
        <a:bodyPr/>
        <a:lstStyle/>
        <a:p>
          <a:r>
            <a:rPr lang="en-US" sz="2400" b="1"/>
            <a:t>New Findings (Core Contribution)</a:t>
          </a:r>
          <a:endParaRPr lang="en-US" sz="2400"/>
        </a:p>
      </dgm:t>
    </dgm:pt>
    <dgm:pt modelId="{188EC8B8-30B4-4A60-87AF-114146AA32BE}" type="parTrans" cxnId="{85C759C2-B3E3-495F-980E-DCBAA478A1FE}">
      <dgm:prSet/>
      <dgm:spPr/>
      <dgm:t>
        <a:bodyPr/>
        <a:lstStyle/>
        <a:p>
          <a:endParaRPr lang="en-US"/>
        </a:p>
      </dgm:t>
    </dgm:pt>
    <dgm:pt modelId="{212669AF-8566-4693-A0E5-3AE154CBFA59}" type="sibTrans" cxnId="{85C759C2-B3E3-495F-980E-DCBAA478A1FE}">
      <dgm:prSet/>
      <dgm:spPr/>
      <dgm:t>
        <a:bodyPr/>
        <a:lstStyle/>
        <a:p>
          <a:endParaRPr lang="en-US"/>
        </a:p>
      </dgm:t>
    </dgm:pt>
    <dgm:pt modelId="{D3B1CA14-90E3-425F-BA97-C2E4B7549AB3}">
      <dgm:prSet custT="1"/>
      <dgm:spPr/>
      <dgm:t>
        <a:bodyPr/>
        <a:lstStyle/>
        <a:p>
          <a:r>
            <a:rPr lang="en-US" sz="1600"/>
            <a:t>The </a:t>
          </a:r>
          <a:r>
            <a:rPr lang="en-US" sz="1600" b="1"/>
            <a:t>order of examples</a:t>
          </a:r>
          <a:r>
            <a:rPr lang="en-US" sz="1600"/>
            <a:t> affects performance as much as the template.</a:t>
          </a:r>
        </a:p>
      </dgm:t>
    </dgm:pt>
    <dgm:pt modelId="{BCF6BBE9-A051-459F-8439-BE6C5F1F3BC4}" type="parTrans" cxnId="{3372C584-A145-4406-94BE-9750501578D6}">
      <dgm:prSet/>
      <dgm:spPr/>
      <dgm:t>
        <a:bodyPr/>
        <a:lstStyle/>
        <a:p>
          <a:endParaRPr lang="en-US"/>
        </a:p>
      </dgm:t>
    </dgm:pt>
    <dgm:pt modelId="{29928CB5-B092-4FEC-BF9F-51A9F2CEEFA7}" type="sibTrans" cxnId="{3372C584-A145-4406-94BE-9750501578D6}">
      <dgm:prSet/>
      <dgm:spPr/>
      <dgm:t>
        <a:bodyPr/>
        <a:lstStyle/>
        <a:p>
          <a:endParaRPr lang="en-US"/>
        </a:p>
      </dgm:t>
    </dgm:pt>
    <dgm:pt modelId="{8F3C5961-251E-4A11-BA71-6CBFDDDCB9A0}">
      <dgm:prSet custT="1"/>
      <dgm:spPr/>
      <dgm:t>
        <a:bodyPr/>
        <a:lstStyle/>
        <a:p>
          <a:r>
            <a:rPr lang="en-US" sz="1600"/>
            <a:t>Order sensitivity is:</a:t>
          </a:r>
        </a:p>
      </dgm:t>
    </dgm:pt>
    <dgm:pt modelId="{4F3D6019-16AF-4DA0-B291-B8029F177EC0}" type="parTrans" cxnId="{F65DAFF9-9014-44AE-B655-37C6D5840BDA}">
      <dgm:prSet/>
      <dgm:spPr/>
      <dgm:t>
        <a:bodyPr/>
        <a:lstStyle/>
        <a:p>
          <a:endParaRPr lang="en-US"/>
        </a:p>
      </dgm:t>
    </dgm:pt>
    <dgm:pt modelId="{C4730D23-4786-4D90-A25C-5EECE76E530A}" type="sibTrans" cxnId="{F65DAFF9-9014-44AE-B655-37C6D5840BDA}">
      <dgm:prSet/>
      <dgm:spPr/>
      <dgm:t>
        <a:bodyPr/>
        <a:lstStyle/>
        <a:p>
          <a:endParaRPr lang="en-US"/>
        </a:p>
      </dgm:t>
    </dgm:pt>
    <dgm:pt modelId="{A2B2EA1C-292E-42D5-972F-C6F5FC163CE7}">
      <dgm:prSet custT="1"/>
      <dgm:spPr/>
      <dgm:t>
        <a:bodyPr/>
        <a:lstStyle/>
        <a:p>
          <a:r>
            <a:rPr lang="en-US" sz="1600"/>
            <a:t>Present across all model sizes</a:t>
          </a:r>
        </a:p>
      </dgm:t>
    </dgm:pt>
    <dgm:pt modelId="{60D844D6-A76D-4540-9A93-E35A21E99AD4}" type="parTrans" cxnId="{B94BBC3A-8758-409C-BD76-845A00FAAC8D}">
      <dgm:prSet/>
      <dgm:spPr/>
      <dgm:t>
        <a:bodyPr/>
        <a:lstStyle/>
        <a:p>
          <a:endParaRPr lang="en-US"/>
        </a:p>
      </dgm:t>
    </dgm:pt>
    <dgm:pt modelId="{A86BEDCF-413A-41FB-AFE3-DBEA9F47EBB9}" type="sibTrans" cxnId="{B94BBC3A-8758-409C-BD76-845A00FAAC8D}">
      <dgm:prSet/>
      <dgm:spPr/>
      <dgm:t>
        <a:bodyPr/>
        <a:lstStyle/>
        <a:p>
          <a:endParaRPr lang="en-US"/>
        </a:p>
      </dgm:t>
    </dgm:pt>
    <dgm:pt modelId="{C52DA252-8BF0-4138-BAD8-5060FEA3923C}">
      <dgm:prSet custT="1"/>
      <dgm:spPr/>
      <dgm:t>
        <a:bodyPr/>
        <a:lstStyle/>
        <a:p>
          <a:r>
            <a:rPr lang="en-US" sz="1600"/>
            <a:t>Independent of task</a:t>
          </a:r>
        </a:p>
      </dgm:t>
    </dgm:pt>
    <dgm:pt modelId="{387CA6BE-5DFA-4F82-B0F8-B649D7443C45}" type="parTrans" cxnId="{85100399-4CB1-4165-BC8C-67F28C05CE1A}">
      <dgm:prSet/>
      <dgm:spPr/>
      <dgm:t>
        <a:bodyPr/>
        <a:lstStyle/>
        <a:p>
          <a:endParaRPr lang="en-US"/>
        </a:p>
      </dgm:t>
    </dgm:pt>
    <dgm:pt modelId="{C538941A-45D9-4D60-A1E3-7C815E002485}" type="sibTrans" cxnId="{85100399-4CB1-4165-BC8C-67F28C05CE1A}">
      <dgm:prSet/>
      <dgm:spPr/>
      <dgm:t>
        <a:bodyPr/>
        <a:lstStyle/>
        <a:p>
          <a:endParaRPr lang="en-US"/>
        </a:p>
      </dgm:t>
    </dgm:pt>
    <dgm:pt modelId="{20564865-FFF4-456F-A9E5-C299C3682D6F}">
      <dgm:prSet custT="1"/>
      <dgm:spPr/>
      <dgm:t>
        <a:bodyPr/>
        <a:lstStyle/>
        <a:p>
          <a:r>
            <a:rPr lang="en-US" sz="1600"/>
            <a:t>Reduced but not removed by scaling</a:t>
          </a:r>
        </a:p>
      </dgm:t>
    </dgm:pt>
    <dgm:pt modelId="{97FDF302-ADA2-4600-97B6-3D5060256FF9}" type="parTrans" cxnId="{51291508-C987-4FD6-BF5E-843B03F0C29F}">
      <dgm:prSet/>
      <dgm:spPr/>
      <dgm:t>
        <a:bodyPr/>
        <a:lstStyle/>
        <a:p>
          <a:endParaRPr lang="en-US"/>
        </a:p>
      </dgm:t>
    </dgm:pt>
    <dgm:pt modelId="{7DB66580-7281-40AF-9C46-BFFC444B8072}" type="sibTrans" cxnId="{51291508-C987-4FD6-BF5E-843B03F0C29F}">
      <dgm:prSet/>
      <dgm:spPr/>
      <dgm:t>
        <a:bodyPr/>
        <a:lstStyle/>
        <a:p>
          <a:endParaRPr lang="en-US"/>
        </a:p>
      </dgm:t>
    </dgm:pt>
    <dgm:pt modelId="{60DBB9BC-1831-455F-8711-9995A4B55E1E}">
      <dgm:prSet custT="1"/>
      <dgm:spPr/>
      <dgm:t>
        <a:bodyPr/>
        <a:lstStyle/>
        <a:p>
          <a:r>
            <a:rPr lang="en-US" sz="2400" b="1"/>
            <a:t>What We Already Know</a:t>
          </a:r>
          <a:endParaRPr lang="en-US" sz="2400"/>
        </a:p>
      </dgm:t>
    </dgm:pt>
    <dgm:pt modelId="{C6E91CC7-A41A-4763-AD78-E678CC8B734B}" type="sibTrans" cxnId="{6AA1CC9E-7AF8-4ACB-9470-D3673CC41F52}">
      <dgm:prSet/>
      <dgm:spPr/>
      <dgm:t>
        <a:bodyPr/>
        <a:lstStyle/>
        <a:p>
          <a:endParaRPr lang="en-US"/>
        </a:p>
      </dgm:t>
    </dgm:pt>
    <dgm:pt modelId="{95ABE120-8CE9-4449-B856-82794D91230C}" type="parTrans" cxnId="{6AA1CC9E-7AF8-4ACB-9470-D3673CC41F52}">
      <dgm:prSet/>
      <dgm:spPr/>
      <dgm:t>
        <a:bodyPr/>
        <a:lstStyle/>
        <a:p>
          <a:endParaRPr lang="en-US"/>
        </a:p>
      </dgm:t>
    </dgm:pt>
    <dgm:pt modelId="{7064DD48-1311-4B71-AF73-16006F9BDD32}" type="pres">
      <dgm:prSet presAssocID="{984DCF43-947E-4E30-BA19-D3092EA50F0E}" presName="linear" presStyleCnt="0">
        <dgm:presLayoutVars>
          <dgm:animLvl val="lvl"/>
          <dgm:resizeHandles val="exact"/>
        </dgm:presLayoutVars>
      </dgm:prSet>
      <dgm:spPr/>
    </dgm:pt>
    <dgm:pt modelId="{F7365B3E-57DE-4F32-968F-4438446874E3}" type="pres">
      <dgm:prSet presAssocID="{41065FDD-02FF-4027-A97B-46E696E1A326}" presName="parentText" presStyleLbl="node1" presStyleIdx="0" presStyleCnt="3" custScaleX="100000" custScaleY="64815" custLinFactNeighborX="0" custLinFactNeighborY="-15062">
        <dgm:presLayoutVars>
          <dgm:chMax val="0"/>
          <dgm:bulletEnabled val="1"/>
        </dgm:presLayoutVars>
      </dgm:prSet>
      <dgm:spPr/>
    </dgm:pt>
    <dgm:pt modelId="{B1857541-D92F-405A-9531-5BC61184679E}" type="pres">
      <dgm:prSet presAssocID="{41065FDD-02FF-4027-A97B-46E696E1A326}" presName="childText" presStyleLbl="revTx" presStyleIdx="0" presStyleCnt="3" custLinFactNeighborY="14216">
        <dgm:presLayoutVars>
          <dgm:bulletEnabled val="1"/>
        </dgm:presLayoutVars>
      </dgm:prSet>
      <dgm:spPr/>
    </dgm:pt>
    <dgm:pt modelId="{6656776B-9734-47E3-8D8E-FF00E5D1A21F}" type="pres">
      <dgm:prSet presAssocID="{60DBB9BC-1831-455F-8711-9995A4B55E1E}" presName="parentText" presStyleLbl="node1" presStyleIdx="1" presStyleCnt="3" custScaleY="64655" custLinFactNeighborY="26792">
        <dgm:presLayoutVars>
          <dgm:chMax val="0"/>
          <dgm:bulletEnabled val="1"/>
        </dgm:presLayoutVars>
      </dgm:prSet>
      <dgm:spPr/>
    </dgm:pt>
    <dgm:pt modelId="{F88E8A81-5DE4-41C7-BF83-3611A64FB7F2}" type="pres">
      <dgm:prSet presAssocID="{60DBB9BC-1831-455F-8711-9995A4B55E1E}" presName="childText" presStyleLbl="revTx" presStyleIdx="1" presStyleCnt="3" custLinFactNeighborY="32181">
        <dgm:presLayoutVars>
          <dgm:bulletEnabled val="1"/>
        </dgm:presLayoutVars>
      </dgm:prSet>
      <dgm:spPr/>
    </dgm:pt>
    <dgm:pt modelId="{ED0095B0-1491-48C4-96EC-D45F4FF261EB}" type="pres">
      <dgm:prSet presAssocID="{AA4B08AE-0116-4D2E-869D-6FC24EF4DD4F}" presName="parentText" presStyleLbl="node1" presStyleIdx="2" presStyleCnt="3" custScaleY="64477" custLinFactNeighborX="294" custLinFactNeighborY="-5163">
        <dgm:presLayoutVars>
          <dgm:chMax val="0"/>
          <dgm:bulletEnabled val="1"/>
        </dgm:presLayoutVars>
      </dgm:prSet>
      <dgm:spPr/>
    </dgm:pt>
    <dgm:pt modelId="{3AE1C9EA-BC5A-42D6-A0D1-2B0A8BE8C6BE}" type="pres">
      <dgm:prSet presAssocID="{AA4B08AE-0116-4D2E-869D-6FC24EF4DD4F}" presName="childText" presStyleLbl="revTx" presStyleIdx="2" presStyleCnt="3" custLinFactNeighborY="7179">
        <dgm:presLayoutVars>
          <dgm:bulletEnabled val="1"/>
        </dgm:presLayoutVars>
      </dgm:prSet>
      <dgm:spPr/>
    </dgm:pt>
  </dgm:ptLst>
  <dgm:cxnLst>
    <dgm:cxn modelId="{51291508-C987-4FD6-BF5E-843B03F0C29F}" srcId="{8F3C5961-251E-4A11-BA71-6CBFDDDCB9A0}" destId="{20564865-FFF4-456F-A9E5-C299C3682D6F}" srcOrd="2" destOrd="0" parTransId="{97FDF302-ADA2-4600-97B6-3D5060256FF9}" sibTransId="{7DB66580-7281-40AF-9C46-BFFC444B8072}"/>
    <dgm:cxn modelId="{A9B36016-38C9-44BA-BCCF-ECABE62A07BE}" type="presOf" srcId="{41065FDD-02FF-4027-A97B-46E696E1A326}" destId="{F7365B3E-57DE-4F32-968F-4438446874E3}" srcOrd="0" destOrd="0" presId="urn:microsoft.com/office/officeart/2005/8/layout/vList2"/>
    <dgm:cxn modelId="{8426A524-AF7A-45EA-97FD-502172778400}" srcId="{41065FDD-02FF-4027-A97B-46E696E1A326}" destId="{4AE4A629-85EF-45CB-9BCE-349E04579484}" srcOrd="2" destOrd="0" parTransId="{571D1C66-2B0C-4AB7-A2D7-C6D5527FF894}" sibTransId="{571A5A11-CE8D-4C09-B1E7-18C2ABD99E51}"/>
    <dgm:cxn modelId="{D8077130-17DC-46E5-A2D9-F6ED6D15A450}" type="presOf" srcId="{D3B1CA14-90E3-425F-BA97-C2E4B7549AB3}" destId="{3AE1C9EA-BC5A-42D6-A0D1-2B0A8BE8C6BE}" srcOrd="0" destOrd="0" presId="urn:microsoft.com/office/officeart/2005/8/layout/vList2"/>
    <dgm:cxn modelId="{B94BBC3A-8758-409C-BD76-845A00FAAC8D}" srcId="{8F3C5961-251E-4A11-BA71-6CBFDDDCB9A0}" destId="{A2B2EA1C-292E-42D5-972F-C6F5FC163CE7}" srcOrd="0" destOrd="0" parTransId="{60D844D6-A76D-4540-9A93-E35A21E99AD4}" sibTransId="{A86BEDCF-413A-41FB-AFE3-DBEA9F47EBB9}"/>
    <dgm:cxn modelId="{71F7D85D-0707-4621-8D20-2C833088DD2C}" type="presOf" srcId="{08180A4D-7B05-4983-8A44-3A7C01C17E84}" destId="{B1857541-D92F-405A-9531-5BC61184679E}" srcOrd="0" destOrd="0" presId="urn:microsoft.com/office/officeart/2005/8/layout/vList2"/>
    <dgm:cxn modelId="{49061980-2FC7-41CB-895D-F3E82A8ABEA5}" srcId="{984DCF43-947E-4E30-BA19-D3092EA50F0E}" destId="{41065FDD-02FF-4027-A97B-46E696E1A326}" srcOrd="0" destOrd="0" parTransId="{62F1835F-D54A-4FC9-8555-1898F8A0FD0E}" sibTransId="{8BF06B5E-DC9D-4985-9477-E73055A77242}"/>
    <dgm:cxn modelId="{3372C584-A145-4406-94BE-9750501578D6}" srcId="{AA4B08AE-0116-4D2E-869D-6FC24EF4DD4F}" destId="{D3B1CA14-90E3-425F-BA97-C2E4B7549AB3}" srcOrd="0" destOrd="0" parTransId="{BCF6BBE9-A051-459F-8439-BE6C5F1F3BC4}" sibTransId="{29928CB5-B092-4FEC-BF9F-51A9F2CEEFA7}"/>
    <dgm:cxn modelId="{5AD7F385-6E0B-461A-9229-8C06C6310498}" type="presOf" srcId="{60DBB9BC-1831-455F-8711-9995A4B55E1E}" destId="{6656776B-9734-47E3-8D8E-FF00E5D1A21F}" srcOrd="0" destOrd="0" presId="urn:microsoft.com/office/officeart/2005/8/layout/vList2"/>
    <dgm:cxn modelId="{E4665C8B-DB8D-486C-A15C-8C5AC3140AEA}" type="presOf" srcId="{20564865-FFF4-456F-A9E5-C299C3682D6F}" destId="{3AE1C9EA-BC5A-42D6-A0D1-2B0A8BE8C6BE}" srcOrd="0" destOrd="4" presId="urn:microsoft.com/office/officeart/2005/8/layout/vList2"/>
    <dgm:cxn modelId="{6C9F8A8E-57F5-4F59-A905-0575E9ED05D1}" type="presOf" srcId="{C52DA252-8BF0-4138-BAD8-5060FEA3923C}" destId="{3AE1C9EA-BC5A-42D6-A0D1-2B0A8BE8C6BE}" srcOrd="0" destOrd="3" presId="urn:microsoft.com/office/officeart/2005/8/layout/vList2"/>
    <dgm:cxn modelId="{1016EC91-905F-41FC-B793-045811DB6474}" type="presOf" srcId="{A2B2EA1C-292E-42D5-972F-C6F5FC163CE7}" destId="{3AE1C9EA-BC5A-42D6-A0D1-2B0A8BE8C6BE}" srcOrd="0" destOrd="2" presId="urn:microsoft.com/office/officeart/2005/8/layout/vList2"/>
    <dgm:cxn modelId="{85100399-4CB1-4165-BC8C-67F28C05CE1A}" srcId="{8F3C5961-251E-4A11-BA71-6CBFDDDCB9A0}" destId="{C52DA252-8BF0-4138-BAD8-5060FEA3923C}" srcOrd="1" destOrd="0" parTransId="{387CA6BE-5DFA-4F82-B0F8-B649D7443C45}" sibTransId="{C538941A-45D9-4D60-A1E3-7C815E002485}"/>
    <dgm:cxn modelId="{69614C9A-10C5-4632-B7C8-7F2D5A092FFF}" type="presOf" srcId="{D87DB2FC-7FCC-461D-A61B-EF92B542E5CE}" destId="{F88E8A81-5DE4-41C7-BF83-3611A64FB7F2}" srcOrd="0" destOrd="0" presId="urn:microsoft.com/office/officeart/2005/8/layout/vList2"/>
    <dgm:cxn modelId="{8FB6E49B-1022-4D8F-B0F3-6F09729557DE}" srcId="{60DBB9BC-1831-455F-8711-9995A4B55E1E}" destId="{D87DB2FC-7FCC-461D-A61B-EF92B542E5CE}" srcOrd="0" destOrd="0" parTransId="{63590FB5-0682-4C2C-8616-3A3539C6DECF}" sibTransId="{45249D6F-5C42-4657-8414-0AF6D106151B}"/>
    <dgm:cxn modelId="{6AA1CC9E-7AF8-4ACB-9470-D3673CC41F52}" srcId="{984DCF43-947E-4E30-BA19-D3092EA50F0E}" destId="{60DBB9BC-1831-455F-8711-9995A4B55E1E}" srcOrd="1" destOrd="0" parTransId="{95ABE120-8CE9-4449-B856-82794D91230C}" sibTransId="{C6E91CC7-A41A-4763-AD78-E678CC8B734B}"/>
    <dgm:cxn modelId="{368D76A2-8E2A-4F69-B448-969EE0E76010}" srcId="{41065FDD-02FF-4027-A97B-46E696E1A326}" destId="{08180A4D-7B05-4983-8A44-3A7C01C17E84}" srcOrd="0" destOrd="0" parTransId="{D413D01A-AA1B-45F2-B4C7-71C0742FC9DF}" sibTransId="{23B15BA8-D030-4899-A582-62B563FCE445}"/>
    <dgm:cxn modelId="{FC571AB4-BFAC-4CCF-96C3-573D59042D25}" type="presOf" srcId="{5993B6C1-DFCE-4B0F-B3D8-A7B146324FEA}" destId="{B1857541-D92F-405A-9531-5BC61184679E}" srcOrd="0" destOrd="1" presId="urn:microsoft.com/office/officeart/2005/8/layout/vList2"/>
    <dgm:cxn modelId="{D68874C2-C9BA-49C2-8B80-9FDFA08784E6}" type="presOf" srcId="{4AE4A629-85EF-45CB-9BCE-349E04579484}" destId="{B1857541-D92F-405A-9531-5BC61184679E}" srcOrd="0" destOrd="2" presId="urn:microsoft.com/office/officeart/2005/8/layout/vList2"/>
    <dgm:cxn modelId="{85C759C2-B3E3-495F-980E-DCBAA478A1FE}" srcId="{984DCF43-947E-4E30-BA19-D3092EA50F0E}" destId="{AA4B08AE-0116-4D2E-869D-6FC24EF4DD4F}" srcOrd="2" destOrd="0" parTransId="{188EC8B8-30B4-4A60-87AF-114146AA32BE}" sibTransId="{212669AF-8566-4693-A0E5-3AE154CBFA59}"/>
    <dgm:cxn modelId="{BF00DEDD-BF3D-42FB-85F9-4AC2FD47DF25}" type="presOf" srcId="{AA4B08AE-0116-4D2E-869D-6FC24EF4DD4F}" destId="{ED0095B0-1491-48C4-96EC-D45F4FF261EB}" srcOrd="0" destOrd="0" presId="urn:microsoft.com/office/officeart/2005/8/layout/vList2"/>
    <dgm:cxn modelId="{2DF428EC-C6B2-460E-A4B8-D59EB55F015C}" srcId="{41065FDD-02FF-4027-A97B-46E696E1A326}" destId="{5993B6C1-DFCE-4B0F-B3D8-A7B146324FEA}" srcOrd="1" destOrd="0" parTransId="{7AC46C71-F549-486B-85D7-353104765D0E}" sibTransId="{894647F8-0038-4CEA-B523-395425496D32}"/>
    <dgm:cxn modelId="{17CF79ED-2D22-498E-88E3-54F031CF3647}" type="presOf" srcId="{8F3C5961-251E-4A11-BA71-6CBFDDDCB9A0}" destId="{3AE1C9EA-BC5A-42D6-A0D1-2B0A8BE8C6BE}" srcOrd="0" destOrd="1" presId="urn:microsoft.com/office/officeart/2005/8/layout/vList2"/>
    <dgm:cxn modelId="{F65DAFF9-9014-44AE-B655-37C6D5840BDA}" srcId="{AA4B08AE-0116-4D2E-869D-6FC24EF4DD4F}" destId="{8F3C5961-251E-4A11-BA71-6CBFDDDCB9A0}" srcOrd="1" destOrd="0" parTransId="{4F3D6019-16AF-4DA0-B291-B8029F177EC0}" sibTransId="{C4730D23-4786-4D90-A25C-5EECE76E530A}"/>
    <dgm:cxn modelId="{D91FB1FC-4243-42E1-828E-529A1ECD1025}" type="presOf" srcId="{984DCF43-947E-4E30-BA19-D3092EA50F0E}" destId="{7064DD48-1311-4B71-AF73-16006F9BDD32}" srcOrd="0" destOrd="0" presId="urn:microsoft.com/office/officeart/2005/8/layout/vList2"/>
    <dgm:cxn modelId="{F93B5982-6655-4A66-9347-C51DA16D97C4}" type="presParOf" srcId="{7064DD48-1311-4B71-AF73-16006F9BDD32}" destId="{F7365B3E-57DE-4F32-968F-4438446874E3}" srcOrd="0" destOrd="0" presId="urn:microsoft.com/office/officeart/2005/8/layout/vList2"/>
    <dgm:cxn modelId="{9C282B65-4871-43BC-93ED-95C6A463C37F}" type="presParOf" srcId="{7064DD48-1311-4B71-AF73-16006F9BDD32}" destId="{B1857541-D92F-405A-9531-5BC61184679E}" srcOrd="1" destOrd="0" presId="urn:microsoft.com/office/officeart/2005/8/layout/vList2"/>
    <dgm:cxn modelId="{8ACC7766-A592-470C-A78D-68E13AE0FF7E}" type="presParOf" srcId="{7064DD48-1311-4B71-AF73-16006F9BDD32}" destId="{6656776B-9734-47E3-8D8E-FF00E5D1A21F}" srcOrd="2" destOrd="0" presId="urn:microsoft.com/office/officeart/2005/8/layout/vList2"/>
    <dgm:cxn modelId="{5E34A8D9-1FAD-4030-A584-27B5ED1DD9DF}" type="presParOf" srcId="{7064DD48-1311-4B71-AF73-16006F9BDD32}" destId="{F88E8A81-5DE4-41C7-BF83-3611A64FB7F2}" srcOrd="3" destOrd="0" presId="urn:microsoft.com/office/officeart/2005/8/layout/vList2"/>
    <dgm:cxn modelId="{7914F426-154D-4D99-9976-41CD5AF80773}" type="presParOf" srcId="{7064DD48-1311-4B71-AF73-16006F9BDD32}" destId="{ED0095B0-1491-48C4-96EC-D45F4FF261EB}" srcOrd="4" destOrd="0" presId="urn:microsoft.com/office/officeart/2005/8/layout/vList2"/>
    <dgm:cxn modelId="{F17A4294-847B-4D86-8814-6AEC44C9A145}" type="presParOf" srcId="{7064DD48-1311-4B71-AF73-16006F9BDD32}" destId="{3AE1C9EA-BC5A-42D6-A0D1-2B0A8BE8C6B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4DCF43-947E-4E30-BA19-D3092EA50F0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065FDD-02FF-4027-A97B-46E696E1A326}">
      <dgm:prSet/>
      <dgm:spPr/>
      <dgm:t>
        <a:bodyPr/>
        <a:lstStyle/>
        <a:p>
          <a:r>
            <a:rPr lang="en-US" b="1"/>
            <a:t>Depth of the Problem</a:t>
          </a:r>
          <a:endParaRPr lang="en-US"/>
        </a:p>
      </dgm:t>
    </dgm:pt>
    <dgm:pt modelId="{62F1835F-D54A-4FC9-8555-1898F8A0FD0E}" type="parTrans" cxnId="{49061980-2FC7-41CB-895D-F3E82A8ABEA5}">
      <dgm:prSet/>
      <dgm:spPr/>
      <dgm:t>
        <a:bodyPr/>
        <a:lstStyle/>
        <a:p>
          <a:endParaRPr lang="en-US"/>
        </a:p>
      </dgm:t>
    </dgm:pt>
    <dgm:pt modelId="{8BF06B5E-DC9D-4985-9477-E73055A77242}" type="sibTrans" cxnId="{49061980-2FC7-41CB-895D-F3E82A8ABEA5}">
      <dgm:prSet/>
      <dgm:spPr/>
      <dgm:t>
        <a:bodyPr/>
        <a:lstStyle/>
        <a:p>
          <a:endParaRPr lang="en-US"/>
        </a:p>
      </dgm:t>
    </dgm:pt>
    <dgm:pt modelId="{08180A4D-7B05-4983-8A44-3A7C01C17E84}">
      <dgm:prSet/>
      <dgm:spPr/>
      <dgm:t>
        <a:bodyPr/>
        <a:lstStyle/>
        <a:p>
          <a:r>
            <a:rPr lang="en-US"/>
            <a:t>No shared pattern among high-performing orders.</a:t>
          </a:r>
        </a:p>
      </dgm:t>
    </dgm:pt>
    <dgm:pt modelId="{D413D01A-AA1B-45F2-B4C7-71C0742FC9DF}" type="parTrans" cxnId="{368D76A2-8E2A-4F69-B448-969EE0E76010}">
      <dgm:prSet/>
      <dgm:spPr/>
      <dgm:t>
        <a:bodyPr/>
        <a:lstStyle/>
        <a:p>
          <a:endParaRPr lang="en-US"/>
        </a:p>
      </dgm:t>
    </dgm:pt>
    <dgm:pt modelId="{23B15BA8-D030-4899-A582-62B563FCE445}" type="sibTrans" cxnId="{368D76A2-8E2A-4F69-B448-969EE0E76010}">
      <dgm:prSet/>
      <dgm:spPr/>
      <dgm:t>
        <a:bodyPr/>
        <a:lstStyle/>
        <a:p>
          <a:endParaRPr lang="en-US"/>
        </a:p>
      </dgm:t>
    </dgm:pt>
    <dgm:pt modelId="{D87DB2FC-7FCC-461D-A61B-EF92B542E5CE}">
      <dgm:prSet/>
      <dgm:spPr/>
      <dgm:t>
        <a:bodyPr/>
        <a:lstStyle/>
        <a:p>
          <a:r>
            <a:rPr lang="en-US"/>
            <a:t>Use the generative ability of LMs to create an </a:t>
          </a:r>
          <a:r>
            <a:rPr lang="en-US" b="1"/>
            <a:t>artificial, unlabeled dev set</a:t>
          </a:r>
          <a:r>
            <a:rPr lang="en-US"/>
            <a:t>.</a:t>
          </a:r>
        </a:p>
      </dgm:t>
    </dgm:pt>
    <dgm:pt modelId="{63590FB5-0682-4C2C-8616-3A3539C6DECF}" type="parTrans" cxnId="{8FB6E49B-1022-4D8F-B0F3-6F09729557DE}">
      <dgm:prSet/>
      <dgm:spPr/>
      <dgm:t>
        <a:bodyPr/>
        <a:lstStyle/>
        <a:p>
          <a:endParaRPr lang="en-US"/>
        </a:p>
      </dgm:t>
    </dgm:pt>
    <dgm:pt modelId="{45249D6F-5C42-4657-8414-0AF6D106151B}" type="sibTrans" cxnId="{8FB6E49B-1022-4D8F-B0F3-6F09729557DE}">
      <dgm:prSet/>
      <dgm:spPr/>
      <dgm:t>
        <a:bodyPr/>
        <a:lstStyle/>
        <a:p>
          <a:endParaRPr lang="en-US"/>
        </a:p>
      </dgm:t>
    </dgm:pt>
    <dgm:pt modelId="{AA4B08AE-0116-4D2E-869D-6FC24EF4DD4F}">
      <dgm:prSet/>
      <dgm:spPr/>
      <dgm:t>
        <a:bodyPr/>
        <a:lstStyle/>
        <a:p>
          <a:r>
            <a:rPr lang="en-US" b="1"/>
            <a:t>Outcome</a:t>
          </a:r>
          <a:endParaRPr lang="en-US"/>
        </a:p>
      </dgm:t>
    </dgm:pt>
    <dgm:pt modelId="{188EC8B8-30B4-4A60-87AF-114146AA32BE}" type="parTrans" cxnId="{85C759C2-B3E3-495F-980E-DCBAA478A1FE}">
      <dgm:prSet/>
      <dgm:spPr/>
      <dgm:t>
        <a:bodyPr/>
        <a:lstStyle/>
        <a:p>
          <a:endParaRPr lang="en-US"/>
        </a:p>
      </dgm:t>
    </dgm:pt>
    <dgm:pt modelId="{212669AF-8566-4693-A0E5-3AE154CBFA59}" type="sibTrans" cxnId="{85C759C2-B3E3-495F-980E-DCBAA478A1FE}">
      <dgm:prSet/>
      <dgm:spPr/>
      <dgm:t>
        <a:bodyPr/>
        <a:lstStyle/>
        <a:p>
          <a:endParaRPr lang="en-US"/>
        </a:p>
      </dgm:t>
    </dgm:pt>
    <dgm:pt modelId="{D3B1CA14-90E3-425F-BA97-C2E4B7549AB3}">
      <dgm:prSet/>
      <dgm:spPr/>
      <dgm:t>
        <a:bodyPr/>
        <a:lstStyle/>
        <a:p>
          <a:r>
            <a:rPr lang="en-US"/>
            <a:t>Method yields </a:t>
          </a:r>
          <a:r>
            <a:rPr lang="en-US" b="1"/>
            <a:t>~13% relative improvement</a:t>
          </a:r>
          <a:r>
            <a:rPr lang="en-US"/>
            <a:t> across GPT-family models.</a:t>
          </a:r>
        </a:p>
      </dgm:t>
    </dgm:pt>
    <dgm:pt modelId="{BCF6BBE9-A051-459F-8439-BE6C5F1F3BC4}" type="parTrans" cxnId="{3372C584-A145-4406-94BE-9750501578D6}">
      <dgm:prSet/>
      <dgm:spPr/>
      <dgm:t>
        <a:bodyPr/>
        <a:lstStyle/>
        <a:p>
          <a:endParaRPr lang="en-US"/>
        </a:p>
      </dgm:t>
    </dgm:pt>
    <dgm:pt modelId="{29928CB5-B092-4FEC-BF9F-51A9F2CEEFA7}" type="sibTrans" cxnId="{3372C584-A145-4406-94BE-9750501578D6}">
      <dgm:prSet/>
      <dgm:spPr/>
      <dgm:t>
        <a:bodyPr/>
        <a:lstStyle/>
        <a:p>
          <a:endParaRPr lang="en-US"/>
        </a:p>
      </dgm:t>
    </dgm:pt>
    <dgm:pt modelId="{60DBB9BC-1831-455F-8711-9995A4B55E1E}">
      <dgm:prSet/>
      <dgm:spPr/>
      <dgm:t>
        <a:bodyPr/>
        <a:lstStyle/>
        <a:p>
          <a:r>
            <a:rPr lang="en-US" b="1"/>
            <a:t>Proposed Method</a:t>
          </a:r>
          <a:endParaRPr lang="en-US"/>
        </a:p>
      </dgm:t>
    </dgm:pt>
    <dgm:pt modelId="{95ABE120-8CE9-4449-B856-82794D91230C}" type="parTrans" cxnId="{71B063B2-63C8-4388-8C7E-295C50965B0A}">
      <dgm:prSet/>
      <dgm:spPr/>
      <dgm:t>
        <a:bodyPr/>
        <a:lstStyle/>
        <a:p>
          <a:endParaRPr lang="en-US"/>
        </a:p>
      </dgm:t>
    </dgm:pt>
    <dgm:pt modelId="{C6E91CC7-A41A-4763-AD78-E678CC8B734B}" type="sibTrans" cxnId="{71B063B2-63C8-4388-8C7E-295C50965B0A}">
      <dgm:prSet/>
      <dgm:spPr/>
      <dgm:t>
        <a:bodyPr/>
        <a:lstStyle/>
        <a:p>
          <a:endParaRPr lang="en-US"/>
        </a:p>
      </dgm:t>
    </dgm:pt>
    <dgm:pt modelId="{0C57AF96-46F8-452C-A935-043F82E7A53C}">
      <dgm:prSet/>
      <dgm:spPr/>
      <dgm:t>
        <a:bodyPr/>
        <a:lstStyle/>
        <a:p>
          <a:r>
            <a:rPr lang="en-US"/>
            <a:t>In true few-shot settings, no validation set exists → choosing permutations is difficult.</a:t>
          </a:r>
        </a:p>
      </dgm:t>
    </dgm:pt>
    <dgm:pt modelId="{66E1751B-6904-4718-8280-E9311E137492}" type="parTrans" cxnId="{7A833649-C411-47EC-8B9B-49F2CB7B9FFA}">
      <dgm:prSet/>
      <dgm:spPr/>
      <dgm:t>
        <a:bodyPr/>
        <a:lstStyle/>
        <a:p>
          <a:endParaRPr lang="en-GB"/>
        </a:p>
      </dgm:t>
    </dgm:pt>
    <dgm:pt modelId="{91A8CE49-AD94-4524-B6B9-B817BBB2C4B5}" type="sibTrans" cxnId="{7A833649-C411-47EC-8B9B-49F2CB7B9FFA}">
      <dgm:prSet/>
      <dgm:spPr/>
      <dgm:t>
        <a:bodyPr/>
        <a:lstStyle/>
        <a:p>
          <a:endParaRPr lang="en-GB"/>
        </a:p>
      </dgm:t>
    </dgm:pt>
    <dgm:pt modelId="{6314FABB-FBD0-441A-9CDD-98C9BA7BB2D6}">
      <dgm:prSet/>
      <dgm:spPr/>
      <dgm:t>
        <a:bodyPr/>
        <a:lstStyle/>
        <a:p>
          <a:r>
            <a:rPr lang="en-US"/>
            <a:t>Works across model scales and </a:t>
          </a:r>
          <a:r>
            <a:rPr lang="en-US" b="1"/>
            <a:t>11 different classification tasks</a:t>
          </a:r>
          <a:endParaRPr lang="en-GB"/>
        </a:p>
      </dgm:t>
    </dgm:pt>
    <dgm:pt modelId="{57C13680-954E-44CB-8E68-429DCDA22C2B}" type="parTrans" cxnId="{A8C72154-0FFD-463F-9BF5-63219B231956}">
      <dgm:prSet/>
      <dgm:spPr/>
      <dgm:t>
        <a:bodyPr/>
        <a:lstStyle/>
        <a:p>
          <a:endParaRPr lang="en-GB"/>
        </a:p>
      </dgm:t>
    </dgm:pt>
    <dgm:pt modelId="{112FC3AA-AFDD-49BC-9185-29819D7B206D}" type="sibTrans" cxnId="{A8C72154-0FFD-463F-9BF5-63219B231956}">
      <dgm:prSet/>
      <dgm:spPr/>
      <dgm:t>
        <a:bodyPr/>
        <a:lstStyle/>
        <a:p>
          <a:endParaRPr lang="en-GB"/>
        </a:p>
      </dgm:t>
    </dgm:pt>
    <dgm:pt modelId="{87FDAEFC-5124-4057-9708-504050B7AEE5}">
      <dgm:prSet/>
      <dgm:spPr/>
      <dgm:t>
        <a:bodyPr/>
        <a:lstStyle/>
        <a:p>
          <a:r>
            <a:rPr lang="en-US"/>
            <a:t>Evaluate using </a:t>
          </a:r>
          <a:r>
            <a:rPr lang="en-US" b="1"/>
            <a:t>entropy-based metrics</a:t>
          </a:r>
          <a:r>
            <a:rPr lang="en-US"/>
            <a:t>.</a:t>
          </a:r>
        </a:p>
      </dgm:t>
    </dgm:pt>
    <dgm:pt modelId="{E20254BB-9709-49A1-A8CB-CE5AAF1BBD8D}" type="parTrans" cxnId="{A119922F-E277-49D0-94D2-5ED1069905B8}">
      <dgm:prSet/>
      <dgm:spPr/>
      <dgm:t>
        <a:bodyPr/>
        <a:lstStyle/>
        <a:p>
          <a:endParaRPr lang="en-GB"/>
        </a:p>
      </dgm:t>
    </dgm:pt>
    <dgm:pt modelId="{53410882-B32D-4BAA-B3B2-00912F1E58B9}" type="sibTrans" cxnId="{A119922F-E277-49D0-94D2-5ED1069905B8}">
      <dgm:prSet/>
      <dgm:spPr/>
      <dgm:t>
        <a:bodyPr/>
        <a:lstStyle/>
        <a:p>
          <a:endParaRPr lang="en-GB"/>
        </a:p>
      </dgm:t>
    </dgm:pt>
    <dgm:pt modelId="{06773565-5133-4DB1-9D90-62FD9A7CCEFB}">
      <dgm:prSet/>
      <dgm:spPr/>
      <dgm:t>
        <a:bodyPr/>
        <a:lstStyle/>
        <a:p>
          <a:r>
            <a:rPr lang="en-US"/>
            <a:t>Select the highest-scoring permutations automatically.</a:t>
          </a:r>
        </a:p>
      </dgm:t>
    </dgm:pt>
    <dgm:pt modelId="{C0CEE6C9-5BCF-4DEF-9A21-87C6F77ED07B}" type="parTrans" cxnId="{52E3C853-F3FB-4F41-89AE-809C66C74D36}">
      <dgm:prSet/>
      <dgm:spPr/>
      <dgm:t>
        <a:bodyPr/>
        <a:lstStyle/>
        <a:p>
          <a:endParaRPr lang="en-GB"/>
        </a:p>
      </dgm:t>
    </dgm:pt>
    <dgm:pt modelId="{88DEEBB4-1F2B-445E-BE1F-51EEA27BC9CF}" type="sibTrans" cxnId="{52E3C853-F3FB-4F41-89AE-809C66C74D36}">
      <dgm:prSet/>
      <dgm:spPr/>
      <dgm:t>
        <a:bodyPr/>
        <a:lstStyle/>
        <a:p>
          <a:endParaRPr lang="en-GB"/>
        </a:p>
      </dgm:t>
    </dgm:pt>
    <dgm:pt modelId="{7064DD48-1311-4B71-AF73-16006F9BDD32}" type="pres">
      <dgm:prSet presAssocID="{984DCF43-947E-4E30-BA19-D3092EA50F0E}" presName="linear" presStyleCnt="0">
        <dgm:presLayoutVars>
          <dgm:animLvl val="lvl"/>
          <dgm:resizeHandles val="exact"/>
        </dgm:presLayoutVars>
      </dgm:prSet>
      <dgm:spPr/>
    </dgm:pt>
    <dgm:pt modelId="{F7365B3E-57DE-4F32-968F-4438446874E3}" type="pres">
      <dgm:prSet presAssocID="{41065FDD-02FF-4027-A97B-46E696E1A326}" presName="parentText" presStyleLbl="node1" presStyleIdx="0" presStyleCnt="3" custScaleX="99482" custScaleY="80398" custLinFactNeighborX="283" custLinFactNeighborY="-12348">
        <dgm:presLayoutVars>
          <dgm:chMax val="0"/>
          <dgm:bulletEnabled val="1"/>
        </dgm:presLayoutVars>
      </dgm:prSet>
      <dgm:spPr/>
    </dgm:pt>
    <dgm:pt modelId="{B1857541-D92F-405A-9531-5BC61184679E}" type="pres">
      <dgm:prSet presAssocID="{41065FDD-02FF-4027-A97B-46E696E1A326}" presName="childText" presStyleLbl="revTx" presStyleIdx="0" presStyleCnt="3">
        <dgm:presLayoutVars>
          <dgm:bulletEnabled val="1"/>
        </dgm:presLayoutVars>
      </dgm:prSet>
      <dgm:spPr/>
    </dgm:pt>
    <dgm:pt modelId="{6656776B-9734-47E3-8D8E-FF00E5D1A21F}" type="pres">
      <dgm:prSet presAssocID="{60DBB9BC-1831-455F-8711-9995A4B55E1E}" presName="parentText" presStyleLbl="node1" presStyleIdx="1" presStyleCnt="3" custScaleY="85637" custLinFactNeighborX="542" custLinFactNeighborY="-10005">
        <dgm:presLayoutVars>
          <dgm:chMax val="0"/>
          <dgm:bulletEnabled val="1"/>
        </dgm:presLayoutVars>
      </dgm:prSet>
      <dgm:spPr/>
    </dgm:pt>
    <dgm:pt modelId="{F88E8A81-5DE4-41C7-BF83-3611A64FB7F2}" type="pres">
      <dgm:prSet presAssocID="{60DBB9BC-1831-455F-8711-9995A4B55E1E}" presName="childText" presStyleLbl="revTx" presStyleIdx="1" presStyleCnt="3">
        <dgm:presLayoutVars>
          <dgm:bulletEnabled val="1"/>
        </dgm:presLayoutVars>
      </dgm:prSet>
      <dgm:spPr/>
    </dgm:pt>
    <dgm:pt modelId="{ED0095B0-1491-48C4-96EC-D45F4FF261EB}" type="pres">
      <dgm:prSet presAssocID="{AA4B08AE-0116-4D2E-869D-6FC24EF4DD4F}" presName="parentText" presStyleLbl="node1" presStyleIdx="2" presStyleCnt="3" custScaleY="86469" custLinFactNeighborY="-19245">
        <dgm:presLayoutVars>
          <dgm:chMax val="0"/>
          <dgm:bulletEnabled val="1"/>
        </dgm:presLayoutVars>
      </dgm:prSet>
      <dgm:spPr/>
    </dgm:pt>
    <dgm:pt modelId="{3AE1C9EA-BC5A-42D6-A0D1-2B0A8BE8C6BE}" type="pres">
      <dgm:prSet presAssocID="{AA4B08AE-0116-4D2E-869D-6FC24EF4DD4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6887021-B6D7-45CF-9C0B-7CBFBB1E2242}" type="presOf" srcId="{0C57AF96-46F8-452C-A935-043F82E7A53C}" destId="{B1857541-D92F-405A-9531-5BC61184679E}" srcOrd="0" destOrd="1" presId="urn:microsoft.com/office/officeart/2005/8/layout/vList2"/>
    <dgm:cxn modelId="{25E46728-3F7E-491E-898C-1AF07155C2FA}" type="presOf" srcId="{6314FABB-FBD0-441A-9CDD-98C9BA7BB2D6}" destId="{3AE1C9EA-BC5A-42D6-A0D1-2B0A8BE8C6BE}" srcOrd="0" destOrd="1" presId="urn:microsoft.com/office/officeart/2005/8/layout/vList2"/>
    <dgm:cxn modelId="{A119922F-E277-49D0-94D2-5ED1069905B8}" srcId="{60DBB9BC-1831-455F-8711-9995A4B55E1E}" destId="{87FDAEFC-5124-4057-9708-504050B7AEE5}" srcOrd="1" destOrd="0" parTransId="{E20254BB-9709-49A1-A8CB-CE5AAF1BBD8D}" sibTransId="{53410882-B32D-4BAA-B3B2-00912F1E58B9}"/>
    <dgm:cxn modelId="{890D9D42-336E-44AD-A4FD-8544FDC790CE}" type="presOf" srcId="{06773565-5133-4DB1-9D90-62FD9A7CCEFB}" destId="{F88E8A81-5DE4-41C7-BF83-3611A64FB7F2}" srcOrd="0" destOrd="2" presId="urn:microsoft.com/office/officeart/2005/8/layout/vList2"/>
    <dgm:cxn modelId="{7A833649-C411-47EC-8B9B-49F2CB7B9FFA}" srcId="{41065FDD-02FF-4027-A97B-46E696E1A326}" destId="{0C57AF96-46F8-452C-A935-043F82E7A53C}" srcOrd="1" destOrd="0" parTransId="{66E1751B-6904-4718-8280-E9311E137492}" sibTransId="{91A8CE49-AD94-4524-B6B9-B817BBB2C4B5}"/>
    <dgm:cxn modelId="{956BC74D-98A5-4358-9180-BFF469E8C283}" type="presOf" srcId="{08180A4D-7B05-4983-8A44-3A7C01C17E84}" destId="{B1857541-D92F-405A-9531-5BC61184679E}" srcOrd="0" destOrd="0" presId="urn:microsoft.com/office/officeart/2005/8/layout/vList2"/>
    <dgm:cxn modelId="{52E3C853-F3FB-4F41-89AE-809C66C74D36}" srcId="{60DBB9BC-1831-455F-8711-9995A4B55E1E}" destId="{06773565-5133-4DB1-9D90-62FD9A7CCEFB}" srcOrd="2" destOrd="0" parTransId="{C0CEE6C9-5BCF-4DEF-9A21-87C6F77ED07B}" sibTransId="{88DEEBB4-1F2B-445E-BE1F-51EEA27BC9CF}"/>
    <dgm:cxn modelId="{A8C72154-0FFD-463F-9BF5-63219B231956}" srcId="{AA4B08AE-0116-4D2E-869D-6FC24EF4DD4F}" destId="{6314FABB-FBD0-441A-9CDD-98C9BA7BB2D6}" srcOrd="1" destOrd="0" parTransId="{57C13680-954E-44CB-8E68-429DCDA22C2B}" sibTransId="{112FC3AA-AFDD-49BC-9185-29819D7B206D}"/>
    <dgm:cxn modelId="{1F62A276-10EF-4E72-B1C9-C99A5D037E1B}" type="presOf" srcId="{D87DB2FC-7FCC-461D-A61B-EF92B542E5CE}" destId="{F88E8A81-5DE4-41C7-BF83-3611A64FB7F2}" srcOrd="0" destOrd="0" presId="urn:microsoft.com/office/officeart/2005/8/layout/vList2"/>
    <dgm:cxn modelId="{36AE057B-096E-49B8-9D2E-434568324346}" type="presOf" srcId="{60DBB9BC-1831-455F-8711-9995A4B55E1E}" destId="{6656776B-9734-47E3-8D8E-FF00E5D1A21F}" srcOrd="0" destOrd="0" presId="urn:microsoft.com/office/officeart/2005/8/layout/vList2"/>
    <dgm:cxn modelId="{49061980-2FC7-41CB-895D-F3E82A8ABEA5}" srcId="{984DCF43-947E-4E30-BA19-D3092EA50F0E}" destId="{41065FDD-02FF-4027-A97B-46E696E1A326}" srcOrd="0" destOrd="0" parTransId="{62F1835F-D54A-4FC9-8555-1898F8A0FD0E}" sibTransId="{8BF06B5E-DC9D-4985-9477-E73055A77242}"/>
    <dgm:cxn modelId="{3372C584-A145-4406-94BE-9750501578D6}" srcId="{AA4B08AE-0116-4D2E-869D-6FC24EF4DD4F}" destId="{D3B1CA14-90E3-425F-BA97-C2E4B7549AB3}" srcOrd="0" destOrd="0" parTransId="{BCF6BBE9-A051-459F-8439-BE6C5F1F3BC4}" sibTransId="{29928CB5-B092-4FEC-BF9F-51A9F2CEEFA7}"/>
    <dgm:cxn modelId="{CFA0AE9B-BFF8-4B5D-A93B-9C8326EA41A0}" type="presOf" srcId="{87FDAEFC-5124-4057-9708-504050B7AEE5}" destId="{F88E8A81-5DE4-41C7-BF83-3611A64FB7F2}" srcOrd="0" destOrd="1" presId="urn:microsoft.com/office/officeart/2005/8/layout/vList2"/>
    <dgm:cxn modelId="{8FB6E49B-1022-4D8F-B0F3-6F09729557DE}" srcId="{60DBB9BC-1831-455F-8711-9995A4B55E1E}" destId="{D87DB2FC-7FCC-461D-A61B-EF92B542E5CE}" srcOrd="0" destOrd="0" parTransId="{63590FB5-0682-4C2C-8616-3A3539C6DECF}" sibTransId="{45249D6F-5C42-4657-8414-0AF6D106151B}"/>
    <dgm:cxn modelId="{368D76A2-8E2A-4F69-B448-969EE0E76010}" srcId="{41065FDD-02FF-4027-A97B-46E696E1A326}" destId="{08180A4D-7B05-4983-8A44-3A7C01C17E84}" srcOrd="0" destOrd="0" parTransId="{D413D01A-AA1B-45F2-B4C7-71C0742FC9DF}" sibTransId="{23B15BA8-D030-4899-A582-62B563FCE445}"/>
    <dgm:cxn modelId="{71B063B2-63C8-4388-8C7E-295C50965B0A}" srcId="{984DCF43-947E-4E30-BA19-D3092EA50F0E}" destId="{60DBB9BC-1831-455F-8711-9995A4B55E1E}" srcOrd="1" destOrd="0" parTransId="{95ABE120-8CE9-4449-B856-82794D91230C}" sibTransId="{C6E91CC7-A41A-4763-AD78-E678CC8B734B}"/>
    <dgm:cxn modelId="{85C759C2-B3E3-495F-980E-DCBAA478A1FE}" srcId="{984DCF43-947E-4E30-BA19-D3092EA50F0E}" destId="{AA4B08AE-0116-4D2E-869D-6FC24EF4DD4F}" srcOrd="2" destOrd="0" parTransId="{188EC8B8-30B4-4A60-87AF-114146AA32BE}" sibTransId="{212669AF-8566-4693-A0E5-3AE154CBFA59}"/>
    <dgm:cxn modelId="{54F473C4-D636-452F-AF75-A0DA2DAA9CF4}" type="presOf" srcId="{AA4B08AE-0116-4D2E-869D-6FC24EF4DD4F}" destId="{ED0095B0-1491-48C4-96EC-D45F4FF261EB}" srcOrd="0" destOrd="0" presId="urn:microsoft.com/office/officeart/2005/8/layout/vList2"/>
    <dgm:cxn modelId="{4E3C05CB-7FB8-4E78-9B78-6816F8B65A5A}" type="presOf" srcId="{D3B1CA14-90E3-425F-BA97-C2E4B7549AB3}" destId="{3AE1C9EA-BC5A-42D6-A0D1-2B0A8BE8C6BE}" srcOrd="0" destOrd="0" presId="urn:microsoft.com/office/officeart/2005/8/layout/vList2"/>
    <dgm:cxn modelId="{2F2224E9-1240-408F-9FAD-2DF988D33C9D}" type="presOf" srcId="{41065FDD-02FF-4027-A97B-46E696E1A326}" destId="{F7365B3E-57DE-4F32-968F-4438446874E3}" srcOrd="0" destOrd="0" presId="urn:microsoft.com/office/officeart/2005/8/layout/vList2"/>
    <dgm:cxn modelId="{D91FB1FC-4243-42E1-828E-529A1ECD1025}" type="presOf" srcId="{984DCF43-947E-4E30-BA19-D3092EA50F0E}" destId="{7064DD48-1311-4B71-AF73-16006F9BDD32}" srcOrd="0" destOrd="0" presId="urn:microsoft.com/office/officeart/2005/8/layout/vList2"/>
    <dgm:cxn modelId="{7115C95B-95CE-4CAD-A333-2D4EE675A860}" type="presParOf" srcId="{7064DD48-1311-4B71-AF73-16006F9BDD32}" destId="{F7365B3E-57DE-4F32-968F-4438446874E3}" srcOrd="0" destOrd="0" presId="urn:microsoft.com/office/officeart/2005/8/layout/vList2"/>
    <dgm:cxn modelId="{3603B919-6E72-403F-804E-9D02D0AD7AAC}" type="presParOf" srcId="{7064DD48-1311-4B71-AF73-16006F9BDD32}" destId="{B1857541-D92F-405A-9531-5BC61184679E}" srcOrd="1" destOrd="0" presId="urn:microsoft.com/office/officeart/2005/8/layout/vList2"/>
    <dgm:cxn modelId="{31BA6463-F749-4C6A-9AD5-E26F67AA9255}" type="presParOf" srcId="{7064DD48-1311-4B71-AF73-16006F9BDD32}" destId="{6656776B-9734-47E3-8D8E-FF00E5D1A21F}" srcOrd="2" destOrd="0" presId="urn:microsoft.com/office/officeart/2005/8/layout/vList2"/>
    <dgm:cxn modelId="{B2AF4428-0755-4AF2-9C49-5AE17D6E1DBD}" type="presParOf" srcId="{7064DD48-1311-4B71-AF73-16006F9BDD32}" destId="{F88E8A81-5DE4-41C7-BF83-3611A64FB7F2}" srcOrd="3" destOrd="0" presId="urn:microsoft.com/office/officeart/2005/8/layout/vList2"/>
    <dgm:cxn modelId="{D3E1EFB6-9D6A-41E6-9533-8ABCF2C5CD12}" type="presParOf" srcId="{7064DD48-1311-4B71-AF73-16006F9BDD32}" destId="{ED0095B0-1491-48C4-96EC-D45F4FF261EB}" srcOrd="4" destOrd="0" presId="urn:microsoft.com/office/officeart/2005/8/layout/vList2"/>
    <dgm:cxn modelId="{A1B9DD9D-B21B-4017-9887-006DBFDB4925}" type="presParOf" srcId="{7064DD48-1311-4B71-AF73-16006F9BDD32}" destId="{3AE1C9EA-BC5A-42D6-A0D1-2B0A8BE8C6B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24CE73-5736-4A25-B217-40E3B282AD8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7E86CC-5836-49E0-8A60-481570900260}">
      <dgm:prSet/>
      <dgm:spPr/>
      <dgm:t>
        <a:bodyPr/>
        <a:lstStyle/>
        <a:p>
          <a:r>
            <a:rPr lang="en-US" i="0" baseline="0"/>
            <a:t>Larger models don’t eliminate variance.</a:t>
          </a:r>
          <a:endParaRPr lang="en-US"/>
        </a:p>
      </dgm:t>
    </dgm:pt>
    <dgm:pt modelId="{12C1CB2E-BC07-463B-B812-9FE670D6BD73}" type="parTrans" cxnId="{987F6993-D4CA-45CD-A5B1-175AB73ED214}">
      <dgm:prSet/>
      <dgm:spPr/>
      <dgm:t>
        <a:bodyPr/>
        <a:lstStyle/>
        <a:p>
          <a:endParaRPr lang="en-US"/>
        </a:p>
      </dgm:t>
    </dgm:pt>
    <dgm:pt modelId="{EAB68484-F8D2-4756-8CE1-150EA0A12691}" type="sibTrans" cxnId="{987F6993-D4CA-45CD-A5B1-175AB73ED214}">
      <dgm:prSet/>
      <dgm:spPr/>
      <dgm:t>
        <a:bodyPr/>
        <a:lstStyle/>
        <a:p>
          <a:endParaRPr lang="en-US"/>
        </a:p>
      </dgm:t>
    </dgm:pt>
    <dgm:pt modelId="{08F13CFF-471C-4439-8269-FAFE8A3959F7}">
      <dgm:prSet/>
      <dgm:spPr/>
      <dgm:t>
        <a:bodyPr/>
        <a:lstStyle/>
        <a:p>
          <a:r>
            <a:rPr lang="en-US" i="0" baseline="0"/>
            <a:t>Order sensitivity persists across all sizes (GPT-2 → GPT-3).</a:t>
          </a:r>
          <a:endParaRPr lang="en-US"/>
        </a:p>
      </dgm:t>
    </dgm:pt>
    <dgm:pt modelId="{441C1498-F6E0-4F9B-B65E-5ECF8012A48F}" type="parTrans" cxnId="{C8BEED7A-6D5F-4F2A-AD96-F6F34818612F}">
      <dgm:prSet/>
      <dgm:spPr/>
      <dgm:t>
        <a:bodyPr/>
        <a:lstStyle/>
        <a:p>
          <a:endParaRPr lang="en-US"/>
        </a:p>
      </dgm:t>
    </dgm:pt>
    <dgm:pt modelId="{C89A4B8E-E8C4-44AB-801B-C47D4D5EAADC}" type="sibTrans" cxnId="{C8BEED7A-6D5F-4F2A-AD96-F6F34818612F}">
      <dgm:prSet/>
      <dgm:spPr/>
      <dgm:t>
        <a:bodyPr/>
        <a:lstStyle/>
        <a:p>
          <a:endParaRPr lang="en-US"/>
        </a:p>
      </dgm:t>
    </dgm:pt>
    <dgm:pt modelId="{C5C71BDB-5678-43A6-9230-CC77B387DA68}">
      <dgm:prSet/>
      <dgm:spPr/>
      <dgm:t>
        <a:bodyPr/>
        <a:lstStyle/>
        <a:p>
          <a:r>
            <a:rPr lang="en-US" i="0" baseline="0"/>
            <a:t>Same examples, different orders → large accuracy shifts.</a:t>
          </a:r>
          <a:endParaRPr lang="en-US"/>
        </a:p>
      </dgm:t>
    </dgm:pt>
    <dgm:pt modelId="{7C409409-33A8-4574-8305-F6037B321839}" type="parTrans" cxnId="{6AEF712B-26B7-4C1A-B170-A2584A1BD7BD}">
      <dgm:prSet/>
      <dgm:spPr/>
      <dgm:t>
        <a:bodyPr/>
        <a:lstStyle/>
        <a:p>
          <a:endParaRPr lang="en-US"/>
        </a:p>
      </dgm:t>
    </dgm:pt>
    <dgm:pt modelId="{08974060-B9C2-4353-8F6E-77208E610D03}" type="sibTrans" cxnId="{6AEF712B-26B7-4C1A-B170-A2584A1BD7BD}">
      <dgm:prSet/>
      <dgm:spPr/>
      <dgm:t>
        <a:bodyPr/>
        <a:lstStyle/>
        <a:p>
          <a:endParaRPr lang="en-US"/>
        </a:p>
      </dgm:t>
    </dgm:pt>
    <dgm:pt modelId="{039A93CC-1F18-45B3-9549-E88B28498874}">
      <dgm:prSet/>
      <dgm:spPr/>
      <dgm:t>
        <a:bodyPr/>
        <a:lstStyle/>
        <a:p>
          <a:r>
            <a:rPr lang="en-US" i="0" baseline="0"/>
            <a:t>Bigger models improve accuracy but variance stays high.</a:t>
          </a:r>
          <a:endParaRPr lang="en-US"/>
        </a:p>
      </dgm:t>
    </dgm:pt>
    <dgm:pt modelId="{5294496E-B953-4A22-A0FF-11406B070136}" type="parTrans" cxnId="{F5278436-5B4F-4BCF-811A-1311B1384902}">
      <dgm:prSet/>
      <dgm:spPr/>
      <dgm:t>
        <a:bodyPr/>
        <a:lstStyle/>
        <a:p>
          <a:endParaRPr lang="en-US"/>
        </a:p>
      </dgm:t>
    </dgm:pt>
    <dgm:pt modelId="{8DBE7FFC-B049-4737-BDE2-E3D1450199A6}" type="sibTrans" cxnId="{F5278436-5B4F-4BCF-811A-1311B1384902}">
      <dgm:prSet/>
      <dgm:spPr/>
      <dgm:t>
        <a:bodyPr/>
        <a:lstStyle/>
        <a:p>
          <a:endParaRPr lang="en-US"/>
        </a:p>
      </dgm:t>
    </dgm:pt>
    <dgm:pt modelId="{EDBF28FE-BF22-48DC-8AD1-995989645870}">
      <dgm:prSet/>
      <dgm:spPr/>
      <dgm:t>
        <a:bodyPr/>
        <a:lstStyle/>
        <a:p>
          <a:r>
            <a:rPr lang="en-US" i="0" baseline="0"/>
            <a:t>Even near-perfect prompts can drop to random performance with reordering.</a:t>
          </a:r>
          <a:endParaRPr lang="en-US"/>
        </a:p>
      </dgm:t>
    </dgm:pt>
    <dgm:pt modelId="{5CC929A9-EFC2-480B-B2F6-32548DAE7E80}" type="parTrans" cxnId="{CC461EEB-495F-49E7-A210-B358B15703A3}">
      <dgm:prSet/>
      <dgm:spPr/>
      <dgm:t>
        <a:bodyPr/>
        <a:lstStyle/>
        <a:p>
          <a:endParaRPr lang="en-US"/>
        </a:p>
      </dgm:t>
    </dgm:pt>
    <dgm:pt modelId="{19A1C3F0-25AD-4797-BD75-B7A13B9869FE}" type="sibTrans" cxnId="{CC461EEB-495F-49E7-A210-B358B15703A3}">
      <dgm:prSet/>
      <dgm:spPr/>
      <dgm:t>
        <a:bodyPr/>
        <a:lstStyle/>
        <a:p>
          <a:endParaRPr lang="en-US"/>
        </a:p>
      </dgm:t>
    </dgm:pt>
    <dgm:pt modelId="{E8556DA5-55F5-4E4E-B8FE-93EEDF723BDF}" type="pres">
      <dgm:prSet presAssocID="{7424CE73-5736-4A25-B217-40E3B282AD82}" presName="outerComposite" presStyleCnt="0">
        <dgm:presLayoutVars>
          <dgm:chMax val="5"/>
          <dgm:dir/>
          <dgm:resizeHandles val="exact"/>
        </dgm:presLayoutVars>
      </dgm:prSet>
      <dgm:spPr/>
    </dgm:pt>
    <dgm:pt modelId="{C0D4844D-8E37-46EC-B2FC-DDE1C8003860}" type="pres">
      <dgm:prSet presAssocID="{7424CE73-5736-4A25-B217-40E3B282AD82}" presName="dummyMaxCanvas" presStyleCnt="0">
        <dgm:presLayoutVars/>
      </dgm:prSet>
      <dgm:spPr/>
    </dgm:pt>
    <dgm:pt modelId="{2B913ABB-D08F-4A72-A31B-1C07944F2E62}" type="pres">
      <dgm:prSet presAssocID="{7424CE73-5736-4A25-B217-40E3B282AD82}" presName="FiveNodes_1" presStyleLbl="node1" presStyleIdx="0" presStyleCnt="5">
        <dgm:presLayoutVars>
          <dgm:bulletEnabled val="1"/>
        </dgm:presLayoutVars>
      </dgm:prSet>
      <dgm:spPr/>
    </dgm:pt>
    <dgm:pt modelId="{1481DF2A-8BA4-4DFE-8E44-6C57D35A4CCF}" type="pres">
      <dgm:prSet presAssocID="{7424CE73-5736-4A25-B217-40E3B282AD82}" presName="FiveNodes_2" presStyleLbl="node1" presStyleIdx="1" presStyleCnt="5">
        <dgm:presLayoutVars>
          <dgm:bulletEnabled val="1"/>
        </dgm:presLayoutVars>
      </dgm:prSet>
      <dgm:spPr/>
    </dgm:pt>
    <dgm:pt modelId="{AA9C39A6-7502-48AD-8FAD-74CB8EB3D71B}" type="pres">
      <dgm:prSet presAssocID="{7424CE73-5736-4A25-B217-40E3B282AD82}" presName="FiveNodes_3" presStyleLbl="node1" presStyleIdx="2" presStyleCnt="5">
        <dgm:presLayoutVars>
          <dgm:bulletEnabled val="1"/>
        </dgm:presLayoutVars>
      </dgm:prSet>
      <dgm:spPr/>
    </dgm:pt>
    <dgm:pt modelId="{6696DD4B-D3B2-49BC-ADBC-E49E8105D0A5}" type="pres">
      <dgm:prSet presAssocID="{7424CE73-5736-4A25-B217-40E3B282AD82}" presName="FiveNodes_4" presStyleLbl="node1" presStyleIdx="3" presStyleCnt="5">
        <dgm:presLayoutVars>
          <dgm:bulletEnabled val="1"/>
        </dgm:presLayoutVars>
      </dgm:prSet>
      <dgm:spPr/>
    </dgm:pt>
    <dgm:pt modelId="{36FA2D6D-79AA-4FA2-9C3B-178CACD35A33}" type="pres">
      <dgm:prSet presAssocID="{7424CE73-5736-4A25-B217-40E3B282AD82}" presName="FiveNodes_5" presStyleLbl="node1" presStyleIdx="4" presStyleCnt="5">
        <dgm:presLayoutVars>
          <dgm:bulletEnabled val="1"/>
        </dgm:presLayoutVars>
      </dgm:prSet>
      <dgm:spPr/>
    </dgm:pt>
    <dgm:pt modelId="{3B71BBCE-9D1C-4931-9E36-B72B51CC34B5}" type="pres">
      <dgm:prSet presAssocID="{7424CE73-5736-4A25-B217-40E3B282AD82}" presName="FiveConn_1-2" presStyleLbl="fgAccFollowNode1" presStyleIdx="0" presStyleCnt="4">
        <dgm:presLayoutVars>
          <dgm:bulletEnabled val="1"/>
        </dgm:presLayoutVars>
      </dgm:prSet>
      <dgm:spPr/>
    </dgm:pt>
    <dgm:pt modelId="{FD6A3E03-B11B-4306-94A7-D3EB989D8472}" type="pres">
      <dgm:prSet presAssocID="{7424CE73-5736-4A25-B217-40E3B282AD82}" presName="FiveConn_2-3" presStyleLbl="fgAccFollowNode1" presStyleIdx="1" presStyleCnt="4">
        <dgm:presLayoutVars>
          <dgm:bulletEnabled val="1"/>
        </dgm:presLayoutVars>
      </dgm:prSet>
      <dgm:spPr/>
    </dgm:pt>
    <dgm:pt modelId="{F3ACBC9F-8D3B-4A6C-AEF1-B54F115ED983}" type="pres">
      <dgm:prSet presAssocID="{7424CE73-5736-4A25-B217-40E3B282AD82}" presName="FiveConn_3-4" presStyleLbl="fgAccFollowNode1" presStyleIdx="2" presStyleCnt="4">
        <dgm:presLayoutVars>
          <dgm:bulletEnabled val="1"/>
        </dgm:presLayoutVars>
      </dgm:prSet>
      <dgm:spPr/>
    </dgm:pt>
    <dgm:pt modelId="{27C5CCE7-1059-40D0-B8F5-A83BC3DB236F}" type="pres">
      <dgm:prSet presAssocID="{7424CE73-5736-4A25-B217-40E3B282AD82}" presName="FiveConn_4-5" presStyleLbl="fgAccFollowNode1" presStyleIdx="3" presStyleCnt="4">
        <dgm:presLayoutVars>
          <dgm:bulletEnabled val="1"/>
        </dgm:presLayoutVars>
      </dgm:prSet>
      <dgm:spPr/>
    </dgm:pt>
    <dgm:pt modelId="{D330F817-E106-4E1C-8C62-EE6C76FA71CE}" type="pres">
      <dgm:prSet presAssocID="{7424CE73-5736-4A25-B217-40E3B282AD82}" presName="FiveNodes_1_text" presStyleLbl="node1" presStyleIdx="4" presStyleCnt="5">
        <dgm:presLayoutVars>
          <dgm:bulletEnabled val="1"/>
        </dgm:presLayoutVars>
      </dgm:prSet>
      <dgm:spPr/>
    </dgm:pt>
    <dgm:pt modelId="{391C656F-65DE-48DD-BAEF-AB0FBA63E5A3}" type="pres">
      <dgm:prSet presAssocID="{7424CE73-5736-4A25-B217-40E3B282AD82}" presName="FiveNodes_2_text" presStyleLbl="node1" presStyleIdx="4" presStyleCnt="5">
        <dgm:presLayoutVars>
          <dgm:bulletEnabled val="1"/>
        </dgm:presLayoutVars>
      </dgm:prSet>
      <dgm:spPr/>
    </dgm:pt>
    <dgm:pt modelId="{2744DDEF-F37B-407F-AB5B-A3B54192D7FA}" type="pres">
      <dgm:prSet presAssocID="{7424CE73-5736-4A25-B217-40E3B282AD82}" presName="FiveNodes_3_text" presStyleLbl="node1" presStyleIdx="4" presStyleCnt="5">
        <dgm:presLayoutVars>
          <dgm:bulletEnabled val="1"/>
        </dgm:presLayoutVars>
      </dgm:prSet>
      <dgm:spPr/>
    </dgm:pt>
    <dgm:pt modelId="{42025B3A-9453-43C1-9E6B-7845BC8DC6F8}" type="pres">
      <dgm:prSet presAssocID="{7424CE73-5736-4A25-B217-40E3B282AD82}" presName="FiveNodes_4_text" presStyleLbl="node1" presStyleIdx="4" presStyleCnt="5">
        <dgm:presLayoutVars>
          <dgm:bulletEnabled val="1"/>
        </dgm:presLayoutVars>
      </dgm:prSet>
      <dgm:spPr/>
    </dgm:pt>
    <dgm:pt modelId="{25AAE1C4-C619-4C1C-B01E-4BD75C7483AB}" type="pres">
      <dgm:prSet presAssocID="{7424CE73-5736-4A25-B217-40E3B282AD8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3886316-9C5E-4238-9D48-30CB61B8FB0A}" type="presOf" srcId="{EDBF28FE-BF22-48DC-8AD1-995989645870}" destId="{36FA2D6D-79AA-4FA2-9C3B-178CACD35A33}" srcOrd="0" destOrd="0" presId="urn:microsoft.com/office/officeart/2005/8/layout/vProcess5"/>
    <dgm:cxn modelId="{8DD4E017-D32F-4128-AD88-FA416B698751}" type="presOf" srcId="{08974060-B9C2-4353-8F6E-77208E610D03}" destId="{F3ACBC9F-8D3B-4A6C-AEF1-B54F115ED983}" srcOrd="0" destOrd="0" presId="urn:microsoft.com/office/officeart/2005/8/layout/vProcess5"/>
    <dgm:cxn modelId="{6AEF712B-26B7-4C1A-B170-A2584A1BD7BD}" srcId="{7424CE73-5736-4A25-B217-40E3B282AD82}" destId="{C5C71BDB-5678-43A6-9230-CC77B387DA68}" srcOrd="2" destOrd="0" parTransId="{7C409409-33A8-4574-8305-F6037B321839}" sibTransId="{08974060-B9C2-4353-8F6E-77208E610D03}"/>
    <dgm:cxn modelId="{F5278436-5B4F-4BCF-811A-1311B1384902}" srcId="{7424CE73-5736-4A25-B217-40E3B282AD82}" destId="{039A93CC-1F18-45B3-9549-E88B28498874}" srcOrd="3" destOrd="0" parTransId="{5294496E-B953-4A22-A0FF-11406B070136}" sibTransId="{8DBE7FFC-B049-4737-BDE2-E3D1450199A6}"/>
    <dgm:cxn modelId="{B9BFCA44-FECF-44F1-8514-515A82D1F671}" type="presOf" srcId="{C5C71BDB-5678-43A6-9230-CC77B387DA68}" destId="{AA9C39A6-7502-48AD-8FAD-74CB8EB3D71B}" srcOrd="0" destOrd="0" presId="urn:microsoft.com/office/officeart/2005/8/layout/vProcess5"/>
    <dgm:cxn modelId="{70767068-AD28-4FB6-9937-2A37AF3AC5B6}" type="presOf" srcId="{EDBF28FE-BF22-48DC-8AD1-995989645870}" destId="{25AAE1C4-C619-4C1C-B01E-4BD75C7483AB}" srcOrd="1" destOrd="0" presId="urn:microsoft.com/office/officeart/2005/8/layout/vProcess5"/>
    <dgm:cxn modelId="{4178B472-2BCE-47BA-A3C7-F14F3CB78C4F}" type="presOf" srcId="{039A93CC-1F18-45B3-9549-E88B28498874}" destId="{6696DD4B-D3B2-49BC-ADBC-E49E8105D0A5}" srcOrd="0" destOrd="0" presId="urn:microsoft.com/office/officeart/2005/8/layout/vProcess5"/>
    <dgm:cxn modelId="{2EE88173-FE77-47EA-8C52-96F457A66CB4}" type="presOf" srcId="{C5C71BDB-5678-43A6-9230-CC77B387DA68}" destId="{2744DDEF-F37B-407F-AB5B-A3B54192D7FA}" srcOrd="1" destOrd="0" presId="urn:microsoft.com/office/officeart/2005/8/layout/vProcess5"/>
    <dgm:cxn modelId="{C8BEED7A-6D5F-4F2A-AD96-F6F34818612F}" srcId="{7424CE73-5736-4A25-B217-40E3B282AD82}" destId="{08F13CFF-471C-4439-8269-FAFE8A3959F7}" srcOrd="1" destOrd="0" parTransId="{441C1498-F6E0-4F9B-B65E-5ECF8012A48F}" sibTransId="{C89A4B8E-E8C4-44AB-801B-C47D4D5EAADC}"/>
    <dgm:cxn modelId="{02AD587C-CEFA-41E0-89ED-6EF0BA33F671}" type="presOf" srcId="{8DBE7FFC-B049-4737-BDE2-E3D1450199A6}" destId="{27C5CCE7-1059-40D0-B8F5-A83BC3DB236F}" srcOrd="0" destOrd="0" presId="urn:microsoft.com/office/officeart/2005/8/layout/vProcess5"/>
    <dgm:cxn modelId="{987F6993-D4CA-45CD-A5B1-175AB73ED214}" srcId="{7424CE73-5736-4A25-B217-40E3B282AD82}" destId="{F67E86CC-5836-49E0-8A60-481570900260}" srcOrd="0" destOrd="0" parTransId="{12C1CB2E-BC07-463B-B812-9FE670D6BD73}" sibTransId="{EAB68484-F8D2-4756-8CE1-150EA0A12691}"/>
    <dgm:cxn modelId="{ED8EB494-45D2-4CDA-BA8B-37C5EDAAC49B}" type="presOf" srcId="{F67E86CC-5836-49E0-8A60-481570900260}" destId="{2B913ABB-D08F-4A72-A31B-1C07944F2E62}" srcOrd="0" destOrd="0" presId="urn:microsoft.com/office/officeart/2005/8/layout/vProcess5"/>
    <dgm:cxn modelId="{48DD8EAB-9686-4199-B1CC-088AC09A8BD1}" type="presOf" srcId="{08F13CFF-471C-4439-8269-FAFE8A3959F7}" destId="{1481DF2A-8BA4-4DFE-8E44-6C57D35A4CCF}" srcOrd="0" destOrd="0" presId="urn:microsoft.com/office/officeart/2005/8/layout/vProcess5"/>
    <dgm:cxn modelId="{DCC831B6-DF28-4452-BA09-F7CFC29D0DBC}" type="presOf" srcId="{F67E86CC-5836-49E0-8A60-481570900260}" destId="{D330F817-E106-4E1C-8C62-EE6C76FA71CE}" srcOrd="1" destOrd="0" presId="urn:microsoft.com/office/officeart/2005/8/layout/vProcess5"/>
    <dgm:cxn modelId="{58B4B7BF-243D-4AB0-9803-C80E82D07BCE}" type="presOf" srcId="{C89A4B8E-E8C4-44AB-801B-C47D4D5EAADC}" destId="{FD6A3E03-B11B-4306-94A7-D3EB989D8472}" srcOrd="0" destOrd="0" presId="urn:microsoft.com/office/officeart/2005/8/layout/vProcess5"/>
    <dgm:cxn modelId="{1A4C0DC4-19CE-40BC-8505-42574667C027}" type="presOf" srcId="{EAB68484-F8D2-4756-8CE1-150EA0A12691}" destId="{3B71BBCE-9D1C-4931-9E36-B72B51CC34B5}" srcOrd="0" destOrd="0" presId="urn:microsoft.com/office/officeart/2005/8/layout/vProcess5"/>
    <dgm:cxn modelId="{854242D2-8737-4159-98E5-F52E16A61234}" type="presOf" srcId="{7424CE73-5736-4A25-B217-40E3B282AD82}" destId="{E8556DA5-55F5-4E4E-B8FE-93EEDF723BDF}" srcOrd="0" destOrd="0" presId="urn:microsoft.com/office/officeart/2005/8/layout/vProcess5"/>
    <dgm:cxn modelId="{B8D698D8-3220-4BD9-B132-AF3A3C7704E7}" type="presOf" srcId="{039A93CC-1F18-45B3-9549-E88B28498874}" destId="{42025B3A-9453-43C1-9E6B-7845BC8DC6F8}" srcOrd="1" destOrd="0" presId="urn:microsoft.com/office/officeart/2005/8/layout/vProcess5"/>
    <dgm:cxn modelId="{FD8731E5-7E50-40A1-9F49-7B840C589490}" type="presOf" srcId="{08F13CFF-471C-4439-8269-FAFE8A3959F7}" destId="{391C656F-65DE-48DD-BAEF-AB0FBA63E5A3}" srcOrd="1" destOrd="0" presId="urn:microsoft.com/office/officeart/2005/8/layout/vProcess5"/>
    <dgm:cxn modelId="{CC461EEB-495F-49E7-A210-B358B15703A3}" srcId="{7424CE73-5736-4A25-B217-40E3B282AD82}" destId="{EDBF28FE-BF22-48DC-8AD1-995989645870}" srcOrd="4" destOrd="0" parTransId="{5CC929A9-EFC2-480B-B2F6-32548DAE7E80}" sibTransId="{19A1C3F0-25AD-4797-BD75-B7A13B9869FE}"/>
    <dgm:cxn modelId="{1D35AEA4-8828-4786-92FF-98CA9147B5B2}" type="presParOf" srcId="{E8556DA5-55F5-4E4E-B8FE-93EEDF723BDF}" destId="{C0D4844D-8E37-46EC-B2FC-DDE1C8003860}" srcOrd="0" destOrd="0" presId="urn:microsoft.com/office/officeart/2005/8/layout/vProcess5"/>
    <dgm:cxn modelId="{0432B6BE-5B24-481B-A883-A3656555E0E5}" type="presParOf" srcId="{E8556DA5-55F5-4E4E-B8FE-93EEDF723BDF}" destId="{2B913ABB-D08F-4A72-A31B-1C07944F2E62}" srcOrd="1" destOrd="0" presId="urn:microsoft.com/office/officeart/2005/8/layout/vProcess5"/>
    <dgm:cxn modelId="{393E36AF-5EF9-4081-B216-C4024396CBBE}" type="presParOf" srcId="{E8556DA5-55F5-4E4E-B8FE-93EEDF723BDF}" destId="{1481DF2A-8BA4-4DFE-8E44-6C57D35A4CCF}" srcOrd="2" destOrd="0" presId="urn:microsoft.com/office/officeart/2005/8/layout/vProcess5"/>
    <dgm:cxn modelId="{767A16C6-47B9-4E55-B692-222BD5A5C41A}" type="presParOf" srcId="{E8556DA5-55F5-4E4E-B8FE-93EEDF723BDF}" destId="{AA9C39A6-7502-48AD-8FAD-74CB8EB3D71B}" srcOrd="3" destOrd="0" presId="urn:microsoft.com/office/officeart/2005/8/layout/vProcess5"/>
    <dgm:cxn modelId="{5E774581-868D-4E99-A034-DF036C57556C}" type="presParOf" srcId="{E8556DA5-55F5-4E4E-B8FE-93EEDF723BDF}" destId="{6696DD4B-D3B2-49BC-ADBC-E49E8105D0A5}" srcOrd="4" destOrd="0" presId="urn:microsoft.com/office/officeart/2005/8/layout/vProcess5"/>
    <dgm:cxn modelId="{F859445F-D251-4CB6-BC27-76CAD6054212}" type="presParOf" srcId="{E8556DA5-55F5-4E4E-B8FE-93EEDF723BDF}" destId="{36FA2D6D-79AA-4FA2-9C3B-178CACD35A33}" srcOrd="5" destOrd="0" presId="urn:microsoft.com/office/officeart/2005/8/layout/vProcess5"/>
    <dgm:cxn modelId="{53E581D4-E589-4CDC-B33D-AE0BB246FC34}" type="presParOf" srcId="{E8556DA5-55F5-4E4E-B8FE-93EEDF723BDF}" destId="{3B71BBCE-9D1C-4931-9E36-B72B51CC34B5}" srcOrd="6" destOrd="0" presId="urn:microsoft.com/office/officeart/2005/8/layout/vProcess5"/>
    <dgm:cxn modelId="{9B03D412-54BF-412A-BD27-ECEAEC8A0909}" type="presParOf" srcId="{E8556DA5-55F5-4E4E-B8FE-93EEDF723BDF}" destId="{FD6A3E03-B11B-4306-94A7-D3EB989D8472}" srcOrd="7" destOrd="0" presId="urn:microsoft.com/office/officeart/2005/8/layout/vProcess5"/>
    <dgm:cxn modelId="{87FFAD74-2443-4209-857D-F07E448E3C57}" type="presParOf" srcId="{E8556DA5-55F5-4E4E-B8FE-93EEDF723BDF}" destId="{F3ACBC9F-8D3B-4A6C-AEF1-B54F115ED983}" srcOrd="8" destOrd="0" presId="urn:microsoft.com/office/officeart/2005/8/layout/vProcess5"/>
    <dgm:cxn modelId="{99BC057C-E4DF-47D8-83EE-85C5434CBA71}" type="presParOf" srcId="{E8556DA5-55F5-4E4E-B8FE-93EEDF723BDF}" destId="{27C5CCE7-1059-40D0-B8F5-A83BC3DB236F}" srcOrd="9" destOrd="0" presId="urn:microsoft.com/office/officeart/2005/8/layout/vProcess5"/>
    <dgm:cxn modelId="{099B3D3A-9957-45D4-866D-0A8313D91045}" type="presParOf" srcId="{E8556DA5-55F5-4E4E-B8FE-93EEDF723BDF}" destId="{D330F817-E106-4E1C-8C62-EE6C76FA71CE}" srcOrd="10" destOrd="0" presId="urn:microsoft.com/office/officeart/2005/8/layout/vProcess5"/>
    <dgm:cxn modelId="{B59D7CA3-1FDB-496E-82A5-060E78F27B46}" type="presParOf" srcId="{E8556DA5-55F5-4E4E-B8FE-93EEDF723BDF}" destId="{391C656F-65DE-48DD-BAEF-AB0FBA63E5A3}" srcOrd="11" destOrd="0" presId="urn:microsoft.com/office/officeart/2005/8/layout/vProcess5"/>
    <dgm:cxn modelId="{62293AFA-0FE2-41AE-96AA-89A8AC59EF48}" type="presParOf" srcId="{E8556DA5-55F5-4E4E-B8FE-93EEDF723BDF}" destId="{2744DDEF-F37B-407F-AB5B-A3B54192D7FA}" srcOrd="12" destOrd="0" presId="urn:microsoft.com/office/officeart/2005/8/layout/vProcess5"/>
    <dgm:cxn modelId="{00339921-1BEC-4EBE-9408-1EDDB7219E40}" type="presParOf" srcId="{E8556DA5-55F5-4E4E-B8FE-93EEDF723BDF}" destId="{42025B3A-9453-43C1-9E6B-7845BC8DC6F8}" srcOrd="13" destOrd="0" presId="urn:microsoft.com/office/officeart/2005/8/layout/vProcess5"/>
    <dgm:cxn modelId="{9E2EB39B-D74D-4F0B-8002-5D21ACA28E02}" type="presParOf" srcId="{E8556DA5-55F5-4E4E-B8FE-93EEDF723BDF}" destId="{25AAE1C4-C619-4C1C-B01E-4BD75C7483A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123A27-A397-4CCC-B59B-2DEA8CF7E268}" type="doc">
      <dgm:prSet loTypeId="urn:microsoft.com/office/officeart/2018/5/layout/IconCircleLabelList" loCatId="icon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0CF6B-FE6A-435E-8336-9E42ADB5677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0" i="0" baseline="0"/>
            <a:t>More examples → slightly better accuracy</a:t>
          </a:r>
          <a:endParaRPr lang="en-US" sz="1600"/>
        </a:p>
      </dgm:t>
    </dgm:pt>
    <dgm:pt modelId="{51FEDDF4-B664-4971-B8FE-3C858E8032C9}" type="parTrans" cxnId="{15979100-BA57-4BFB-BD62-4E0CD50A2814}">
      <dgm:prSet/>
      <dgm:spPr/>
      <dgm:t>
        <a:bodyPr/>
        <a:lstStyle/>
        <a:p>
          <a:endParaRPr lang="en-US"/>
        </a:p>
      </dgm:t>
    </dgm:pt>
    <dgm:pt modelId="{CDEEF2D5-A2F6-4E47-B9A8-3DF5638AD35C}" type="sibTrans" cxnId="{15979100-BA57-4BFB-BD62-4E0CD50A2814}">
      <dgm:prSet/>
      <dgm:spPr/>
      <dgm:t>
        <a:bodyPr/>
        <a:lstStyle/>
        <a:p>
          <a:endParaRPr lang="en-US"/>
        </a:p>
      </dgm:t>
    </dgm:pt>
    <dgm:pt modelId="{62831E50-A60F-4C8E-8A9D-39E85C687E8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0" i="0" baseline="0"/>
            <a:t>B</a:t>
          </a:r>
          <a:r>
            <a:rPr lang="en-US" sz="1600" b="0" i="0" baseline="0"/>
            <a:t>ut </a:t>
          </a:r>
          <a:r>
            <a:rPr lang="en-US" sz="1600" b="1" i="0" baseline="0"/>
            <a:t>variance remains</a:t>
          </a:r>
          <a:r>
            <a:rPr lang="en-US" sz="1600" b="0" i="0" baseline="0"/>
            <a:t> and sometimes </a:t>
          </a:r>
          <a:r>
            <a:rPr lang="en-US" sz="1600" b="1" i="0" baseline="0"/>
            <a:t>increases</a:t>
          </a:r>
          <a:endParaRPr lang="en-US" sz="1600"/>
        </a:p>
      </dgm:t>
    </dgm:pt>
    <dgm:pt modelId="{B886E93B-0B89-40D3-9771-F1553CDFB6AE}" type="parTrans" cxnId="{3B12C61B-5954-4A72-A0D9-C517572289C1}">
      <dgm:prSet/>
      <dgm:spPr/>
      <dgm:t>
        <a:bodyPr/>
        <a:lstStyle/>
        <a:p>
          <a:endParaRPr lang="en-US"/>
        </a:p>
      </dgm:t>
    </dgm:pt>
    <dgm:pt modelId="{29B52CEA-0327-4A84-B2DB-5A54B39946A2}" type="sibTrans" cxnId="{3B12C61B-5954-4A72-A0D9-C517572289C1}">
      <dgm:prSet/>
      <dgm:spPr/>
      <dgm:t>
        <a:bodyPr/>
        <a:lstStyle/>
        <a:p>
          <a:endParaRPr lang="en-US"/>
        </a:p>
      </dgm:t>
    </dgm:pt>
    <dgm:pt modelId="{83F29AA0-70D1-4605-932B-794E0F30DC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Increasing data alone does not stabilize model behavior</a:t>
          </a:r>
          <a:endParaRPr lang="en-US"/>
        </a:p>
      </dgm:t>
    </dgm:pt>
    <dgm:pt modelId="{E3C5CB72-7DCE-40EE-953D-45800185244E}" type="parTrans" cxnId="{A30D452D-C344-4A67-AB0B-3670D7383945}">
      <dgm:prSet/>
      <dgm:spPr/>
      <dgm:t>
        <a:bodyPr/>
        <a:lstStyle/>
        <a:p>
          <a:endParaRPr lang="en-US"/>
        </a:p>
      </dgm:t>
    </dgm:pt>
    <dgm:pt modelId="{8DE3A402-7DA5-43DB-8C9E-FC722A8820CF}" type="sibTrans" cxnId="{A30D452D-C344-4A67-AB0B-3670D7383945}">
      <dgm:prSet/>
      <dgm:spPr/>
      <dgm:t>
        <a:bodyPr/>
        <a:lstStyle/>
        <a:p>
          <a:endParaRPr lang="en-US"/>
        </a:p>
      </dgm:t>
    </dgm:pt>
    <dgm:pt modelId="{D957D9D5-C1A4-44FA-8FCE-C449EA1E749D}" type="pres">
      <dgm:prSet presAssocID="{FE123A27-A397-4CCC-B59B-2DEA8CF7E268}" presName="root" presStyleCnt="0">
        <dgm:presLayoutVars>
          <dgm:dir/>
          <dgm:resizeHandles val="exact"/>
        </dgm:presLayoutVars>
      </dgm:prSet>
      <dgm:spPr/>
    </dgm:pt>
    <dgm:pt modelId="{43FA4BE0-8495-400F-BE8E-73A0BBE36A0B}" type="pres">
      <dgm:prSet presAssocID="{6AE0CF6B-FE6A-435E-8336-9E42ADB56777}" presName="compNode" presStyleCnt="0"/>
      <dgm:spPr/>
    </dgm:pt>
    <dgm:pt modelId="{FD17F461-ED9A-4D73-BDEA-0611E0D481E0}" type="pres">
      <dgm:prSet presAssocID="{6AE0CF6B-FE6A-435E-8336-9E42ADB56777}" presName="iconBgRect" presStyleLbl="bgShp" presStyleIdx="0" presStyleCnt="3" custLinFactNeighborX="705" custLinFactNeighborY="-4885"/>
      <dgm:spPr/>
    </dgm:pt>
    <dgm:pt modelId="{4EBE278E-EF06-4420-911E-E4BE9A1C8A3D}" type="pres">
      <dgm:prSet presAssocID="{6AE0CF6B-FE6A-435E-8336-9E42ADB56777}" presName="iconRect" presStyleLbl="node1" presStyleIdx="0" presStyleCnt="3" custLinFactNeighborX="3487" custLinFactNeighborY="-153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2572880-1FBA-435B-A5A3-7BE78B00B0CB}" type="pres">
      <dgm:prSet presAssocID="{6AE0CF6B-FE6A-435E-8336-9E42ADB56777}" presName="spaceRect" presStyleCnt="0"/>
      <dgm:spPr/>
    </dgm:pt>
    <dgm:pt modelId="{5BFA0E63-50E7-4574-910C-D9927A577802}" type="pres">
      <dgm:prSet presAssocID="{6AE0CF6B-FE6A-435E-8336-9E42ADB56777}" presName="textRect" presStyleLbl="revTx" presStyleIdx="0" presStyleCnt="3">
        <dgm:presLayoutVars>
          <dgm:chMax val="1"/>
          <dgm:chPref val="1"/>
        </dgm:presLayoutVars>
      </dgm:prSet>
      <dgm:spPr/>
    </dgm:pt>
    <dgm:pt modelId="{2ACF93CF-0879-42A0-8A18-88683A22ECD2}" type="pres">
      <dgm:prSet presAssocID="{CDEEF2D5-A2F6-4E47-B9A8-3DF5638AD35C}" presName="sibTrans" presStyleCnt="0"/>
      <dgm:spPr/>
    </dgm:pt>
    <dgm:pt modelId="{5F25537F-35D9-44A4-A686-32A0AD23BB96}" type="pres">
      <dgm:prSet presAssocID="{62831E50-A60F-4C8E-8A9D-39E85C687E80}" presName="compNode" presStyleCnt="0"/>
      <dgm:spPr/>
    </dgm:pt>
    <dgm:pt modelId="{19867C8B-0DCF-4976-9CDA-9E0AED5597C0}" type="pres">
      <dgm:prSet presAssocID="{62831E50-A60F-4C8E-8A9D-39E85C687E80}" presName="iconBgRect" presStyleLbl="bgShp" presStyleIdx="1" presStyleCnt="3"/>
      <dgm:spPr/>
    </dgm:pt>
    <dgm:pt modelId="{A5EEA44B-27B9-48A0-A04B-7191872FB7B5}" type="pres">
      <dgm:prSet presAssocID="{62831E50-A60F-4C8E-8A9D-39E85C687E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23F1482-B71A-41EE-B21E-9BABC0EB1961}" type="pres">
      <dgm:prSet presAssocID="{62831E50-A60F-4C8E-8A9D-39E85C687E80}" presName="spaceRect" presStyleCnt="0"/>
      <dgm:spPr/>
    </dgm:pt>
    <dgm:pt modelId="{94A20CF1-1820-4159-B5D9-84316102B2B7}" type="pres">
      <dgm:prSet presAssocID="{62831E50-A60F-4C8E-8A9D-39E85C687E80}" presName="textRect" presStyleLbl="revTx" presStyleIdx="1" presStyleCnt="3">
        <dgm:presLayoutVars>
          <dgm:chMax val="1"/>
          <dgm:chPref val="1"/>
        </dgm:presLayoutVars>
      </dgm:prSet>
      <dgm:spPr/>
    </dgm:pt>
    <dgm:pt modelId="{39BE5A56-E18E-4293-B4AB-B94D25BDD3E0}" type="pres">
      <dgm:prSet presAssocID="{29B52CEA-0327-4A84-B2DB-5A54B39946A2}" presName="sibTrans" presStyleCnt="0"/>
      <dgm:spPr/>
    </dgm:pt>
    <dgm:pt modelId="{3C829CE1-F6E1-4E83-94D5-8A3AB228C2D5}" type="pres">
      <dgm:prSet presAssocID="{83F29AA0-70D1-4605-932B-794E0F30DC38}" presName="compNode" presStyleCnt="0"/>
      <dgm:spPr/>
    </dgm:pt>
    <dgm:pt modelId="{722BC488-D901-47A6-BE6C-8879B729FC92}" type="pres">
      <dgm:prSet presAssocID="{83F29AA0-70D1-4605-932B-794E0F30DC38}" presName="iconBgRect" presStyleLbl="bgShp" presStyleIdx="2" presStyleCnt="3"/>
      <dgm:spPr/>
    </dgm:pt>
    <dgm:pt modelId="{F4B46C5C-560E-4830-98BB-7112CB0759FF}" type="pres">
      <dgm:prSet presAssocID="{83F29AA0-70D1-4605-932B-794E0F30DC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1D2E715-9B29-4B96-98CD-F3EC8040CE0A}" type="pres">
      <dgm:prSet presAssocID="{83F29AA0-70D1-4605-932B-794E0F30DC38}" presName="spaceRect" presStyleCnt="0"/>
      <dgm:spPr/>
    </dgm:pt>
    <dgm:pt modelId="{B6EA8967-759A-4BC8-B092-0B94656B93C3}" type="pres">
      <dgm:prSet presAssocID="{83F29AA0-70D1-4605-932B-794E0F30DC3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5979100-BA57-4BFB-BD62-4E0CD50A2814}" srcId="{FE123A27-A397-4CCC-B59B-2DEA8CF7E268}" destId="{6AE0CF6B-FE6A-435E-8336-9E42ADB56777}" srcOrd="0" destOrd="0" parTransId="{51FEDDF4-B664-4971-B8FE-3C858E8032C9}" sibTransId="{CDEEF2D5-A2F6-4E47-B9A8-3DF5638AD35C}"/>
    <dgm:cxn modelId="{DF457C1B-0813-4B38-9A18-F40B49AB320F}" type="presOf" srcId="{62831E50-A60F-4C8E-8A9D-39E85C687E80}" destId="{94A20CF1-1820-4159-B5D9-84316102B2B7}" srcOrd="0" destOrd="0" presId="urn:microsoft.com/office/officeart/2018/5/layout/IconCircleLabelList"/>
    <dgm:cxn modelId="{3B12C61B-5954-4A72-A0D9-C517572289C1}" srcId="{FE123A27-A397-4CCC-B59B-2DEA8CF7E268}" destId="{62831E50-A60F-4C8E-8A9D-39E85C687E80}" srcOrd="1" destOrd="0" parTransId="{B886E93B-0B89-40D3-9771-F1553CDFB6AE}" sibTransId="{29B52CEA-0327-4A84-B2DB-5A54B39946A2}"/>
    <dgm:cxn modelId="{A30D452D-C344-4A67-AB0B-3670D7383945}" srcId="{FE123A27-A397-4CCC-B59B-2DEA8CF7E268}" destId="{83F29AA0-70D1-4605-932B-794E0F30DC38}" srcOrd="2" destOrd="0" parTransId="{E3C5CB72-7DCE-40EE-953D-45800185244E}" sibTransId="{8DE3A402-7DA5-43DB-8C9E-FC722A8820CF}"/>
    <dgm:cxn modelId="{E4C11B74-3A6F-44C0-992F-FC387E0DDE8F}" type="presOf" srcId="{83F29AA0-70D1-4605-932B-794E0F30DC38}" destId="{B6EA8967-759A-4BC8-B092-0B94656B93C3}" srcOrd="0" destOrd="0" presId="urn:microsoft.com/office/officeart/2018/5/layout/IconCircleLabelList"/>
    <dgm:cxn modelId="{FB1211C1-1554-41C0-A5FD-9E14C41D3881}" type="presOf" srcId="{6AE0CF6B-FE6A-435E-8336-9E42ADB56777}" destId="{5BFA0E63-50E7-4574-910C-D9927A577802}" srcOrd="0" destOrd="0" presId="urn:microsoft.com/office/officeart/2018/5/layout/IconCircleLabelList"/>
    <dgm:cxn modelId="{51FCB2D3-F4A7-4008-A30B-94166C345535}" type="presOf" srcId="{FE123A27-A397-4CCC-B59B-2DEA8CF7E268}" destId="{D957D9D5-C1A4-44FA-8FCE-C449EA1E749D}" srcOrd="0" destOrd="0" presId="urn:microsoft.com/office/officeart/2018/5/layout/IconCircleLabelList"/>
    <dgm:cxn modelId="{AE1A4435-12F2-42D6-BB68-60E7B9B35874}" type="presParOf" srcId="{D957D9D5-C1A4-44FA-8FCE-C449EA1E749D}" destId="{43FA4BE0-8495-400F-BE8E-73A0BBE36A0B}" srcOrd="0" destOrd="0" presId="urn:microsoft.com/office/officeart/2018/5/layout/IconCircleLabelList"/>
    <dgm:cxn modelId="{87E394C4-05E1-4264-AD79-BBB41F69A333}" type="presParOf" srcId="{43FA4BE0-8495-400F-BE8E-73A0BBE36A0B}" destId="{FD17F461-ED9A-4D73-BDEA-0611E0D481E0}" srcOrd="0" destOrd="0" presId="urn:microsoft.com/office/officeart/2018/5/layout/IconCircleLabelList"/>
    <dgm:cxn modelId="{3A33BDEE-EB4B-45E7-9D7B-A8CB5F10EEBE}" type="presParOf" srcId="{43FA4BE0-8495-400F-BE8E-73A0BBE36A0B}" destId="{4EBE278E-EF06-4420-911E-E4BE9A1C8A3D}" srcOrd="1" destOrd="0" presId="urn:microsoft.com/office/officeart/2018/5/layout/IconCircleLabelList"/>
    <dgm:cxn modelId="{151EAD6C-F887-454B-977E-578F7502B22F}" type="presParOf" srcId="{43FA4BE0-8495-400F-BE8E-73A0BBE36A0B}" destId="{F2572880-1FBA-435B-A5A3-7BE78B00B0CB}" srcOrd="2" destOrd="0" presId="urn:microsoft.com/office/officeart/2018/5/layout/IconCircleLabelList"/>
    <dgm:cxn modelId="{FD393218-0967-41F2-9A41-2969C4F32740}" type="presParOf" srcId="{43FA4BE0-8495-400F-BE8E-73A0BBE36A0B}" destId="{5BFA0E63-50E7-4574-910C-D9927A577802}" srcOrd="3" destOrd="0" presId="urn:microsoft.com/office/officeart/2018/5/layout/IconCircleLabelList"/>
    <dgm:cxn modelId="{43F5F0C6-76A0-4250-9362-1DE8E4212170}" type="presParOf" srcId="{D957D9D5-C1A4-44FA-8FCE-C449EA1E749D}" destId="{2ACF93CF-0879-42A0-8A18-88683A22ECD2}" srcOrd="1" destOrd="0" presId="urn:microsoft.com/office/officeart/2018/5/layout/IconCircleLabelList"/>
    <dgm:cxn modelId="{46D07BD1-756C-4953-B817-FFD3D40C21CE}" type="presParOf" srcId="{D957D9D5-C1A4-44FA-8FCE-C449EA1E749D}" destId="{5F25537F-35D9-44A4-A686-32A0AD23BB96}" srcOrd="2" destOrd="0" presId="urn:microsoft.com/office/officeart/2018/5/layout/IconCircleLabelList"/>
    <dgm:cxn modelId="{75C10381-FB81-49D1-9858-CE8BE2DD07E9}" type="presParOf" srcId="{5F25537F-35D9-44A4-A686-32A0AD23BB96}" destId="{19867C8B-0DCF-4976-9CDA-9E0AED5597C0}" srcOrd="0" destOrd="0" presId="urn:microsoft.com/office/officeart/2018/5/layout/IconCircleLabelList"/>
    <dgm:cxn modelId="{D9B869B5-63DE-4404-B15C-261FA1294FF9}" type="presParOf" srcId="{5F25537F-35D9-44A4-A686-32A0AD23BB96}" destId="{A5EEA44B-27B9-48A0-A04B-7191872FB7B5}" srcOrd="1" destOrd="0" presId="urn:microsoft.com/office/officeart/2018/5/layout/IconCircleLabelList"/>
    <dgm:cxn modelId="{89BB59AB-3457-416C-AD89-96BF6EEA5126}" type="presParOf" srcId="{5F25537F-35D9-44A4-A686-32A0AD23BB96}" destId="{F23F1482-B71A-41EE-B21E-9BABC0EB1961}" srcOrd="2" destOrd="0" presId="urn:microsoft.com/office/officeart/2018/5/layout/IconCircleLabelList"/>
    <dgm:cxn modelId="{CDAC4823-36CE-4F7D-816E-846F5D07F481}" type="presParOf" srcId="{5F25537F-35D9-44A4-A686-32A0AD23BB96}" destId="{94A20CF1-1820-4159-B5D9-84316102B2B7}" srcOrd="3" destOrd="0" presId="urn:microsoft.com/office/officeart/2018/5/layout/IconCircleLabelList"/>
    <dgm:cxn modelId="{A8312175-1D00-489F-975E-A210AD1BB5BA}" type="presParOf" srcId="{D957D9D5-C1A4-44FA-8FCE-C449EA1E749D}" destId="{39BE5A56-E18E-4293-B4AB-B94D25BDD3E0}" srcOrd="3" destOrd="0" presId="urn:microsoft.com/office/officeart/2018/5/layout/IconCircleLabelList"/>
    <dgm:cxn modelId="{53770415-54B8-48E9-96C7-C77A381D04FB}" type="presParOf" srcId="{D957D9D5-C1A4-44FA-8FCE-C449EA1E749D}" destId="{3C829CE1-F6E1-4E83-94D5-8A3AB228C2D5}" srcOrd="4" destOrd="0" presId="urn:microsoft.com/office/officeart/2018/5/layout/IconCircleLabelList"/>
    <dgm:cxn modelId="{DD620A5A-AF7A-4798-B14F-E6BD1AAFC1E6}" type="presParOf" srcId="{3C829CE1-F6E1-4E83-94D5-8A3AB228C2D5}" destId="{722BC488-D901-47A6-BE6C-8879B729FC92}" srcOrd="0" destOrd="0" presId="urn:microsoft.com/office/officeart/2018/5/layout/IconCircleLabelList"/>
    <dgm:cxn modelId="{0A29D439-A793-419B-9CC7-4A857FFCF4AB}" type="presParOf" srcId="{3C829CE1-F6E1-4E83-94D5-8A3AB228C2D5}" destId="{F4B46C5C-560E-4830-98BB-7112CB0759FF}" srcOrd="1" destOrd="0" presId="urn:microsoft.com/office/officeart/2018/5/layout/IconCircleLabelList"/>
    <dgm:cxn modelId="{7615B788-9246-4F3F-BF2C-90B1602A72E3}" type="presParOf" srcId="{3C829CE1-F6E1-4E83-94D5-8A3AB228C2D5}" destId="{B1D2E715-9B29-4B96-98CD-F3EC8040CE0A}" srcOrd="2" destOrd="0" presId="urn:microsoft.com/office/officeart/2018/5/layout/IconCircleLabelList"/>
    <dgm:cxn modelId="{DBAB6805-9A71-4C0E-81D2-36F948162D81}" type="presParOf" srcId="{3C829CE1-F6E1-4E83-94D5-8A3AB228C2D5}" destId="{B6EA8967-759A-4BC8-B092-0B94656B93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33CB7D-9211-40CA-B12B-C10D94CAA585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572719-FAA2-4A11-A0D8-4B0EDAD6E304}">
      <dgm:prSet custT="1"/>
      <dgm:spPr/>
      <dgm:t>
        <a:bodyPr/>
        <a:lstStyle/>
        <a:p>
          <a:r>
            <a:rPr lang="en-US" sz="2800"/>
            <a:t>Transform</a:t>
          </a:r>
        </a:p>
      </dgm:t>
    </dgm:pt>
    <dgm:pt modelId="{E1171EF7-EA86-467A-9418-EBBED165C6B8}" type="parTrans" cxnId="{D1E9A15A-AA2F-45F7-AFF0-3859A04633C7}">
      <dgm:prSet/>
      <dgm:spPr/>
      <dgm:t>
        <a:bodyPr/>
        <a:lstStyle/>
        <a:p>
          <a:endParaRPr lang="en-US"/>
        </a:p>
      </dgm:t>
    </dgm:pt>
    <dgm:pt modelId="{AF66B913-E280-4626-B2D8-DE46450D9CA1}" type="sibTrans" cxnId="{D1E9A15A-AA2F-45F7-AFF0-3859A04633C7}">
      <dgm:prSet/>
      <dgm:spPr/>
      <dgm:t>
        <a:bodyPr/>
        <a:lstStyle/>
        <a:p>
          <a:endParaRPr lang="en-US"/>
        </a:p>
      </dgm:t>
    </dgm:pt>
    <dgm:pt modelId="{ABB0B36B-028C-468F-9D3D-30541DF19256}">
      <dgm:prSet custT="1"/>
      <dgm:spPr/>
      <dgm:t>
        <a:bodyPr/>
        <a:lstStyle/>
        <a:p>
          <a:r>
            <a:rPr lang="en-US" sz="2000"/>
            <a:t>Transform training samples into a template format</a:t>
          </a:r>
          <a:br>
            <a:rPr lang="en-US" sz="2000"/>
          </a:br>
          <a:r>
            <a:rPr lang="en-US" sz="2000"/>
            <a:t>(input + label → natural language)</a:t>
          </a:r>
        </a:p>
      </dgm:t>
    </dgm:pt>
    <dgm:pt modelId="{7F517606-AF38-4213-A8F1-65612F417EFC}" type="parTrans" cxnId="{28F37D21-F6CE-4CEE-A704-8B1DF14B4C17}">
      <dgm:prSet/>
      <dgm:spPr/>
      <dgm:t>
        <a:bodyPr/>
        <a:lstStyle/>
        <a:p>
          <a:endParaRPr lang="en-US"/>
        </a:p>
      </dgm:t>
    </dgm:pt>
    <dgm:pt modelId="{DC842FE0-2D36-47EB-8E95-EAECF1ACF4B9}" type="sibTrans" cxnId="{28F37D21-F6CE-4CEE-A704-8B1DF14B4C17}">
      <dgm:prSet/>
      <dgm:spPr/>
      <dgm:t>
        <a:bodyPr/>
        <a:lstStyle/>
        <a:p>
          <a:endParaRPr lang="en-US"/>
        </a:p>
      </dgm:t>
    </dgm:pt>
    <dgm:pt modelId="{EBB934F0-669C-4C40-AAED-91A756DA2747}">
      <dgm:prSet custT="1"/>
      <dgm:spPr/>
      <dgm:t>
        <a:bodyPr/>
        <a:lstStyle/>
        <a:p>
          <a:r>
            <a:rPr lang="en-US" sz="2800"/>
            <a:t>Enumerate</a:t>
          </a:r>
        </a:p>
      </dgm:t>
    </dgm:pt>
    <dgm:pt modelId="{851DE601-C0F3-4524-9B27-033899E708EF}" type="parTrans" cxnId="{B3E1A36E-DFF1-4F8A-951E-574D0B796B8E}">
      <dgm:prSet/>
      <dgm:spPr/>
      <dgm:t>
        <a:bodyPr/>
        <a:lstStyle/>
        <a:p>
          <a:endParaRPr lang="en-US"/>
        </a:p>
      </dgm:t>
    </dgm:pt>
    <dgm:pt modelId="{F2D29E16-BAD8-4AA7-99CE-0B54D02AB36B}" type="sibTrans" cxnId="{B3E1A36E-DFF1-4F8A-951E-574D0B796B8E}">
      <dgm:prSet/>
      <dgm:spPr/>
      <dgm:t>
        <a:bodyPr/>
        <a:lstStyle/>
        <a:p>
          <a:endParaRPr lang="en-US"/>
        </a:p>
      </dgm:t>
    </dgm:pt>
    <dgm:pt modelId="{4D81FB7F-FAB9-49FD-B4A5-C391691A850A}">
      <dgm:prSet custT="1"/>
      <dgm:spPr/>
      <dgm:t>
        <a:bodyPr/>
        <a:lstStyle/>
        <a:p>
          <a:r>
            <a:rPr lang="en-US" sz="1800"/>
            <a:t>Enumerate all permutations of these samples (e.g., 24 permutations)</a:t>
          </a:r>
          <a:endParaRPr lang="en-US" sz="1100"/>
        </a:p>
      </dgm:t>
    </dgm:pt>
    <dgm:pt modelId="{08B59551-617F-42C6-BFE1-56C2E8C6BB99}" type="parTrans" cxnId="{B2C80320-7852-411E-8554-6C4D4A92A157}">
      <dgm:prSet/>
      <dgm:spPr/>
      <dgm:t>
        <a:bodyPr/>
        <a:lstStyle/>
        <a:p>
          <a:endParaRPr lang="en-US"/>
        </a:p>
      </dgm:t>
    </dgm:pt>
    <dgm:pt modelId="{93622ADF-A290-43C1-8EDE-7A12E8EFCD3E}" type="sibTrans" cxnId="{B2C80320-7852-411E-8554-6C4D4A92A157}">
      <dgm:prSet/>
      <dgm:spPr/>
      <dgm:t>
        <a:bodyPr/>
        <a:lstStyle/>
        <a:p>
          <a:endParaRPr lang="en-US"/>
        </a:p>
      </dgm:t>
    </dgm:pt>
    <dgm:pt modelId="{5E223F92-C85D-4F6E-8658-4A88D8F9C62A}">
      <dgm:prSet custT="1"/>
      <dgm:spPr/>
      <dgm:t>
        <a:bodyPr/>
        <a:lstStyle/>
        <a:p>
          <a:r>
            <a:rPr lang="en-US" sz="2800"/>
            <a:t>Sample</a:t>
          </a:r>
        </a:p>
      </dgm:t>
    </dgm:pt>
    <dgm:pt modelId="{F4F50298-E2E2-4482-B153-0E15419E2074}" type="parTrans" cxnId="{135A0240-7ACA-426D-85B9-E9F1F53529C7}">
      <dgm:prSet/>
      <dgm:spPr/>
      <dgm:t>
        <a:bodyPr/>
        <a:lstStyle/>
        <a:p>
          <a:endParaRPr lang="en-US"/>
        </a:p>
      </dgm:t>
    </dgm:pt>
    <dgm:pt modelId="{C373AB6B-2C9A-40DF-A2BC-9B29FE6A57F3}" type="sibTrans" cxnId="{135A0240-7ACA-426D-85B9-E9F1F53529C7}">
      <dgm:prSet/>
      <dgm:spPr/>
      <dgm:t>
        <a:bodyPr/>
        <a:lstStyle/>
        <a:p>
          <a:endParaRPr lang="en-US"/>
        </a:p>
      </dgm:t>
    </dgm:pt>
    <dgm:pt modelId="{92D61D1D-1727-45BE-83E2-109AA4C6EF86}">
      <dgm:prSet custT="1"/>
      <dgm:spPr/>
      <dgm:t>
        <a:bodyPr/>
        <a:lstStyle/>
        <a:p>
          <a:r>
            <a:rPr lang="en-US" sz="1800"/>
            <a:t>For each permutation, sample text from the LM → this becomes the probing set</a:t>
          </a:r>
        </a:p>
      </dgm:t>
    </dgm:pt>
    <dgm:pt modelId="{1FCE3293-A826-4917-9F91-70888902AE51}" type="parTrans" cxnId="{5122F622-C8B6-4569-9C79-DF11FB3CC8F1}">
      <dgm:prSet/>
      <dgm:spPr/>
      <dgm:t>
        <a:bodyPr/>
        <a:lstStyle/>
        <a:p>
          <a:endParaRPr lang="en-US"/>
        </a:p>
      </dgm:t>
    </dgm:pt>
    <dgm:pt modelId="{00C4DD19-DDA7-4CAB-B731-3C9AD6607C22}" type="sibTrans" cxnId="{5122F622-C8B6-4569-9C79-DF11FB3CC8F1}">
      <dgm:prSet/>
      <dgm:spPr/>
      <dgm:t>
        <a:bodyPr/>
        <a:lstStyle/>
        <a:p>
          <a:endParaRPr lang="en-US"/>
        </a:p>
      </dgm:t>
    </dgm:pt>
    <dgm:pt modelId="{D9059A99-A924-488D-9523-F36EDA2D1F78}">
      <dgm:prSet custT="1"/>
      <dgm:spPr/>
      <dgm:t>
        <a:bodyPr/>
        <a:lstStyle/>
        <a:p>
          <a:r>
            <a:rPr lang="en-US" sz="2800"/>
            <a:t>Compute</a:t>
          </a:r>
        </a:p>
      </dgm:t>
    </dgm:pt>
    <dgm:pt modelId="{5735C566-3CF8-4E01-92EA-2715B7680474}" type="parTrans" cxnId="{E6B69152-B709-4D0B-B68D-76A9A6865448}">
      <dgm:prSet/>
      <dgm:spPr/>
      <dgm:t>
        <a:bodyPr/>
        <a:lstStyle/>
        <a:p>
          <a:endParaRPr lang="en-US"/>
        </a:p>
      </dgm:t>
    </dgm:pt>
    <dgm:pt modelId="{763C30D0-E84A-4C76-A10C-84302A7EBEBE}" type="sibTrans" cxnId="{E6B69152-B709-4D0B-B68D-76A9A6865448}">
      <dgm:prSet/>
      <dgm:spPr/>
      <dgm:t>
        <a:bodyPr/>
        <a:lstStyle/>
        <a:p>
          <a:endParaRPr lang="en-US"/>
        </a:p>
      </dgm:t>
    </dgm:pt>
    <dgm:pt modelId="{DBD7C315-E33F-4026-955C-6F63AC291C25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sz="1800"/>
            <a:t>Compute entropy metrics: </a:t>
          </a:r>
          <a:br>
            <a:rPr lang="en-US" sz="1800"/>
          </a:br>
          <a:r>
            <a:rPr lang="en-US" sz="1800"/>
            <a:t>	1. Global Entropy: distribution balance across labels</a:t>
          </a:r>
          <a:br>
            <a:rPr lang="en-US" sz="1800"/>
          </a:br>
          <a:r>
            <a:rPr lang="en-US" sz="1800"/>
            <a:t> 	2. Local Entropy: model’s confidence spread per sample</a:t>
          </a:r>
        </a:p>
      </dgm:t>
    </dgm:pt>
    <dgm:pt modelId="{444E0608-30F1-4369-96C5-5D628693C9A4}" type="parTrans" cxnId="{66D098C2-B446-44F6-86A4-BE376F7FAA1F}">
      <dgm:prSet/>
      <dgm:spPr/>
      <dgm:t>
        <a:bodyPr/>
        <a:lstStyle/>
        <a:p>
          <a:endParaRPr lang="en-US"/>
        </a:p>
      </dgm:t>
    </dgm:pt>
    <dgm:pt modelId="{57826EC9-1AFA-40D2-A744-11D50746C0D7}" type="sibTrans" cxnId="{66D098C2-B446-44F6-86A4-BE376F7FAA1F}">
      <dgm:prSet/>
      <dgm:spPr/>
      <dgm:t>
        <a:bodyPr/>
        <a:lstStyle/>
        <a:p>
          <a:endParaRPr lang="en-US"/>
        </a:p>
      </dgm:t>
    </dgm:pt>
    <dgm:pt modelId="{07CF6927-CEDD-46C6-99F6-BB8DBE351E98}">
      <dgm:prSet custT="1"/>
      <dgm:spPr/>
      <dgm:t>
        <a:bodyPr/>
        <a:lstStyle/>
        <a:p>
          <a:r>
            <a:rPr lang="en-US" sz="2800"/>
            <a:t>Rank</a:t>
          </a:r>
        </a:p>
      </dgm:t>
    </dgm:pt>
    <dgm:pt modelId="{0CBBE3C1-4729-4A14-A3F7-53A7C4B59694}" type="parTrans" cxnId="{AD0EC38C-9B59-4A1F-8276-0A6AFBA6821B}">
      <dgm:prSet/>
      <dgm:spPr/>
      <dgm:t>
        <a:bodyPr/>
        <a:lstStyle/>
        <a:p>
          <a:endParaRPr lang="en-US"/>
        </a:p>
      </dgm:t>
    </dgm:pt>
    <dgm:pt modelId="{74DCCCC6-D04F-4F0F-BD29-6B7E7AA575AE}" type="sibTrans" cxnId="{AD0EC38C-9B59-4A1F-8276-0A6AFBA6821B}">
      <dgm:prSet/>
      <dgm:spPr/>
      <dgm:t>
        <a:bodyPr/>
        <a:lstStyle/>
        <a:p>
          <a:endParaRPr lang="en-US"/>
        </a:p>
      </dgm:t>
    </dgm:pt>
    <dgm:pt modelId="{5D2883F6-BE11-4077-B35E-452C0C405678}">
      <dgm:prSet/>
      <dgm:spPr/>
      <dgm:t>
        <a:bodyPr/>
        <a:lstStyle/>
        <a:p>
          <a:r>
            <a:rPr lang="en-US"/>
            <a:t>Rank permutations using these scores</a:t>
          </a:r>
        </a:p>
      </dgm:t>
    </dgm:pt>
    <dgm:pt modelId="{317A42DF-113C-49BC-A78F-495E02573237}" type="parTrans" cxnId="{121887C8-6BAC-4196-8182-225EA33414B5}">
      <dgm:prSet/>
      <dgm:spPr/>
      <dgm:t>
        <a:bodyPr/>
        <a:lstStyle/>
        <a:p>
          <a:endParaRPr lang="en-US"/>
        </a:p>
      </dgm:t>
    </dgm:pt>
    <dgm:pt modelId="{E58EDC2B-B968-45D3-BABD-63384743289F}" type="sibTrans" cxnId="{121887C8-6BAC-4196-8182-225EA33414B5}">
      <dgm:prSet/>
      <dgm:spPr/>
      <dgm:t>
        <a:bodyPr/>
        <a:lstStyle/>
        <a:p>
          <a:endParaRPr lang="en-US"/>
        </a:p>
      </dgm:t>
    </dgm:pt>
    <dgm:pt modelId="{C4595FFB-1604-4483-92B7-7072675F6EED}">
      <dgm:prSet custT="1"/>
      <dgm:spPr/>
      <dgm:t>
        <a:bodyPr/>
        <a:lstStyle/>
        <a:p>
          <a:r>
            <a:rPr lang="en-US" sz="2800"/>
            <a:t>Select</a:t>
          </a:r>
        </a:p>
      </dgm:t>
    </dgm:pt>
    <dgm:pt modelId="{48298A9B-AFE3-478B-99C1-F80853E85813}" type="parTrans" cxnId="{8B772FD7-1D86-41BE-A28E-3D5FD0C75E50}">
      <dgm:prSet/>
      <dgm:spPr/>
      <dgm:t>
        <a:bodyPr/>
        <a:lstStyle/>
        <a:p>
          <a:endParaRPr lang="en-US"/>
        </a:p>
      </dgm:t>
    </dgm:pt>
    <dgm:pt modelId="{1EE406C3-DA4D-45ED-9F75-17DBBD261A10}" type="sibTrans" cxnId="{8B772FD7-1D86-41BE-A28E-3D5FD0C75E50}">
      <dgm:prSet/>
      <dgm:spPr/>
      <dgm:t>
        <a:bodyPr/>
        <a:lstStyle/>
        <a:p>
          <a:endParaRPr lang="en-US"/>
        </a:p>
      </dgm:t>
    </dgm:pt>
    <dgm:pt modelId="{098A99D5-F82D-498C-8D18-66847028920B}">
      <dgm:prSet/>
      <dgm:spPr/>
      <dgm:t>
        <a:bodyPr/>
        <a:lstStyle/>
        <a:p>
          <a:r>
            <a:rPr lang="en-US"/>
            <a:t>Select top-K (e.g., best 4) prompt orders for inference</a:t>
          </a:r>
        </a:p>
      </dgm:t>
    </dgm:pt>
    <dgm:pt modelId="{458C2DDE-1941-459F-81D2-A6CE6748CFB9}" type="parTrans" cxnId="{DCBC38F2-232C-4968-9DC8-F3A675F98605}">
      <dgm:prSet/>
      <dgm:spPr/>
      <dgm:t>
        <a:bodyPr/>
        <a:lstStyle/>
        <a:p>
          <a:endParaRPr lang="en-US"/>
        </a:p>
      </dgm:t>
    </dgm:pt>
    <dgm:pt modelId="{D2EF5DC5-666D-4E6B-9B57-5615FB4F2264}" type="sibTrans" cxnId="{DCBC38F2-232C-4968-9DC8-F3A675F98605}">
      <dgm:prSet/>
      <dgm:spPr/>
      <dgm:t>
        <a:bodyPr/>
        <a:lstStyle/>
        <a:p>
          <a:endParaRPr lang="en-US"/>
        </a:p>
      </dgm:t>
    </dgm:pt>
    <dgm:pt modelId="{60490A15-422F-4C3D-B0CF-E62FAADEE5F2}" type="pres">
      <dgm:prSet presAssocID="{4C33CB7D-9211-40CA-B12B-C10D94CAA585}" presName="Name0" presStyleCnt="0">
        <dgm:presLayoutVars>
          <dgm:dir/>
          <dgm:animLvl val="lvl"/>
          <dgm:resizeHandles val="exact"/>
        </dgm:presLayoutVars>
      </dgm:prSet>
      <dgm:spPr/>
    </dgm:pt>
    <dgm:pt modelId="{9F3BFA50-9F9F-401C-A58E-AA5DF3D45BB3}" type="pres">
      <dgm:prSet presAssocID="{04572719-FAA2-4A11-A0D8-4B0EDAD6E304}" presName="linNode" presStyleCnt="0"/>
      <dgm:spPr/>
    </dgm:pt>
    <dgm:pt modelId="{EEC6D309-19F9-4024-BF81-432B62848C05}" type="pres">
      <dgm:prSet presAssocID="{04572719-FAA2-4A11-A0D8-4B0EDAD6E304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56766C33-4D31-4118-B93A-9D567F86358F}" type="pres">
      <dgm:prSet presAssocID="{04572719-FAA2-4A11-A0D8-4B0EDAD6E304}" presName="descendantText" presStyleLbl="alignAccFollowNode1" presStyleIdx="0" presStyleCnt="6">
        <dgm:presLayoutVars>
          <dgm:bulletEnabled/>
        </dgm:presLayoutVars>
      </dgm:prSet>
      <dgm:spPr/>
    </dgm:pt>
    <dgm:pt modelId="{34BDA8CB-283C-4667-B7ED-ABCB889FB4E2}" type="pres">
      <dgm:prSet presAssocID="{AF66B913-E280-4626-B2D8-DE46450D9CA1}" presName="sp" presStyleCnt="0"/>
      <dgm:spPr/>
    </dgm:pt>
    <dgm:pt modelId="{471305FA-86C4-4FE2-A198-5B09C57735A4}" type="pres">
      <dgm:prSet presAssocID="{EBB934F0-669C-4C40-AAED-91A756DA2747}" presName="linNode" presStyleCnt="0"/>
      <dgm:spPr/>
    </dgm:pt>
    <dgm:pt modelId="{F0C5F023-FCE4-48DA-BD04-2035AF9A193C}" type="pres">
      <dgm:prSet presAssocID="{EBB934F0-669C-4C40-AAED-91A756DA2747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47E65675-64B0-4B9E-AE85-7C0CA8F663F9}" type="pres">
      <dgm:prSet presAssocID="{EBB934F0-669C-4C40-AAED-91A756DA2747}" presName="descendantText" presStyleLbl="alignAccFollowNode1" presStyleIdx="1" presStyleCnt="6">
        <dgm:presLayoutVars>
          <dgm:bulletEnabled/>
        </dgm:presLayoutVars>
      </dgm:prSet>
      <dgm:spPr/>
    </dgm:pt>
    <dgm:pt modelId="{3F64542C-2E78-4671-AFA9-BB0B659B2597}" type="pres">
      <dgm:prSet presAssocID="{F2D29E16-BAD8-4AA7-99CE-0B54D02AB36B}" presName="sp" presStyleCnt="0"/>
      <dgm:spPr/>
    </dgm:pt>
    <dgm:pt modelId="{0562BCCD-76F4-4B09-BD8A-D7F1F70C4F83}" type="pres">
      <dgm:prSet presAssocID="{5E223F92-C85D-4F6E-8658-4A88D8F9C62A}" presName="linNode" presStyleCnt="0"/>
      <dgm:spPr/>
    </dgm:pt>
    <dgm:pt modelId="{81064830-59E3-468B-8B58-CC7D3BFDECBD}" type="pres">
      <dgm:prSet presAssocID="{5E223F92-C85D-4F6E-8658-4A88D8F9C62A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6E2CC74C-7328-46B3-8A86-69A626104182}" type="pres">
      <dgm:prSet presAssocID="{5E223F92-C85D-4F6E-8658-4A88D8F9C62A}" presName="descendantText" presStyleLbl="alignAccFollowNode1" presStyleIdx="2" presStyleCnt="6">
        <dgm:presLayoutVars>
          <dgm:bulletEnabled/>
        </dgm:presLayoutVars>
      </dgm:prSet>
      <dgm:spPr/>
    </dgm:pt>
    <dgm:pt modelId="{F2CE5728-69CE-48DA-AF63-8C135BDF4364}" type="pres">
      <dgm:prSet presAssocID="{C373AB6B-2C9A-40DF-A2BC-9B29FE6A57F3}" presName="sp" presStyleCnt="0"/>
      <dgm:spPr/>
    </dgm:pt>
    <dgm:pt modelId="{B1237C2B-2105-4017-BB35-5DC6E848A40E}" type="pres">
      <dgm:prSet presAssocID="{D9059A99-A924-488D-9523-F36EDA2D1F78}" presName="linNode" presStyleCnt="0"/>
      <dgm:spPr/>
    </dgm:pt>
    <dgm:pt modelId="{A9270BB5-B12F-47D3-99CC-2F959C802F2C}" type="pres">
      <dgm:prSet presAssocID="{D9059A99-A924-488D-9523-F36EDA2D1F78}" presName="parentText" presStyleLbl="alignNode1" presStyleIdx="3" presStyleCnt="6" custScaleY="162219">
        <dgm:presLayoutVars>
          <dgm:chMax val="1"/>
          <dgm:bulletEnabled/>
        </dgm:presLayoutVars>
      </dgm:prSet>
      <dgm:spPr/>
    </dgm:pt>
    <dgm:pt modelId="{E41F31D4-4049-4C64-BF0F-A7223C25B2F7}" type="pres">
      <dgm:prSet presAssocID="{D9059A99-A924-488D-9523-F36EDA2D1F78}" presName="descendantText" presStyleLbl="alignAccFollowNode1" presStyleIdx="3" presStyleCnt="6" custScaleY="159528">
        <dgm:presLayoutVars>
          <dgm:bulletEnabled/>
        </dgm:presLayoutVars>
      </dgm:prSet>
      <dgm:spPr/>
    </dgm:pt>
    <dgm:pt modelId="{D539EAC8-E635-438F-9B3F-6ABA5158B42E}" type="pres">
      <dgm:prSet presAssocID="{763C30D0-E84A-4C76-A10C-84302A7EBEBE}" presName="sp" presStyleCnt="0"/>
      <dgm:spPr/>
    </dgm:pt>
    <dgm:pt modelId="{3D480158-1890-4C5D-8719-4C6EFAE0E3F5}" type="pres">
      <dgm:prSet presAssocID="{07CF6927-CEDD-46C6-99F6-BB8DBE351E98}" presName="linNode" presStyleCnt="0"/>
      <dgm:spPr/>
    </dgm:pt>
    <dgm:pt modelId="{86511837-6C98-4AB1-8205-F9AEE0AE95CF}" type="pres">
      <dgm:prSet presAssocID="{07CF6927-CEDD-46C6-99F6-BB8DBE351E98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9BF0CB85-A1BA-4135-BB0A-6A607E4BBC8D}" type="pres">
      <dgm:prSet presAssocID="{07CF6927-CEDD-46C6-99F6-BB8DBE351E98}" presName="descendantText" presStyleLbl="alignAccFollowNode1" presStyleIdx="4" presStyleCnt="6">
        <dgm:presLayoutVars>
          <dgm:bulletEnabled/>
        </dgm:presLayoutVars>
      </dgm:prSet>
      <dgm:spPr/>
    </dgm:pt>
    <dgm:pt modelId="{D2199B67-6C8B-4371-BB46-BDCE7B1C252D}" type="pres">
      <dgm:prSet presAssocID="{74DCCCC6-D04F-4F0F-BD29-6B7E7AA575AE}" presName="sp" presStyleCnt="0"/>
      <dgm:spPr/>
    </dgm:pt>
    <dgm:pt modelId="{C889107C-AD70-45D2-9DAC-0DD7D4FB80A2}" type="pres">
      <dgm:prSet presAssocID="{C4595FFB-1604-4483-92B7-7072675F6EED}" presName="linNode" presStyleCnt="0"/>
      <dgm:spPr/>
    </dgm:pt>
    <dgm:pt modelId="{E1E1CC34-12B5-499B-A2E7-A1B922BD2AB4}" type="pres">
      <dgm:prSet presAssocID="{C4595FFB-1604-4483-92B7-7072675F6EED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8FF10541-DAD8-4C39-A003-82E5A83FAE3E}" type="pres">
      <dgm:prSet presAssocID="{C4595FFB-1604-4483-92B7-7072675F6EED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B2C80320-7852-411E-8554-6C4D4A92A157}" srcId="{EBB934F0-669C-4C40-AAED-91A756DA2747}" destId="{4D81FB7F-FAB9-49FD-B4A5-C391691A850A}" srcOrd="0" destOrd="0" parTransId="{08B59551-617F-42C6-BFE1-56C2E8C6BB99}" sibTransId="{93622ADF-A290-43C1-8EDE-7A12E8EFCD3E}"/>
    <dgm:cxn modelId="{28F37D21-F6CE-4CEE-A704-8B1DF14B4C17}" srcId="{04572719-FAA2-4A11-A0D8-4B0EDAD6E304}" destId="{ABB0B36B-028C-468F-9D3D-30541DF19256}" srcOrd="0" destOrd="0" parTransId="{7F517606-AF38-4213-A8F1-65612F417EFC}" sibTransId="{DC842FE0-2D36-47EB-8E95-EAECF1ACF4B9}"/>
    <dgm:cxn modelId="{5122F622-C8B6-4569-9C79-DF11FB3CC8F1}" srcId="{5E223F92-C85D-4F6E-8658-4A88D8F9C62A}" destId="{92D61D1D-1727-45BE-83E2-109AA4C6EF86}" srcOrd="0" destOrd="0" parTransId="{1FCE3293-A826-4917-9F91-70888902AE51}" sibTransId="{00C4DD19-DDA7-4CAB-B731-3C9AD6607C22}"/>
    <dgm:cxn modelId="{D47B243B-BB7B-4660-9482-290D1A01AF2E}" type="presOf" srcId="{92D61D1D-1727-45BE-83E2-109AA4C6EF86}" destId="{6E2CC74C-7328-46B3-8A86-69A626104182}" srcOrd="0" destOrd="0" presId="urn:microsoft.com/office/officeart/2016/7/layout/VerticalSolidActionList"/>
    <dgm:cxn modelId="{A071E73B-1FDB-46C6-806B-E78383A25D28}" type="presOf" srcId="{C4595FFB-1604-4483-92B7-7072675F6EED}" destId="{E1E1CC34-12B5-499B-A2E7-A1B922BD2AB4}" srcOrd="0" destOrd="0" presId="urn:microsoft.com/office/officeart/2016/7/layout/VerticalSolidActionList"/>
    <dgm:cxn modelId="{0365703E-637C-49D4-A381-AF6D725CFFA9}" type="presOf" srcId="{EBB934F0-669C-4C40-AAED-91A756DA2747}" destId="{F0C5F023-FCE4-48DA-BD04-2035AF9A193C}" srcOrd="0" destOrd="0" presId="urn:microsoft.com/office/officeart/2016/7/layout/VerticalSolidActionList"/>
    <dgm:cxn modelId="{135A0240-7ACA-426D-85B9-E9F1F53529C7}" srcId="{4C33CB7D-9211-40CA-B12B-C10D94CAA585}" destId="{5E223F92-C85D-4F6E-8658-4A88D8F9C62A}" srcOrd="2" destOrd="0" parTransId="{F4F50298-E2E2-4482-B153-0E15419E2074}" sibTransId="{C373AB6B-2C9A-40DF-A2BC-9B29FE6A57F3}"/>
    <dgm:cxn modelId="{5394275B-5CD3-418F-ACB1-0320EDDBD5A6}" type="presOf" srcId="{5D2883F6-BE11-4077-B35E-452C0C405678}" destId="{9BF0CB85-A1BA-4135-BB0A-6A607E4BBC8D}" srcOrd="0" destOrd="0" presId="urn:microsoft.com/office/officeart/2016/7/layout/VerticalSolidActionList"/>
    <dgm:cxn modelId="{BC293C5E-99B0-4C67-BCB7-0DF6728B980E}" type="presOf" srcId="{5E223F92-C85D-4F6E-8658-4A88D8F9C62A}" destId="{81064830-59E3-468B-8B58-CC7D3BFDECBD}" srcOrd="0" destOrd="0" presId="urn:microsoft.com/office/officeart/2016/7/layout/VerticalSolidActionList"/>
    <dgm:cxn modelId="{934F9C60-151B-4494-991A-D5D40EEEAE9B}" type="presOf" srcId="{4D81FB7F-FAB9-49FD-B4A5-C391691A850A}" destId="{47E65675-64B0-4B9E-AE85-7C0CA8F663F9}" srcOrd="0" destOrd="0" presId="urn:microsoft.com/office/officeart/2016/7/layout/VerticalSolidActionList"/>
    <dgm:cxn modelId="{B3E1A36E-DFF1-4F8A-951E-574D0B796B8E}" srcId="{4C33CB7D-9211-40CA-B12B-C10D94CAA585}" destId="{EBB934F0-669C-4C40-AAED-91A756DA2747}" srcOrd="1" destOrd="0" parTransId="{851DE601-C0F3-4524-9B27-033899E708EF}" sibTransId="{F2D29E16-BAD8-4AA7-99CE-0B54D02AB36B}"/>
    <dgm:cxn modelId="{E6B69152-B709-4D0B-B68D-76A9A6865448}" srcId="{4C33CB7D-9211-40CA-B12B-C10D94CAA585}" destId="{D9059A99-A924-488D-9523-F36EDA2D1F78}" srcOrd="3" destOrd="0" parTransId="{5735C566-3CF8-4E01-92EA-2715B7680474}" sibTransId="{763C30D0-E84A-4C76-A10C-84302A7EBEBE}"/>
    <dgm:cxn modelId="{CB819355-6941-49B6-9A7E-B7CCA8357100}" type="presOf" srcId="{4C33CB7D-9211-40CA-B12B-C10D94CAA585}" destId="{60490A15-422F-4C3D-B0CF-E62FAADEE5F2}" srcOrd="0" destOrd="0" presId="urn:microsoft.com/office/officeart/2016/7/layout/VerticalSolidActionList"/>
    <dgm:cxn modelId="{D1E9A15A-AA2F-45F7-AFF0-3859A04633C7}" srcId="{4C33CB7D-9211-40CA-B12B-C10D94CAA585}" destId="{04572719-FAA2-4A11-A0D8-4B0EDAD6E304}" srcOrd="0" destOrd="0" parTransId="{E1171EF7-EA86-467A-9418-EBBED165C6B8}" sibTransId="{AF66B913-E280-4626-B2D8-DE46450D9CA1}"/>
    <dgm:cxn modelId="{81BA3F85-CABC-48DA-AE2E-0EA5B21FEB76}" type="presOf" srcId="{DBD7C315-E33F-4026-955C-6F63AC291C25}" destId="{E41F31D4-4049-4C64-BF0F-A7223C25B2F7}" srcOrd="0" destOrd="0" presId="urn:microsoft.com/office/officeart/2016/7/layout/VerticalSolidActionList"/>
    <dgm:cxn modelId="{AD0EC38C-9B59-4A1F-8276-0A6AFBA6821B}" srcId="{4C33CB7D-9211-40CA-B12B-C10D94CAA585}" destId="{07CF6927-CEDD-46C6-99F6-BB8DBE351E98}" srcOrd="4" destOrd="0" parTransId="{0CBBE3C1-4729-4A14-A3F7-53A7C4B59694}" sibTransId="{74DCCCC6-D04F-4F0F-BD29-6B7E7AA575AE}"/>
    <dgm:cxn modelId="{66D098C2-B446-44F6-86A4-BE376F7FAA1F}" srcId="{D9059A99-A924-488D-9523-F36EDA2D1F78}" destId="{DBD7C315-E33F-4026-955C-6F63AC291C25}" srcOrd="0" destOrd="0" parTransId="{444E0608-30F1-4369-96C5-5D628693C9A4}" sibTransId="{57826EC9-1AFA-40D2-A744-11D50746C0D7}"/>
    <dgm:cxn modelId="{54CCBBC3-1FB2-4DD9-9FC1-FFA20C300D19}" type="presOf" srcId="{098A99D5-F82D-498C-8D18-66847028920B}" destId="{8FF10541-DAD8-4C39-A003-82E5A83FAE3E}" srcOrd="0" destOrd="0" presId="urn:microsoft.com/office/officeart/2016/7/layout/VerticalSolidActionList"/>
    <dgm:cxn modelId="{09206CC4-DCF5-4D67-B70F-7960FBEC1E94}" type="presOf" srcId="{ABB0B36B-028C-468F-9D3D-30541DF19256}" destId="{56766C33-4D31-4118-B93A-9D567F86358F}" srcOrd="0" destOrd="0" presId="urn:microsoft.com/office/officeart/2016/7/layout/VerticalSolidActionList"/>
    <dgm:cxn modelId="{121887C8-6BAC-4196-8182-225EA33414B5}" srcId="{07CF6927-CEDD-46C6-99F6-BB8DBE351E98}" destId="{5D2883F6-BE11-4077-B35E-452C0C405678}" srcOrd="0" destOrd="0" parTransId="{317A42DF-113C-49BC-A78F-495E02573237}" sibTransId="{E58EDC2B-B968-45D3-BABD-63384743289F}"/>
    <dgm:cxn modelId="{4BC395C9-466D-4BE4-A0A8-004CEE219851}" type="presOf" srcId="{D9059A99-A924-488D-9523-F36EDA2D1F78}" destId="{A9270BB5-B12F-47D3-99CC-2F959C802F2C}" srcOrd="0" destOrd="0" presId="urn:microsoft.com/office/officeart/2016/7/layout/VerticalSolidActionList"/>
    <dgm:cxn modelId="{59E92DCC-3EEF-4835-B455-F707E41AFAE3}" type="presOf" srcId="{04572719-FAA2-4A11-A0D8-4B0EDAD6E304}" destId="{EEC6D309-19F9-4024-BF81-432B62848C05}" srcOrd="0" destOrd="0" presId="urn:microsoft.com/office/officeart/2016/7/layout/VerticalSolidActionList"/>
    <dgm:cxn modelId="{326A55D1-6A7F-4FD4-B0DE-CE3FF5207657}" type="presOf" srcId="{07CF6927-CEDD-46C6-99F6-BB8DBE351E98}" destId="{86511837-6C98-4AB1-8205-F9AEE0AE95CF}" srcOrd="0" destOrd="0" presId="urn:microsoft.com/office/officeart/2016/7/layout/VerticalSolidActionList"/>
    <dgm:cxn modelId="{8B772FD7-1D86-41BE-A28E-3D5FD0C75E50}" srcId="{4C33CB7D-9211-40CA-B12B-C10D94CAA585}" destId="{C4595FFB-1604-4483-92B7-7072675F6EED}" srcOrd="5" destOrd="0" parTransId="{48298A9B-AFE3-478B-99C1-F80853E85813}" sibTransId="{1EE406C3-DA4D-45ED-9F75-17DBBD261A10}"/>
    <dgm:cxn modelId="{DCBC38F2-232C-4968-9DC8-F3A675F98605}" srcId="{C4595FFB-1604-4483-92B7-7072675F6EED}" destId="{098A99D5-F82D-498C-8D18-66847028920B}" srcOrd="0" destOrd="0" parTransId="{458C2DDE-1941-459F-81D2-A6CE6748CFB9}" sibTransId="{D2EF5DC5-666D-4E6B-9B57-5615FB4F2264}"/>
    <dgm:cxn modelId="{AA1A3C9C-E0D4-46F0-B821-BD0901725967}" type="presParOf" srcId="{60490A15-422F-4C3D-B0CF-E62FAADEE5F2}" destId="{9F3BFA50-9F9F-401C-A58E-AA5DF3D45BB3}" srcOrd="0" destOrd="0" presId="urn:microsoft.com/office/officeart/2016/7/layout/VerticalSolidActionList"/>
    <dgm:cxn modelId="{32C29AB7-3AF1-426F-A417-3040D9383D8C}" type="presParOf" srcId="{9F3BFA50-9F9F-401C-A58E-AA5DF3D45BB3}" destId="{EEC6D309-19F9-4024-BF81-432B62848C05}" srcOrd="0" destOrd="0" presId="urn:microsoft.com/office/officeart/2016/7/layout/VerticalSolidActionList"/>
    <dgm:cxn modelId="{D4139DD7-70F5-4C9A-B4CA-565BA83BD278}" type="presParOf" srcId="{9F3BFA50-9F9F-401C-A58E-AA5DF3D45BB3}" destId="{56766C33-4D31-4118-B93A-9D567F86358F}" srcOrd="1" destOrd="0" presId="urn:microsoft.com/office/officeart/2016/7/layout/VerticalSolidActionList"/>
    <dgm:cxn modelId="{205F582C-2478-4952-89A1-1202AF937220}" type="presParOf" srcId="{60490A15-422F-4C3D-B0CF-E62FAADEE5F2}" destId="{34BDA8CB-283C-4667-B7ED-ABCB889FB4E2}" srcOrd="1" destOrd="0" presId="urn:microsoft.com/office/officeart/2016/7/layout/VerticalSolidActionList"/>
    <dgm:cxn modelId="{13C70BB2-8114-41BB-868A-9A8286A336A1}" type="presParOf" srcId="{60490A15-422F-4C3D-B0CF-E62FAADEE5F2}" destId="{471305FA-86C4-4FE2-A198-5B09C57735A4}" srcOrd="2" destOrd="0" presId="urn:microsoft.com/office/officeart/2016/7/layout/VerticalSolidActionList"/>
    <dgm:cxn modelId="{0E933E31-4277-4644-A6C1-B3CD3C4B263F}" type="presParOf" srcId="{471305FA-86C4-4FE2-A198-5B09C57735A4}" destId="{F0C5F023-FCE4-48DA-BD04-2035AF9A193C}" srcOrd="0" destOrd="0" presId="urn:microsoft.com/office/officeart/2016/7/layout/VerticalSolidActionList"/>
    <dgm:cxn modelId="{D74B593F-DA3E-49B6-A41C-FCF4469C1CC8}" type="presParOf" srcId="{471305FA-86C4-4FE2-A198-5B09C57735A4}" destId="{47E65675-64B0-4B9E-AE85-7C0CA8F663F9}" srcOrd="1" destOrd="0" presId="urn:microsoft.com/office/officeart/2016/7/layout/VerticalSolidActionList"/>
    <dgm:cxn modelId="{AF367B17-2367-4098-8FBA-CC4D4E9DD1B8}" type="presParOf" srcId="{60490A15-422F-4C3D-B0CF-E62FAADEE5F2}" destId="{3F64542C-2E78-4671-AFA9-BB0B659B2597}" srcOrd="3" destOrd="0" presId="urn:microsoft.com/office/officeart/2016/7/layout/VerticalSolidActionList"/>
    <dgm:cxn modelId="{02B7CDB2-2450-46A0-BC83-EEBA1FF4E6EB}" type="presParOf" srcId="{60490A15-422F-4C3D-B0CF-E62FAADEE5F2}" destId="{0562BCCD-76F4-4B09-BD8A-D7F1F70C4F83}" srcOrd="4" destOrd="0" presId="urn:microsoft.com/office/officeart/2016/7/layout/VerticalSolidActionList"/>
    <dgm:cxn modelId="{21A07F89-B81C-4EBC-83C2-3829EDDB05C6}" type="presParOf" srcId="{0562BCCD-76F4-4B09-BD8A-D7F1F70C4F83}" destId="{81064830-59E3-468B-8B58-CC7D3BFDECBD}" srcOrd="0" destOrd="0" presId="urn:microsoft.com/office/officeart/2016/7/layout/VerticalSolidActionList"/>
    <dgm:cxn modelId="{68257304-19B9-460C-A60C-E15CC17FF4EB}" type="presParOf" srcId="{0562BCCD-76F4-4B09-BD8A-D7F1F70C4F83}" destId="{6E2CC74C-7328-46B3-8A86-69A626104182}" srcOrd="1" destOrd="0" presId="urn:microsoft.com/office/officeart/2016/7/layout/VerticalSolidActionList"/>
    <dgm:cxn modelId="{7DB5F288-E0BA-466B-BB36-104C7A80F39C}" type="presParOf" srcId="{60490A15-422F-4C3D-B0CF-E62FAADEE5F2}" destId="{F2CE5728-69CE-48DA-AF63-8C135BDF4364}" srcOrd="5" destOrd="0" presId="urn:microsoft.com/office/officeart/2016/7/layout/VerticalSolidActionList"/>
    <dgm:cxn modelId="{C2162CB2-F949-438A-A81F-66DE7885A537}" type="presParOf" srcId="{60490A15-422F-4C3D-B0CF-E62FAADEE5F2}" destId="{B1237C2B-2105-4017-BB35-5DC6E848A40E}" srcOrd="6" destOrd="0" presId="urn:microsoft.com/office/officeart/2016/7/layout/VerticalSolidActionList"/>
    <dgm:cxn modelId="{C7602875-D4D0-4442-BAFC-33B7C3BC729A}" type="presParOf" srcId="{B1237C2B-2105-4017-BB35-5DC6E848A40E}" destId="{A9270BB5-B12F-47D3-99CC-2F959C802F2C}" srcOrd="0" destOrd="0" presId="urn:microsoft.com/office/officeart/2016/7/layout/VerticalSolidActionList"/>
    <dgm:cxn modelId="{1D18E65F-EFC7-4D51-B2A1-4686EA7DC979}" type="presParOf" srcId="{B1237C2B-2105-4017-BB35-5DC6E848A40E}" destId="{E41F31D4-4049-4C64-BF0F-A7223C25B2F7}" srcOrd="1" destOrd="0" presId="urn:microsoft.com/office/officeart/2016/7/layout/VerticalSolidActionList"/>
    <dgm:cxn modelId="{694918C6-B199-4A0B-98F8-F0FCC55E11AF}" type="presParOf" srcId="{60490A15-422F-4C3D-B0CF-E62FAADEE5F2}" destId="{D539EAC8-E635-438F-9B3F-6ABA5158B42E}" srcOrd="7" destOrd="0" presId="urn:microsoft.com/office/officeart/2016/7/layout/VerticalSolidActionList"/>
    <dgm:cxn modelId="{D590776E-12EC-4E69-8554-2947C383CD6A}" type="presParOf" srcId="{60490A15-422F-4C3D-B0CF-E62FAADEE5F2}" destId="{3D480158-1890-4C5D-8719-4C6EFAE0E3F5}" srcOrd="8" destOrd="0" presId="urn:microsoft.com/office/officeart/2016/7/layout/VerticalSolidActionList"/>
    <dgm:cxn modelId="{E57EB938-8B96-4074-8D6D-815630AE63A0}" type="presParOf" srcId="{3D480158-1890-4C5D-8719-4C6EFAE0E3F5}" destId="{86511837-6C98-4AB1-8205-F9AEE0AE95CF}" srcOrd="0" destOrd="0" presId="urn:microsoft.com/office/officeart/2016/7/layout/VerticalSolidActionList"/>
    <dgm:cxn modelId="{A69A6840-88CE-449D-9174-B4B6121B0343}" type="presParOf" srcId="{3D480158-1890-4C5D-8719-4C6EFAE0E3F5}" destId="{9BF0CB85-A1BA-4135-BB0A-6A607E4BBC8D}" srcOrd="1" destOrd="0" presId="urn:microsoft.com/office/officeart/2016/7/layout/VerticalSolidActionList"/>
    <dgm:cxn modelId="{A77B3769-CC9B-4A94-A99E-EF82D68B44A2}" type="presParOf" srcId="{60490A15-422F-4C3D-B0CF-E62FAADEE5F2}" destId="{D2199B67-6C8B-4371-BB46-BDCE7B1C252D}" srcOrd="9" destOrd="0" presId="urn:microsoft.com/office/officeart/2016/7/layout/VerticalSolidActionList"/>
    <dgm:cxn modelId="{E8BA4061-F3AE-40E5-A691-35E34F5F6279}" type="presParOf" srcId="{60490A15-422F-4C3D-B0CF-E62FAADEE5F2}" destId="{C889107C-AD70-45D2-9DAC-0DD7D4FB80A2}" srcOrd="10" destOrd="0" presId="urn:microsoft.com/office/officeart/2016/7/layout/VerticalSolidActionList"/>
    <dgm:cxn modelId="{51C509A3-3975-4F44-A049-6E25C23EAC11}" type="presParOf" srcId="{C889107C-AD70-45D2-9DAC-0DD7D4FB80A2}" destId="{E1E1CC34-12B5-499B-A2E7-A1B922BD2AB4}" srcOrd="0" destOrd="0" presId="urn:microsoft.com/office/officeart/2016/7/layout/VerticalSolidActionList"/>
    <dgm:cxn modelId="{15B1709D-7B81-4D0A-A640-8367C7720EC8}" type="presParOf" srcId="{C889107C-AD70-45D2-9DAC-0DD7D4FB80A2}" destId="{8FF10541-DAD8-4C39-A003-82E5A83FAE3E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752FE3-C0FE-4F74-B65C-1256BB5F351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DE8927-2CE4-4D40-AB92-9161C1F5CD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az-Latn-AZ" sz="1600"/>
            <a:t>Both </a:t>
          </a:r>
          <a:r>
            <a:rPr lang="en-US" sz="1600"/>
            <a:t>Entropy </a:t>
          </a:r>
          <a:r>
            <a:rPr lang="en-US" sz="1600" b="1"/>
            <a:t>improve accuracy across all tasks</a:t>
          </a:r>
          <a:r>
            <a:rPr lang="en-US" sz="1600"/>
            <a:t>.</a:t>
          </a:r>
        </a:p>
      </dgm:t>
    </dgm:pt>
    <dgm:pt modelId="{14BDEBF6-0F66-484D-B0A7-20522881E96E}" type="parTrans" cxnId="{BB78B944-6AA5-4094-99C0-D0B2147A0806}">
      <dgm:prSet/>
      <dgm:spPr/>
      <dgm:t>
        <a:bodyPr/>
        <a:lstStyle/>
        <a:p>
          <a:endParaRPr lang="en-US"/>
        </a:p>
      </dgm:t>
    </dgm:pt>
    <dgm:pt modelId="{663A4F2F-951E-41AC-94E3-90613488DC20}" type="sibTrans" cxnId="{BB78B944-6AA5-4094-99C0-D0B2147A0806}">
      <dgm:prSet/>
      <dgm:spPr/>
      <dgm:t>
        <a:bodyPr/>
        <a:lstStyle/>
        <a:p>
          <a:endParaRPr lang="en-US"/>
        </a:p>
      </dgm:t>
    </dgm:pt>
    <dgm:pt modelId="{A8510DEA-32D2-493A-A6A5-D8BDC9F978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Average improvement: </a:t>
          </a:r>
          <a:r>
            <a:rPr lang="en-US" sz="1600" b="1"/>
            <a:t>~13% relative gain</a:t>
          </a:r>
          <a:r>
            <a:rPr lang="en-US" sz="1600"/>
            <a:t> (</a:t>
          </a:r>
          <a:r>
            <a:rPr lang="en-US" sz="1600" err="1"/>
            <a:t>GlobalE</a:t>
          </a:r>
          <a:r>
            <a:rPr lang="en-US" sz="1600"/>
            <a:t>).</a:t>
          </a:r>
        </a:p>
      </dgm:t>
    </dgm:pt>
    <dgm:pt modelId="{18BB6556-E6A1-4C81-9D77-D771D46C83FB}" type="parTrans" cxnId="{9E35A9AD-84E5-4BB6-9DC6-1A41ED18B97C}">
      <dgm:prSet/>
      <dgm:spPr/>
      <dgm:t>
        <a:bodyPr/>
        <a:lstStyle/>
        <a:p>
          <a:endParaRPr lang="en-US"/>
        </a:p>
      </dgm:t>
    </dgm:pt>
    <dgm:pt modelId="{3DF6BB09-8D49-402D-9B9F-A832DFDDD7F8}" type="sibTrans" cxnId="{9E35A9AD-84E5-4BB6-9DC6-1A41ED18B97C}">
      <dgm:prSet/>
      <dgm:spPr/>
      <dgm:t>
        <a:bodyPr/>
        <a:lstStyle/>
        <a:p>
          <a:endParaRPr lang="en-US"/>
        </a:p>
      </dgm:t>
    </dgm:pt>
    <dgm:pt modelId="{78C7A001-6E7F-4E0B-AFDF-9CC770BFF68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Gains are </a:t>
          </a:r>
          <a:r>
            <a:rPr lang="en-US" sz="1600" b="1"/>
            <a:t>largest for small and medium-sized models</a:t>
          </a:r>
          <a:r>
            <a:rPr lang="en-US" sz="1800"/>
            <a:t>.</a:t>
          </a:r>
        </a:p>
      </dgm:t>
    </dgm:pt>
    <dgm:pt modelId="{BA24A517-2C4E-4B88-886F-1165553BC943}" type="parTrans" cxnId="{7983D0BC-CD65-4C00-BC50-C3185AF42740}">
      <dgm:prSet/>
      <dgm:spPr/>
      <dgm:t>
        <a:bodyPr/>
        <a:lstStyle/>
        <a:p>
          <a:endParaRPr lang="en-US"/>
        </a:p>
      </dgm:t>
    </dgm:pt>
    <dgm:pt modelId="{E46FE8E6-BC9F-4E4A-8227-3C429DD8BB3D}" type="sibTrans" cxnId="{7983D0BC-CD65-4C00-BC50-C3185AF42740}">
      <dgm:prSet/>
      <dgm:spPr/>
      <dgm:t>
        <a:bodyPr/>
        <a:lstStyle/>
        <a:p>
          <a:endParaRPr lang="en-US"/>
        </a:p>
      </dgm:t>
    </dgm:pt>
    <dgm:pt modelId="{27DCFC87-F302-4C3C-9A4D-E9A762F02C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Entropy-based selection also </a:t>
          </a:r>
          <a:r>
            <a:rPr lang="en-US" sz="1600" b="1"/>
            <a:t>reduces variance</a:t>
          </a:r>
          <a:r>
            <a:rPr lang="en-US" sz="1600"/>
            <a:t> significantly</a:t>
          </a:r>
        </a:p>
      </dgm:t>
    </dgm:pt>
    <dgm:pt modelId="{3F642F91-DCA9-40D4-8169-BF1445A4CBA1}" type="parTrans" cxnId="{6A860443-ABC7-4935-A33A-D2073C9239F9}">
      <dgm:prSet/>
      <dgm:spPr/>
      <dgm:t>
        <a:bodyPr/>
        <a:lstStyle/>
        <a:p>
          <a:endParaRPr lang="en-US"/>
        </a:p>
      </dgm:t>
    </dgm:pt>
    <dgm:pt modelId="{D24929CA-CF2B-4011-B54A-ACC4718764CE}" type="sibTrans" cxnId="{6A860443-ABC7-4935-A33A-D2073C9239F9}">
      <dgm:prSet/>
      <dgm:spPr/>
      <dgm:t>
        <a:bodyPr/>
        <a:lstStyle/>
        <a:p>
          <a:endParaRPr lang="en-US"/>
        </a:p>
      </dgm:t>
    </dgm:pt>
    <dgm:pt modelId="{E3C83F58-C704-4982-A057-6EFF30A04F85}" type="pres">
      <dgm:prSet presAssocID="{2D752FE3-C0FE-4F74-B65C-1256BB5F3512}" presName="root" presStyleCnt="0">
        <dgm:presLayoutVars>
          <dgm:dir/>
          <dgm:resizeHandles val="exact"/>
        </dgm:presLayoutVars>
      </dgm:prSet>
      <dgm:spPr/>
    </dgm:pt>
    <dgm:pt modelId="{506BB7BB-B19F-412D-8678-283A9C214DCC}" type="pres">
      <dgm:prSet presAssocID="{A5DE8927-2CE4-4D40-AB92-9161C1F5CDB4}" presName="compNode" presStyleCnt="0"/>
      <dgm:spPr/>
    </dgm:pt>
    <dgm:pt modelId="{24AC3821-B5C6-4B4A-8F35-2C930A065BBA}" type="pres">
      <dgm:prSet presAssocID="{A5DE8927-2CE4-4D40-AB92-9161C1F5CD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9AA5130-5950-4C84-8D6A-94738B27FE49}" type="pres">
      <dgm:prSet presAssocID="{A5DE8927-2CE4-4D40-AB92-9161C1F5CDB4}" presName="spaceRect" presStyleCnt="0"/>
      <dgm:spPr/>
    </dgm:pt>
    <dgm:pt modelId="{F1044739-E66A-4BD6-8BB5-21EEABAAD562}" type="pres">
      <dgm:prSet presAssocID="{A5DE8927-2CE4-4D40-AB92-9161C1F5CDB4}" presName="textRect" presStyleLbl="revTx" presStyleIdx="0" presStyleCnt="4">
        <dgm:presLayoutVars>
          <dgm:chMax val="1"/>
          <dgm:chPref val="1"/>
        </dgm:presLayoutVars>
      </dgm:prSet>
      <dgm:spPr/>
    </dgm:pt>
    <dgm:pt modelId="{29751B8A-E884-4CE7-AF0A-7D78776428BE}" type="pres">
      <dgm:prSet presAssocID="{663A4F2F-951E-41AC-94E3-90613488DC20}" presName="sibTrans" presStyleCnt="0"/>
      <dgm:spPr/>
    </dgm:pt>
    <dgm:pt modelId="{34C2E07C-7B4A-407B-8215-A9C87B21EC01}" type="pres">
      <dgm:prSet presAssocID="{A8510DEA-32D2-493A-A6A5-D8BDC9F97896}" presName="compNode" presStyleCnt="0"/>
      <dgm:spPr/>
    </dgm:pt>
    <dgm:pt modelId="{4CEBBD57-71E8-4779-8EF7-9E27B2ED4A23}" type="pres">
      <dgm:prSet presAssocID="{A8510DEA-32D2-493A-A6A5-D8BDC9F978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CE648001-39EC-41C3-A097-2F4B4E5557EF}" type="pres">
      <dgm:prSet presAssocID="{A8510DEA-32D2-493A-A6A5-D8BDC9F97896}" presName="spaceRect" presStyleCnt="0"/>
      <dgm:spPr/>
    </dgm:pt>
    <dgm:pt modelId="{B9CF1146-E792-460A-81EB-D8BAE9DFF125}" type="pres">
      <dgm:prSet presAssocID="{A8510DEA-32D2-493A-A6A5-D8BDC9F97896}" presName="textRect" presStyleLbl="revTx" presStyleIdx="1" presStyleCnt="4" custScaleX="119365">
        <dgm:presLayoutVars>
          <dgm:chMax val="1"/>
          <dgm:chPref val="1"/>
        </dgm:presLayoutVars>
      </dgm:prSet>
      <dgm:spPr/>
    </dgm:pt>
    <dgm:pt modelId="{06AC7FBA-68CA-4175-973C-BF58BD2100CC}" type="pres">
      <dgm:prSet presAssocID="{3DF6BB09-8D49-402D-9B9F-A832DFDDD7F8}" presName="sibTrans" presStyleCnt="0"/>
      <dgm:spPr/>
    </dgm:pt>
    <dgm:pt modelId="{F681C9EA-A065-48E7-9478-B2C66684BDFA}" type="pres">
      <dgm:prSet presAssocID="{78C7A001-6E7F-4E0B-AFDF-9CC770BFF686}" presName="compNode" presStyleCnt="0"/>
      <dgm:spPr/>
    </dgm:pt>
    <dgm:pt modelId="{99586953-3135-4C67-BD71-4C4E0A687EBD}" type="pres">
      <dgm:prSet presAssocID="{78C7A001-6E7F-4E0B-AFDF-9CC770BFF686}" presName="iconRect" presStyleLbl="node1" presStyleIdx="2" presStyleCnt="4" custLinFactNeighborX="-27842" custLinFactNeighborY="1385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6EE0A1-7DF9-4CFA-B288-4705C19A1612}" type="pres">
      <dgm:prSet presAssocID="{78C7A001-6E7F-4E0B-AFDF-9CC770BFF686}" presName="spaceRect" presStyleCnt="0"/>
      <dgm:spPr/>
    </dgm:pt>
    <dgm:pt modelId="{EB0B2915-BF7B-4DAC-9AB8-D6E2339FBFEC}" type="pres">
      <dgm:prSet presAssocID="{78C7A001-6E7F-4E0B-AFDF-9CC770BFF686}" presName="textRect" presStyleLbl="revTx" presStyleIdx="2" presStyleCnt="4" custScaleX="103274" custScaleY="109756" custLinFactNeighborX="-8362" custLinFactNeighborY="5470">
        <dgm:presLayoutVars>
          <dgm:chMax val="1"/>
          <dgm:chPref val="1"/>
        </dgm:presLayoutVars>
      </dgm:prSet>
      <dgm:spPr/>
    </dgm:pt>
    <dgm:pt modelId="{80DCD33B-691A-475B-8C1C-296D64C807ED}" type="pres">
      <dgm:prSet presAssocID="{E46FE8E6-BC9F-4E4A-8227-3C429DD8BB3D}" presName="sibTrans" presStyleCnt="0"/>
      <dgm:spPr/>
    </dgm:pt>
    <dgm:pt modelId="{D39AAC89-8EE2-46EA-BAA4-16A2399087F7}" type="pres">
      <dgm:prSet presAssocID="{27DCFC87-F302-4C3C-9A4D-E9A762F02CF8}" presName="compNode" presStyleCnt="0"/>
      <dgm:spPr/>
    </dgm:pt>
    <dgm:pt modelId="{B2DCF956-2AF3-49B5-BA54-981ED5D6BB0F}" type="pres">
      <dgm:prSet presAssocID="{27DCFC87-F302-4C3C-9A4D-E9A762F02CF8}" presName="iconRect" presStyleLbl="node1" presStyleIdx="3" presStyleCnt="4" custLinFactNeighborX="36760" custLinFactNeighborY="9731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CF00332-F3A3-435F-9107-A285BB6FE166}" type="pres">
      <dgm:prSet presAssocID="{27DCFC87-F302-4C3C-9A4D-E9A762F02CF8}" presName="spaceRect" presStyleCnt="0"/>
      <dgm:spPr/>
    </dgm:pt>
    <dgm:pt modelId="{14F6FCA1-65B8-4472-A93D-418E8B56F293}" type="pres">
      <dgm:prSet presAssocID="{27DCFC87-F302-4C3C-9A4D-E9A762F02CF8}" presName="textRect" presStyleLbl="revTx" presStyleIdx="3" presStyleCnt="4" custLinFactNeighborX="15569">
        <dgm:presLayoutVars>
          <dgm:chMax val="1"/>
          <dgm:chPref val="1"/>
        </dgm:presLayoutVars>
      </dgm:prSet>
      <dgm:spPr/>
    </dgm:pt>
  </dgm:ptLst>
  <dgm:cxnLst>
    <dgm:cxn modelId="{6A860443-ABC7-4935-A33A-D2073C9239F9}" srcId="{2D752FE3-C0FE-4F74-B65C-1256BB5F3512}" destId="{27DCFC87-F302-4C3C-9A4D-E9A762F02CF8}" srcOrd="3" destOrd="0" parTransId="{3F642F91-DCA9-40D4-8169-BF1445A4CBA1}" sibTransId="{D24929CA-CF2B-4011-B54A-ACC4718764CE}"/>
    <dgm:cxn modelId="{BB78B944-6AA5-4094-99C0-D0B2147A0806}" srcId="{2D752FE3-C0FE-4F74-B65C-1256BB5F3512}" destId="{A5DE8927-2CE4-4D40-AB92-9161C1F5CDB4}" srcOrd="0" destOrd="0" parTransId="{14BDEBF6-0F66-484D-B0A7-20522881E96E}" sibTransId="{663A4F2F-951E-41AC-94E3-90613488DC20}"/>
    <dgm:cxn modelId="{570C548E-CE50-48EA-865C-D8F238F3F2FD}" type="presOf" srcId="{78C7A001-6E7F-4E0B-AFDF-9CC770BFF686}" destId="{EB0B2915-BF7B-4DAC-9AB8-D6E2339FBFEC}" srcOrd="0" destOrd="0" presId="urn:microsoft.com/office/officeart/2018/2/layout/IconLabelList"/>
    <dgm:cxn modelId="{9E35A9AD-84E5-4BB6-9DC6-1A41ED18B97C}" srcId="{2D752FE3-C0FE-4F74-B65C-1256BB5F3512}" destId="{A8510DEA-32D2-493A-A6A5-D8BDC9F97896}" srcOrd="1" destOrd="0" parTransId="{18BB6556-E6A1-4C81-9D77-D771D46C83FB}" sibTransId="{3DF6BB09-8D49-402D-9B9F-A832DFDDD7F8}"/>
    <dgm:cxn modelId="{B09F44B0-D741-484E-9DE6-A509C971D86F}" type="presOf" srcId="{A8510DEA-32D2-493A-A6A5-D8BDC9F97896}" destId="{B9CF1146-E792-460A-81EB-D8BAE9DFF125}" srcOrd="0" destOrd="0" presId="urn:microsoft.com/office/officeart/2018/2/layout/IconLabelList"/>
    <dgm:cxn modelId="{7983D0BC-CD65-4C00-BC50-C3185AF42740}" srcId="{2D752FE3-C0FE-4F74-B65C-1256BB5F3512}" destId="{78C7A001-6E7F-4E0B-AFDF-9CC770BFF686}" srcOrd="2" destOrd="0" parTransId="{BA24A517-2C4E-4B88-886F-1165553BC943}" sibTransId="{E46FE8E6-BC9F-4E4A-8227-3C429DD8BB3D}"/>
    <dgm:cxn modelId="{03C6B8C4-83A4-47B3-A750-701CDEE1708D}" type="presOf" srcId="{A5DE8927-2CE4-4D40-AB92-9161C1F5CDB4}" destId="{F1044739-E66A-4BD6-8BB5-21EEABAAD562}" srcOrd="0" destOrd="0" presId="urn:microsoft.com/office/officeart/2018/2/layout/IconLabelList"/>
    <dgm:cxn modelId="{273F57D9-F322-4555-9D53-499D5F8B776F}" type="presOf" srcId="{27DCFC87-F302-4C3C-9A4D-E9A762F02CF8}" destId="{14F6FCA1-65B8-4472-A93D-418E8B56F293}" srcOrd="0" destOrd="0" presId="urn:microsoft.com/office/officeart/2018/2/layout/IconLabelList"/>
    <dgm:cxn modelId="{F1E878FB-328A-449F-8255-71C3125703D9}" type="presOf" srcId="{2D752FE3-C0FE-4F74-B65C-1256BB5F3512}" destId="{E3C83F58-C704-4982-A057-6EFF30A04F85}" srcOrd="0" destOrd="0" presId="urn:microsoft.com/office/officeart/2018/2/layout/IconLabelList"/>
    <dgm:cxn modelId="{F3765FAB-3850-4D48-AEBA-54F8094B8563}" type="presParOf" srcId="{E3C83F58-C704-4982-A057-6EFF30A04F85}" destId="{506BB7BB-B19F-412D-8678-283A9C214DCC}" srcOrd="0" destOrd="0" presId="urn:microsoft.com/office/officeart/2018/2/layout/IconLabelList"/>
    <dgm:cxn modelId="{E6D8B456-0072-4A42-A8D3-EA2F1F112E58}" type="presParOf" srcId="{506BB7BB-B19F-412D-8678-283A9C214DCC}" destId="{24AC3821-B5C6-4B4A-8F35-2C930A065BBA}" srcOrd="0" destOrd="0" presId="urn:microsoft.com/office/officeart/2018/2/layout/IconLabelList"/>
    <dgm:cxn modelId="{40B6C819-DC7C-4267-9574-D3BD2F2F9CED}" type="presParOf" srcId="{506BB7BB-B19F-412D-8678-283A9C214DCC}" destId="{59AA5130-5950-4C84-8D6A-94738B27FE49}" srcOrd="1" destOrd="0" presId="urn:microsoft.com/office/officeart/2018/2/layout/IconLabelList"/>
    <dgm:cxn modelId="{9BC13709-5A37-4C3A-B207-15DC1F1990CA}" type="presParOf" srcId="{506BB7BB-B19F-412D-8678-283A9C214DCC}" destId="{F1044739-E66A-4BD6-8BB5-21EEABAAD562}" srcOrd="2" destOrd="0" presId="urn:microsoft.com/office/officeart/2018/2/layout/IconLabelList"/>
    <dgm:cxn modelId="{8E87D156-DB3C-43B0-85A3-EF79D0DA688F}" type="presParOf" srcId="{E3C83F58-C704-4982-A057-6EFF30A04F85}" destId="{29751B8A-E884-4CE7-AF0A-7D78776428BE}" srcOrd="1" destOrd="0" presId="urn:microsoft.com/office/officeart/2018/2/layout/IconLabelList"/>
    <dgm:cxn modelId="{869C4DC9-E47A-4B8A-9A43-CD32286CE609}" type="presParOf" srcId="{E3C83F58-C704-4982-A057-6EFF30A04F85}" destId="{34C2E07C-7B4A-407B-8215-A9C87B21EC01}" srcOrd="2" destOrd="0" presId="urn:microsoft.com/office/officeart/2018/2/layout/IconLabelList"/>
    <dgm:cxn modelId="{062EAF5E-5CA6-4CA9-AF92-B1259FAE3EF6}" type="presParOf" srcId="{34C2E07C-7B4A-407B-8215-A9C87B21EC01}" destId="{4CEBBD57-71E8-4779-8EF7-9E27B2ED4A23}" srcOrd="0" destOrd="0" presId="urn:microsoft.com/office/officeart/2018/2/layout/IconLabelList"/>
    <dgm:cxn modelId="{C192411D-5516-41DB-8B33-0640C88A3C7C}" type="presParOf" srcId="{34C2E07C-7B4A-407B-8215-A9C87B21EC01}" destId="{CE648001-39EC-41C3-A097-2F4B4E5557EF}" srcOrd="1" destOrd="0" presId="urn:microsoft.com/office/officeart/2018/2/layout/IconLabelList"/>
    <dgm:cxn modelId="{45AD4A95-BFDD-4B84-819D-70942BA215BD}" type="presParOf" srcId="{34C2E07C-7B4A-407B-8215-A9C87B21EC01}" destId="{B9CF1146-E792-460A-81EB-D8BAE9DFF125}" srcOrd="2" destOrd="0" presId="urn:microsoft.com/office/officeart/2018/2/layout/IconLabelList"/>
    <dgm:cxn modelId="{CDC74871-2D52-45C9-AB29-34737189C10D}" type="presParOf" srcId="{E3C83F58-C704-4982-A057-6EFF30A04F85}" destId="{06AC7FBA-68CA-4175-973C-BF58BD2100CC}" srcOrd="3" destOrd="0" presId="urn:microsoft.com/office/officeart/2018/2/layout/IconLabelList"/>
    <dgm:cxn modelId="{39D2E1D8-5530-4C29-A05E-CC5EDAF6F0F0}" type="presParOf" srcId="{E3C83F58-C704-4982-A057-6EFF30A04F85}" destId="{F681C9EA-A065-48E7-9478-B2C66684BDFA}" srcOrd="4" destOrd="0" presId="urn:microsoft.com/office/officeart/2018/2/layout/IconLabelList"/>
    <dgm:cxn modelId="{D086AD40-7FAA-442F-A87D-43E0B1146542}" type="presParOf" srcId="{F681C9EA-A065-48E7-9478-B2C66684BDFA}" destId="{99586953-3135-4C67-BD71-4C4E0A687EBD}" srcOrd="0" destOrd="0" presId="urn:microsoft.com/office/officeart/2018/2/layout/IconLabelList"/>
    <dgm:cxn modelId="{A2E2EAB1-0AD6-4FE7-A597-526FAB6CCF14}" type="presParOf" srcId="{F681C9EA-A065-48E7-9478-B2C66684BDFA}" destId="{CC6EE0A1-7DF9-4CFA-B288-4705C19A1612}" srcOrd="1" destOrd="0" presId="urn:microsoft.com/office/officeart/2018/2/layout/IconLabelList"/>
    <dgm:cxn modelId="{69225988-1C46-405D-A863-CA82E3FF3504}" type="presParOf" srcId="{F681C9EA-A065-48E7-9478-B2C66684BDFA}" destId="{EB0B2915-BF7B-4DAC-9AB8-D6E2339FBFEC}" srcOrd="2" destOrd="0" presId="urn:microsoft.com/office/officeart/2018/2/layout/IconLabelList"/>
    <dgm:cxn modelId="{3B01466C-F752-4F48-9171-23C23C0CA650}" type="presParOf" srcId="{E3C83F58-C704-4982-A057-6EFF30A04F85}" destId="{80DCD33B-691A-475B-8C1C-296D64C807ED}" srcOrd="5" destOrd="0" presId="urn:microsoft.com/office/officeart/2018/2/layout/IconLabelList"/>
    <dgm:cxn modelId="{50E43966-D7DC-41B1-AFF3-D490B942DEB3}" type="presParOf" srcId="{E3C83F58-C704-4982-A057-6EFF30A04F85}" destId="{D39AAC89-8EE2-46EA-BAA4-16A2399087F7}" srcOrd="6" destOrd="0" presId="urn:microsoft.com/office/officeart/2018/2/layout/IconLabelList"/>
    <dgm:cxn modelId="{ADBB9C92-398F-4DA0-A46D-08A973D7B6CE}" type="presParOf" srcId="{D39AAC89-8EE2-46EA-BAA4-16A2399087F7}" destId="{B2DCF956-2AF3-49B5-BA54-981ED5D6BB0F}" srcOrd="0" destOrd="0" presId="urn:microsoft.com/office/officeart/2018/2/layout/IconLabelList"/>
    <dgm:cxn modelId="{68DB9018-DFC7-4189-9E7C-B58EA6310FB9}" type="presParOf" srcId="{D39AAC89-8EE2-46EA-BAA4-16A2399087F7}" destId="{2CF00332-F3A3-435F-9107-A285BB6FE166}" srcOrd="1" destOrd="0" presId="urn:microsoft.com/office/officeart/2018/2/layout/IconLabelList"/>
    <dgm:cxn modelId="{9DAAE21B-838A-40B5-80E7-DE3207CAC707}" type="presParOf" srcId="{D39AAC89-8EE2-46EA-BAA4-16A2399087F7}" destId="{14F6FCA1-65B8-4472-A93D-418E8B56F2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65B3E-57DE-4F32-968F-4438446874E3}">
      <dsp:nvSpPr>
        <dsp:cNvPr id="0" name=""/>
        <dsp:cNvSpPr/>
      </dsp:nvSpPr>
      <dsp:spPr>
        <a:xfrm>
          <a:off x="0" y="0"/>
          <a:ext cx="8121149" cy="7644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15000"/>
                <a:lumMod val="114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tint val="100000"/>
                <a:shade val="96000"/>
                <a:satMod val="100000"/>
                <a:lumMod val="10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1000"/>
                <a:satMod val="100000"/>
              </a:schemeClr>
            </a:gs>
          </a:gsLst>
          <a:lin ang="5400000" scaled="0"/>
        </a:grad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twoPt" dir="t">
            <a:rot lat="0" lon="0" rev="4800000"/>
          </a:lightRig>
        </a:scene3d>
        <a:sp3d prstMaterial="matte">
          <a:bevelT w="25400" h="444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In-Context Learning &amp; Problem Definition</a:t>
          </a:r>
          <a:endParaRPr lang="en-US" sz="2400" kern="1200"/>
        </a:p>
      </dsp:txBody>
      <dsp:txXfrm>
        <a:off x="37315" y="37315"/>
        <a:ext cx="8046519" cy="689772"/>
      </dsp:txXfrm>
    </dsp:sp>
    <dsp:sp modelId="{B1857541-D92F-405A-9531-5BC61184679E}">
      <dsp:nvSpPr>
        <dsp:cNvPr id="0" name=""/>
        <dsp:cNvSpPr/>
      </dsp:nvSpPr>
      <dsp:spPr>
        <a:xfrm>
          <a:off x="0" y="934531"/>
          <a:ext cx="8121149" cy="10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846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400"/>
            </a:spcBef>
            <a:spcAft>
              <a:spcPct val="20000"/>
            </a:spcAft>
            <a:buChar char="•"/>
          </a:pPr>
          <a:r>
            <a:rPr lang="en-US" sz="1600" kern="1200"/>
            <a:t>LLM s can perform well with only a few examples.</a:t>
          </a:r>
        </a:p>
        <a:p>
          <a:pPr marL="171450" lvl="1" indent="-171450" algn="l" defTabSz="711200">
            <a:lnSpc>
              <a:spcPct val="90000"/>
            </a:lnSpc>
            <a:spcBef>
              <a:spcPts val="400"/>
            </a:spcBef>
            <a:spcAft>
              <a:spcPct val="20000"/>
            </a:spcAft>
            <a:buChar char="•"/>
          </a:pPr>
          <a:r>
            <a:rPr lang="en-US" sz="1600" kern="1200"/>
            <a:t>This approach is called In-Context Learning (ICL).</a:t>
          </a:r>
        </a:p>
        <a:p>
          <a:pPr marL="171450" lvl="1" indent="-171450" algn="l" defTabSz="711200">
            <a:lnSpc>
              <a:spcPct val="90000"/>
            </a:lnSpc>
            <a:spcBef>
              <a:spcPts val="400"/>
            </a:spcBef>
            <a:spcAft>
              <a:spcPct val="20000"/>
            </a:spcAft>
            <a:buChar char="•"/>
          </a:pPr>
          <a:r>
            <a:rPr lang="en-US" sz="1600" kern="1200"/>
            <a:t>An ICL prompt is built from a template + ordering of examples.</a:t>
          </a:r>
        </a:p>
      </dsp:txBody>
      <dsp:txXfrm>
        <a:off x="0" y="934531"/>
        <a:ext cx="8121149" cy="1043280"/>
      </dsp:txXfrm>
    </dsp:sp>
    <dsp:sp modelId="{6656776B-9734-47E3-8D8E-FF00E5D1A21F}">
      <dsp:nvSpPr>
        <dsp:cNvPr id="0" name=""/>
        <dsp:cNvSpPr/>
      </dsp:nvSpPr>
      <dsp:spPr>
        <a:xfrm>
          <a:off x="0" y="2089669"/>
          <a:ext cx="8121149" cy="7625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15000"/>
                <a:lumMod val="114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tint val="100000"/>
                <a:shade val="96000"/>
                <a:satMod val="100000"/>
                <a:lumMod val="10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1000"/>
                <a:satMod val="100000"/>
              </a:schemeClr>
            </a:gs>
          </a:gsLst>
          <a:lin ang="5400000" scaled="0"/>
        </a:grad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twoPt" dir="t">
            <a:rot lat="0" lon="0" rev="4800000"/>
          </a:lightRig>
        </a:scene3d>
        <a:sp3d prstMaterial="matte">
          <a:bevelT w="25400" h="444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What We Already Know</a:t>
          </a:r>
          <a:endParaRPr lang="en-US" sz="2400" kern="1200"/>
        </a:p>
      </dsp:txBody>
      <dsp:txXfrm>
        <a:off x="37223" y="2126892"/>
        <a:ext cx="8046703" cy="688069"/>
      </dsp:txXfrm>
    </dsp:sp>
    <dsp:sp modelId="{F88E8A81-5DE4-41C7-BF83-3611A64FB7F2}">
      <dsp:nvSpPr>
        <dsp:cNvPr id="0" name=""/>
        <dsp:cNvSpPr/>
      </dsp:nvSpPr>
      <dsp:spPr>
        <a:xfrm>
          <a:off x="0" y="2952199"/>
          <a:ext cx="8121149" cy="10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846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Prior work shows that </a:t>
          </a:r>
          <a:r>
            <a:rPr lang="en-US" sz="1600" b="1" kern="1200"/>
            <a:t>template design</a:t>
          </a:r>
          <a:r>
            <a:rPr lang="en-US" sz="1600" kern="1200"/>
            <a:t> strongly affects performance.</a:t>
          </a:r>
        </a:p>
      </dsp:txBody>
      <dsp:txXfrm>
        <a:off x="0" y="2952199"/>
        <a:ext cx="8121149" cy="1043280"/>
      </dsp:txXfrm>
    </dsp:sp>
    <dsp:sp modelId="{ED0095B0-1491-48C4-96EC-D45F4FF261EB}">
      <dsp:nvSpPr>
        <dsp:cNvPr id="0" name=""/>
        <dsp:cNvSpPr/>
      </dsp:nvSpPr>
      <dsp:spPr>
        <a:xfrm>
          <a:off x="0" y="3545252"/>
          <a:ext cx="8121149" cy="7604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15000"/>
                <a:lumMod val="114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tint val="100000"/>
                <a:shade val="96000"/>
                <a:satMod val="100000"/>
                <a:lumMod val="10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1000"/>
                <a:satMod val="100000"/>
              </a:schemeClr>
            </a:gs>
          </a:gsLst>
          <a:lin ang="5400000" scaled="0"/>
        </a:grad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twoPt" dir="t">
            <a:rot lat="0" lon="0" rev="4800000"/>
          </a:lightRig>
        </a:scene3d>
        <a:sp3d prstMaterial="matte">
          <a:bevelT w="25400" h="444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New Findings (Core Contribution)</a:t>
          </a:r>
          <a:endParaRPr lang="en-US" sz="2400" kern="1200"/>
        </a:p>
      </dsp:txBody>
      <dsp:txXfrm>
        <a:off x="37120" y="3582372"/>
        <a:ext cx="8046909" cy="686175"/>
      </dsp:txXfrm>
    </dsp:sp>
    <dsp:sp modelId="{3AE1C9EA-BC5A-42D6-A0D1-2B0A8BE8C6BE}">
      <dsp:nvSpPr>
        <dsp:cNvPr id="0" name=""/>
        <dsp:cNvSpPr/>
      </dsp:nvSpPr>
      <dsp:spPr>
        <a:xfrm>
          <a:off x="0" y="4378836"/>
          <a:ext cx="8121149" cy="136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846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The </a:t>
          </a:r>
          <a:r>
            <a:rPr lang="en-US" sz="1600" b="1" kern="1200"/>
            <a:t>order of examples</a:t>
          </a:r>
          <a:r>
            <a:rPr lang="en-US" sz="1600" kern="1200"/>
            <a:t> affects performance as much as the template.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Order sensitivity is: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Present across all model sizes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Independent of task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Reduced but not removed by scaling</a:t>
          </a:r>
        </a:p>
      </dsp:txBody>
      <dsp:txXfrm>
        <a:off x="0" y="4378836"/>
        <a:ext cx="8121149" cy="1369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65B3E-57DE-4F32-968F-4438446874E3}">
      <dsp:nvSpPr>
        <dsp:cNvPr id="0" name=""/>
        <dsp:cNvSpPr/>
      </dsp:nvSpPr>
      <dsp:spPr>
        <a:xfrm>
          <a:off x="53380" y="80454"/>
          <a:ext cx="10251650" cy="61236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15000"/>
                <a:lumMod val="114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tint val="100000"/>
                <a:shade val="96000"/>
                <a:satMod val="100000"/>
                <a:lumMod val="10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1000"/>
                <a:satMod val="100000"/>
              </a:schemeClr>
            </a:gs>
          </a:gsLst>
          <a:lin ang="5400000" scaled="0"/>
        </a:grad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twoPt" dir="t">
            <a:rot lat="0" lon="0" rev="4800000"/>
          </a:lightRig>
        </a:scene3d>
        <a:sp3d prstMaterial="matte">
          <a:bevelT w="25400" h="444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Depth of the Problem</a:t>
          </a:r>
          <a:endParaRPr lang="en-US" sz="2500" kern="1200"/>
        </a:p>
      </dsp:txBody>
      <dsp:txXfrm>
        <a:off x="83273" y="110347"/>
        <a:ext cx="10191864" cy="552581"/>
      </dsp:txXfrm>
    </dsp:sp>
    <dsp:sp modelId="{B1857541-D92F-405A-9531-5BC61184679E}">
      <dsp:nvSpPr>
        <dsp:cNvPr id="0" name=""/>
        <dsp:cNvSpPr/>
      </dsp:nvSpPr>
      <dsp:spPr>
        <a:xfrm>
          <a:off x="0" y="839410"/>
          <a:ext cx="10305031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185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No shared pattern among high-performing orders.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 true few-shot settings, no validation set exists → choosing permutations is difficult.</a:t>
          </a:r>
        </a:p>
      </dsp:txBody>
      <dsp:txXfrm>
        <a:off x="0" y="839410"/>
        <a:ext cx="10305031" cy="1187145"/>
      </dsp:txXfrm>
    </dsp:sp>
    <dsp:sp modelId="{6656776B-9734-47E3-8D8E-FF00E5D1A21F}">
      <dsp:nvSpPr>
        <dsp:cNvPr id="0" name=""/>
        <dsp:cNvSpPr/>
      </dsp:nvSpPr>
      <dsp:spPr>
        <a:xfrm>
          <a:off x="0" y="1869260"/>
          <a:ext cx="10305031" cy="65227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15000"/>
                <a:lumMod val="114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tint val="100000"/>
                <a:shade val="96000"/>
                <a:satMod val="100000"/>
                <a:lumMod val="10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1000"/>
                <a:satMod val="100000"/>
              </a:schemeClr>
            </a:gs>
          </a:gsLst>
          <a:lin ang="5400000" scaled="0"/>
        </a:grad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twoPt" dir="t">
            <a:rot lat="0" lon="0" rev="4800000"/>
          </a:lightRig>
        </a:scene3d>
        <a:sp3d prstMaterial="matte">
          <a:bevelT w="25400" h="444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Proposed Method</a:t>
          </a:r>
          <a:endParaRPr lang="en-US" sz="2500" kern="1200"/>
        </a:p>
      </dsp:txBody>
      <dsp:txXfrm>
        <a:off x="31841" y="1901101"/>
        <a:ext cx="10241349" cy="588589"/>
      </dsp:txXfrm>
    </dsp:sp>
    <dsp:sp modelId="{F88E8A81-5DE4-41C7-BF83-3611A64FB7F2}">
      <dsp:nvSpPr>
        <dsp:cNvPr id="0" name=""/>
        <dsp:cNvSpPr/>
      </dsp:nvSpPr>
      <dsp:spPr>
        <a:xfrm>
          <a:off x="0" y="2678827"/>
          <a:ext cx="10305031" cy="1572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185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Use the generative ability of LMs to create an </a:t>
          </a:r>
          <a:r>
            <a:rPr lang="en-US" sz="2000" b="1" kern="1200"/>
            <a:t>artificial, unlabeled dev set</a:t>
          </a:r>
          <a:r>
            <a:rPr lang="en-US" sz="2000" kern="120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Evaluate using </a:t>
          </a:r>
          <a:r>
            <a:rPr lang="en-US" sz="2000" b="1" kern="1200"/>
            <a:t>entropy-based metrics</a:t>
          </a:r>
          <a:r>
            <a:rPr lang="en-US" sz="2000" kern="120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Select the highest-scoring permutations automatically.</a:t>
          </a:r>
        </a:p>
      </dsp:txBody>
      <dsp:txXfrm>
        <a:off x="0" y="2678827"/>
        <a:ext cx="10305031" cy="1572165"/>
      </dsp:txXfrm>
    </dsp:sp>
    <dsp:sp modelId="{ED0095B0-1491-48C4-96EC-D45F4FF261EB}">
      <dsp:nvSpPr>
        <dsp:cNvPr id="0" name=""/>
        <dsp:cNvSpPr/>
      </dsp:nvSpPr>
      <dsp:spPr>
        <a:xfrm>
          <a:off x="0" y="4090448"/>
          <a:ext cx="10305031" cy="6586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15000"/>
                <a:lumMod val="114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tint val="100000"/>
                <a:shade val="96000"/>
                <a:satMod val="100000"/>
                <a:lumMod val="10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1000"/>
                <a:satMod val="100000"/>
              </a:schemeClr>
            </a:gs>
          </a:gsLst>
          <a:lin ang="5400000" scaled="0"/>
        </a:grad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twoPt" dir="t">
            <a:rot lat="0" lon="0" rev="4800000"/>
          </a:lightRig>
        </a:scene3d>
        <a:sp3d prstMaterial="matte">
          <a:bevelT w="25400" h="444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Outcome</a:t>
          </a:r>
          <a:endParaRPr lang="en-US" sz="2500" kern="1200"/>
        </a:p>
      </dsp:txBody>
      <dsp:txXfrm>
        <a:off x="32151" y="4122599"/>
        <a:ext cx="10240729" cy="594306"/>
      </dsp:txXfrm>
    </dsp:sp>
    <dsp:sp modelId="{3AE1C9EA-BC5A-42D6-A0D1-2B0A8BE8C6BE}">
      <dsp:nvSpPr>
        <dsp:cNvPr id="0" name=""/>
        <dsp:cNvSpPr/>
      </dsp:nvSpPr>
      <dsp:spPr>
        <a:xfrm>
          <a:off x="0" y="4909600"/>
          <a:ext cx="10305031" cy="834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185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Method yields </a:t>
          </a:r>
          <a:r>
            <a:rPr lang="en-US" sz="2000" b="1" kern="1200"/>
            <a:t>~13% relative improvement</a:t>
          </a:r>
          <a:r>
            <a:rPr lang="en-US" sz="2000" kern="1200"/>
            <a:t> across GPT-family models.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Works across model scales and </a:t>
          </a:r>
          <a:r>
            <a:rPr lang="en-US" sz="2000" b="1" kern="1200"/>
            <a:t>11 different classification tasks</a:t>
          </a:r>
          <a:endParaRPr lang="en-GB" sz="2000" kern="1200"/>
        </a:p>
      </dsp:txBody>
      <dsp:txXfrm>
        <a:off x="0" y="4909600"/>
        <a:ext cx="10305031" cy="8342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13ABB-D08F-4A72-A31B-1C07944F2E62}">
      <dsp:nvSpPr>
        <dsp:cNvPr id="0" name=""/>
        <dsp:cNvSpPr/>
      </dsp:nvSpPr>
      <dsp:spPr>
        <a:xfrm>
          <a:off x="0" y="0"/>
          <a:ext cx="4947681" cy="7185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Larger models don’t eliminate variance.</a:t>
          </a:r>
          <a:endParaRPr lang="en-US" sz="1800" kern="1200"/>
        </a:p>
      </dsp:txBody>
      <dsp:txXfrm>
        <a:off x="21045" y="21045"/>
        <a:ext cx="4088247" cy="676454"/>
      </dsp:txXfrm>
    </dsp:sp>
    <dsp:sp modelId="{1481DF2A-8BA4-4DFE-8E44-6C57D35A4CCF}">
      <dsp:nvSpPr>
        <dsp:cNvPr id="0" name=""/>
        <dsp:cNvSpPr/>
      </dsp:nvSpPr>
      <dsp:spPr>
        <a:xfrm>
          <a:off x="369469" y="818341"/>
          <a:ext cx="4947681" cy="7185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Order sensitivity persists across all sizes (GPT-2 → GPT-3).</a:t>
          </a:r>
          <a:endParaRPr lang="en-US" sz="1800" kern="1200"/>
        </a:p>
      </dsp:txBody>
      <dsp:txXfrm>
        <a:off x="390514" y="839386"/>
        <a:ext cx="4069067" cy="676454"/>
      </dsp:txXfrm>
    </dsp:sp>
    <dsp:sp modelId="{AA9C39A6-7502-48AD-8FAD-74CB8EB3D71B}">
      <dsp:nvSpPr>
        <dsp:cNvPr id="0" name=""/>
        <dsp:cNvSpPr/>
      </dsp:nvSpPr>
      <dsp:spPr>
        <a:xfrm>
          <a:off x="738939" y="1636683"/>
          <a:ext cx="4947681" cy="7185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Same examples, different orders → large accuracy shifts.</a:t>
          </a:r>
          <a:endParaRPr lang="en-US" sz="1800" kern="1200"/>
        </a:p>
      </dsp:txBody>
      <dsp:txXfrm>
        <a:off x="759984" y="1657728"/>
        <a:ext cx="4069067" cy="676454"/>
      </dsp:txXfrm>
    </dsp:sp>
    <dsp:sp modelId="{6696DD4B-D3B2-49BC-ADBC-E49E8105D0A5}">
      <dsp:nvSpPr>
        <dsp:cNvPr id="0" name=""/>
        <dsp:cNvSpPr/>
      </dsp:nvSpPr>
      <dsp:spPr>
        <a:xfrm>
          <a:off x="1108409" y="2455025"/>
          <a:ext cx="4947681" cy="7185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Bigger models improve accuracy but variance stays high.</a:t>
          </a:r>
          <a:endParaRPr lang="en-US" sz="1800" kern="1200"/>
        </a:p>
      </dsp:txBody>
      <dsp:txXfrm>
        <a:off x="1129454" y="2476070"/>
        <a:ext cx="4069067" cy="676454"/>
      </dsp:txXfrm>
    </dsp:sp>
    <dsp:sp modelId="{36FA2D6D-79AA-4FA2-9C3B-178CACD35A33}">
      <dsp:nvSpPr>
        <dsp:cNvPr id="0" name=""/>
        <dsp:cNvSpPr/>
      </dsp:nvSpPr>
      <dsp:spPr>
        <a:xfrm>
          <a:off x="1477878" y="3273367"/>
          <a:ext cx="4947681" cy="7185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Even near-perfect prompts can drop to random performance with reordering.</a:t>
          </a:r>
          <a:endParaRPr lang="en-US" sz="1800" kern="1200"/>
        </a:p>
      </dsp:txBody>
      <dsp:txXfrm>
        <a:off x="1498923" y="3294412"/>
        <a:ext cx="4069067" cy="676454"/>
      </dsp:txXfrm>
    </dsp:sp>
    <dsp:sp modelId="{3B71BBCE-9D1C-4931-9E36-B72B51CC34B5}">
      <dsp:nvSpPr>
        <dsp:cNvPr id="0" name=""/>
        <dsp:cNvSpPr/>
      </dsp:nvSpPr>
      <dsp:spPr>
        <a:xfrm>
          <a:off x="4480627" y="524936"/>
          <a:ext cx="467053" cy="4670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585714" y="524936"/>
        <a:ext cx="256879" cy="351457"/>
      </dsp:txXfrm>
    </dsp:sp>
    <dsp:sp modelId="{FD6A3E03-B11B-4306-94A7-D3EB989D8472}">
      <dsp:nvSpPr>
        <dsp:cNvPr id="0" name=""/>
        <dsp:cNvSpPr/>
      </dsp:nvSpPr>
      <dsp:spPr>
        <a:xfrm>
          <a:off x="4850097" y="1343278"/>
          <a:ext cx="467053" cy="4670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955184" y="1343278"/>
        <a:ext cx="256879" cy="351457"/>
      </dsp:txXfrm>
    </dsp:sp>
    <dsp:sp modelId="{F3ACBC9F-8D3B-4A6C-AEF1-B54F115ED983}">
      <dsp:nvSpPr>
        <dsp:cNvPr id="0" name=""/>
        <dsp:cNvSpPr/>
      </dsp:nvSpPr>
      <dsp:spPr>
        <a:xfrm>
          <a:off x="5219566" y="2149644"/>
          <a:ext cx="467053" cy="4670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324653" y="2149644"/>
        <a:ext cx="256879" cy="351457"/>
      </dsp:txXfrm>
    </dsp:sp>
    <dsp:sp modelId="{27C5CCE7-1059-40D0-B8F5-A83BC3DB236F}">
      <dsp:nvSpPr>
        <dsp:cNvPr id="0" name=""/>
        <dsp:cNvSpPr/>
      </dsp:nvSpPr>
      <dsp:spPr>
        <a:xfrm>
          <a:off x="5589036" y="2975970"/>
          <a:ext cx="467053" cy="4670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694123" y="2975970"/>
        <a:ext cx="256879" cy="3514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7F461-ED9A-4D73-BDEA-0611E0D481E0}">
      <dsp:nvSpPr>
        <dsp:cNvPr id="0" name=""/>
        <dsp:cNvSpPr/>
      </dsp:nvSpPr>
      <dsp:spPr>
        <a:xfrm>
          <a:off x="876815" y="0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BE278E-EF06-4420-911E-E4BE9A1C8A3D}">
      <dsp:nvSpPr>
        <dsp:cNvPr id="0" name=""/>
        <dsp:cNvSpPr/>
      </dsp:nvSpPr>
      <dsp:spPr>
        <a:xfrm>
          <a:off x="1194856" y="295635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FA0E63-50E7-4574-910C-D9927A577802}">
      <dsp:nvSpPr>
        <dsp:cNvPr id="0" name=""/>
        <dsp:cNvSpPr/>
      </dsp:nvSpPr>
      <dsp:spPr>
        <a:xfrm>
          <a:off x="417178" y="1853181"/>
          <a:ext cx="2306250" cy="765000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More examples → slightly better accuracy</a:t>
          </a:r>
          <a:endParaRPr lang="en-US" sz="1600" kern="1200"/>
        </a:p>
      </dsp:txBody>
      <dsp:txXfrm>
        <a:off x="417178" y="1853181"/>
        <a:ext cx="2306250" cy="765000"/>
      </dsp:txXfrm>
    </dsp:sp>
    <dsp:sp modelId="{19867C8B-0DCF-4976-9CDA-9E0AED5597C0}">
      <dsp:nvSpPr>
        <dsp:cNvPr id="0" name=""/>
        <dsp:cNvSpPr/>
      </dsp:nvSpPr>
      <dsp:spPr>
        <a:xfrm>
          <a:off x="3576741" y="8180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EA44B-27B9-48A0-A04B-7191872FB7B5}">
      <dsp:nvSpPr>
        <dsp:cNvPr id="0" name=""/>
        <dsp:cNvSpPr/>
      </dsp:nvSpPr>
      <dsp:spPr>
        <a:xfrm>
          <a:off x="3876553" y="307993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A20CF1-1820-4159-B5D9-84316102B2B7}">
      <dsp:nvSpPr>
        <dsp:cNvPr id="0" name=""/>
        <dsp:cNvSpPr/>
      </dsp:nvSpPr>
      <dsp:spPr>
        <a:xfrm>
          <a:off x="3127022" y="1853181"/>
          <a:ext cx="2306250" cy="765000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baseline="0"/>
            <a:t>B</a:t>
          </a:r>
          <a:r>
            <a:rPr lang="en-US" sz="1600" b="0" i="0" kern="1200" baseline="0"/>
            <a:t>ut </a:t>
          </a:r>
          <a:r>
            <a:rPr lang="en-US" sz="1600" b="1" i="0" kern="1200" baseline="0"/>
            <a:t>variance remains</a:t>
          </a:r>
          <a:r>
            <a:rPr lang="en-US" sz="1600" b="0" i="0" kern="1200" baseline="0"/>
            <a:t> and sometimes </a:t>
          </a:r>
          <a:r>
            <a:rPr lang="en-US" sz="1600" b="1" i="0" kern="1200" baseline="0"/>
            <a:t>increases</a:t>
          </a:r>
          <a:endParaRPr lang="en-US" sz="1600" kern="1200"/>
        </a:p>
      </dsp:txBody>
      <dsp:txXfrm>
        <a:off x="3127022" y="1853181"/>
        <a:ext cx="2306250" cy="765000"/>
      </dsp:txXfrm>
    </dsp:sp>
    <dsp:sp modelId="{722BC488-D901-47A6-BE6C-8879B729FC92}">
      <dsp:nvSpPr>
        <dsp:cNvPr id="0" name=""/>
        <dsp:cNvSpPr/>
      </dsp:nvSpPr>
      <dsp:spPr>
        <a:xfrm>
          <a:off x="6286584" y="8180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46C5C-560E-4830-98BB-7112CB0759FF}">
      <dsp:nvSpPr>
        <dsp:cNvPr id="0" name=""/>
        <dsp:cNvSpPr/>
      </dsp:nvSpPr>
      <dsp:spPr>
        <a:xfrm>
          <a:off x="6586397" y="307993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1750" dir="5400000" sy="98000" rotWithShape="0">
            <a:srgbClr val="000000">
              <a:alpha val="47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EA8967-759A-4BC8-B092-0B94656B93C3}">
      <dsp:nvSpPr>
        <dsp:cNvPr id="0" name=""/>
        <dsp:cNvSpPr/>
      </dsp:nvSpPr>
      <dsp:spPr>
        <a:xfrm>
          <a:off x="5836866" y="1853181"/>
          <a:ext cx="2306250" cy="765000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Increasing data alone does not stabilize model behavior</a:t>
          </a:r>
          <a:endParaRPr lang="en-US" sz="1600" kern="1200"/>
        </a:p>
      </dsp:txBody>
      <dsp:txXfrm>
        <a:off x="5836866" y="1853181"/>
        <a:ext cx="2306250" cy="765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66C33-4D31-4118-B93A-9D567F86358F}">
      <dsp:nvSpPr>
        <dsp:cNvPr id="0" name=""/>
        <dsp:cNvSpPr/>
      </dsp:nvSpPr>
      <dsp:spPr>
        <a:xfrm>
          <a:off x="2185565" y="2551"/>
          <a:ext cx="8742263" cy="604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153662" rIns="169624" bIns="15366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Transform training samples into a template format</a:t>
          </a:r>
          <a:br>
            <a:rPr lang="en-US" sz="2000" kern="1200"/>
          </a:br>
          <a:r>
            <a:rPr lang="en-US" sz="2000" kern="1200"/>
            <a:t>(input + label → natural language)</a:t>
          </a:r>
        </a:p>
      </dsp:txBody>
      <dsp:txXfrm>
        <a:off x="2185565" y="2551"/>
        <a:ext cx="8742263" cy="604967"/>
      </dsp:txXfrm>
    </dsp:sp>
    <dsp:sp modelId="{EEC6D309-19F9-4024-BF81-432B62848C05}">
      <dsp:nvSpPr>
        <dsp:cNvPr id="0" name=""/>
        <dsp:cNvSpPr/>
      </dsp:nvSpPr>
      <dsp:spPr>
        <a:xfrm>
          <a:off x="0" y="2551"/>
          <a:ext cx="2185565" cy="604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59757" rIns="115653" bIns="5975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Transform</a:t>
          </a:r>
        </a:p>
      </dsp:txBody>
      <dsp:txXfrm>
        <a:off x="0" y="2551"/>
        <a:ext cx="2185565" cy="604967"/>
      </dsp:txXfrm>
    </dsp:sp>
    <dsp:sp modelId="{47E65675-64B0-4B9E-AE85-7C0CA8F663F9}">
      <dsp:nvSpPr>
        <dsp:cNvPr id="0" name=""/>
        <dsp:cNvSpPr/>
      </dsp:nvSpPr>
      <dsp:spPr>
        <a:xfrm>
          <a:off x="2185565" y="643817"/>
          <a:ext cx="8742263" cy="604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153662" rIns="169624" bIns="15366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Enumerate all permutations of these samples (e.g., 24 permutations)</a:t>
          </a:r>
          <a:endParaRPr lang="en-US" sz="1100" kern="1200"/>
        </a:p>
      </dsp:txBody>
      <dsp:txXfrm>
        <a:off x="2185565" y="643817"/>
        <a:ext cx="8742263" cy="604967"/>
      </dsp:txXfrm>
    </dsp:sp>
    <dsp:sp modelId="{F0C5F023-FCE4-48DA-BD04-2035AF9A193C}">
      <dsp:nvSpPr>
        <dsp:cNvPr id="0" name=""/>
        <dsp:cNvSpPr/>
      </dsp:nvSpPr>
      <dsp:spPr>
        <a:xfrm>
          <a:off x="0" y="643817"/>
          <a:ext cx="2185565" cy="604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59757" rIns="115653" bIns="5975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Enumerate</a:t>
          </a:r>
        </a:p>
      </dsp:txBody>
      <dsp:txXfrm>
        <a:off x="0" y="643817"/>
        <a:ext cx="2185565" cy="604967"/>
      </dsp:txXfrm>
    </dsp:sp>
    <dsp:sp modelId="{6E2CC74C-7328-46B3-8A86-69A626104182}">
      <dsp:nvSpPr>
        <dsp:cNvPr id="0" name=""/>
        <dsp:cNvSpPr/>
      </dsp:nvSpPr>
      <dsp:spPr>
        <a:xfrm>
          <a:off x="2185565" y="1285083"/>
          <a:ext cx="8742263" cy="604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153662" rIns="169624" bIns="15366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For each permutation, sample text from the LM → this becomes the probing set</a:t>
          </a:r>
        </a:p>
      </dsp:txBody>
      <dsp:txXfrm>
        <a:off x="2185565" y="1285083"/>
        <a:ext cx="8742263" cy="604967"/>
      </dsp:txXfrm>
    </dsp:sp>
    <dsp:sp modelId="{81064830-59E3-468B-8B58-CC7D3BFDECBD}">
      <dsp:nvSpPr>
        <dsp:cNvPr id="0" name=""/>
        <dsp:cNvSpPr/>
      </dsp:nvSpPr>
      <dsp:spPr>
        <a:xfrm>
          <a:off x="0" y="1285083"/>
          <a:ext cx="2185565" cy="604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59757" rIns="115653" bIns="5975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Sample</a:t>
          </a:r>
        </a:p>
      </dsp:txBody>
      <dsp:txXfrm>
        <a:off x="0" y="1285083"/>
        <a:ext cx="2185565" cy="604967"/>
      </dsp:txXfrm>
    </dsp:sp>
    <dsp:sp modelId="{E41F31D4-4049-4C64-BF0F-A7223C25B2F7}">
      <dsp:nvSpPr>
        <dsp:cNvPr id="0" name=""/>
        <dsp:cNvSpPr/>
      </dsp:nvSpPr>
      <dsp:spPr>
        <a:xfrm>
          <a:off x="2183431" y="1934488"/>
          <a:ext cx="8733725" cy="9650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59" tIns="153662" rIns="169459" bIns="15366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/>
            <a:t>Compute entropy metrics: </a:t>
          </a:r>
          <a:br>
            <a:rPr lang="en-US" sz="1800" kern="1200"/>
          </a:br>
          <a:r>
            <a:rPr lang="en-US" sz="1800" kern="1200"/>
            <a:t>	1. Global Entropy: distribution balance across labels</a:t>
          </a:r>
          <a:br>
            <a:rPr lang="en-US" sz="1800" kern="1200"/>
          </a:br>
          <a:r>
            <a:rPr lang="en-US" sz="1800" kern="1200"/>
            <a:t> 	2. Local Entropy: model’s confidence spread per sample</a:t>
          </a:r>
        </a:p>
      </dsp:txBody>
      <dsp:txXfrm>
        <a:off x="2183431" y="1934488"/>
        <a:ext cx="8733725" cy="965092"/>
      </dsp:txXfrm>
    </dsp:sp>
    <dsp:sp modelId="{A9270BB5-B12F-47D3-99CC-2F959C802F2C}">
      <dsp:nvSpPr>
        <dsp:cNvPr id="0" name=""/>
        <dsp:cNvSpPr/>
      </dsp:nvSpPr>
      <dsp:spPr>
        <a:xfrm>
          <a:off x="0" y="1926349"/>
          <a:ext cx="2183431" cy="981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40" tIns="59757" rIns="115540" bIns="5975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Compute</a:t>
          </a:r>
        </a:p>
      </dsp:txBody>
      <dsp:txXfrm>
        <a:off x="0" y="1926349"/>
        <a:ext cx="2183431" cy="981372"/>
      </dsp:txXfrm>
    </dsp:sp>
    <dsp:sp modelId="{9BF0CB85-A1BA-4135-BB0A-6A607E4BBC8D}">
      <dsp:nvSpPr>
        <dsp:cNvPr id="0" name=""/>
        <dsp:cNvSpPr/>
      </dsp:nvSpPr>
      <dsp:spPr>
        <a:xfrm>
          <a:off x="2185565" y="2944019"/>
          <a:ext cx="8742263" cy="604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153662" rIns="169624" bIns="15366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Rank permutations using these scores</a:t>
          </a:r>
        </a:p>
      </dsp:txBody>
      <dsp:txXfrm>
        <a:off x="2185565" y="2944019"/>
        <a:ext cx="8742263" cy="604967"/>
      </dsp:txXfrm>
    </dsp:sp>
    <dsp:sp modelId="{86511837-6C98-4AB1-8205-F9AEE0AE95CF}">
      <dsp:nvSpPr>
        <dsp:cNvPr id="0" name=""/>
        <dsp:cNvSpPr/>
      </dsp:nvSpPr>
      <dsp:spPr>
        <a:xfrm>
          <a:off x="0" y="2944019"/>
          <a:ext cx="2185565" cy="604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59757" rIns="115653" bIns="5975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Rank</a:t>
          </a:r>
        </a:p>
      </dsp:txBody>
      <dsp:txXfrm>
        <a:off x="0" y="2944019"/>
        <a:ext cx="2185565" cy="604967"/>
      </dsp:txXfrm>
    </dsp:sp>
    <dsp:sp modelId="{8FF10541-DAD8-4C39-A003-82E5A83FAE3E}">
      <dsp:nvSpPr>
        <dsp:cNvPr id="0" name=""/>
        <dsp:cNvSpPr/>
      </dsp:nvSpPr>
      <dsp:spPr>
        <a:xfrm>
          <a:off x="2185565" y="3585285"/>
          <a:ext cx="8742263" cy="604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153662" rIns="169624" bIns="15366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Select top-K (e.g., best 4) prompt orders for inference</a:t>
          </a:r>
        </a:p>
      </dsp:txBody>
      <dsp:txXfrm>
        <a:off x="2185565" y="3585285"/>
        <a:ext cx="8742263" cy="604967"/>
      </dsp:txXfrm>
    </dsp:sp>
    <dsp:sp modelId="{E1E1CC34-12B5-499B-A2E7-A1B922BD2AB4}">
      <dsp:nvSpPr>
        <dsp:cNvPr id="0" name=""/>
        <dsp:cNvSpPr/>
      </dsp:nvSpPr>
      <dsp:spPr>
        <a:xfrm>
          <a:off x="0" y="3585285"/>
          <a:ext cx="2185565" cy="604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59757" rIns="115653" bIns="5975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Select</a:t>
          </a:r>
        </a:p>
      </dsp:txBody>
      <dsp:txXfrm>
        <a:off x="0" y="3585285"/>
        <a:ext cx="2185565" cy="6049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C3821-B5C6-4B4A-8F35-2C930A065BBA}">
      <dsp:nvSpPr>
        <dsp:cNvPr id="0" name=""/>
        <dsp:cNvSpPr/>
      </dsp:nvSpPr>
      <dsp:spPr>
        <a:xfrm>
          <a:off x="1463014" y="290358"/>
          <a:ext cx="775986" cy="7759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44739-E66A-4BD6-8BB5-21EEABAAD562}">
      <dsp:nvSpPr>
        <dsp:cNvPr id="0" name=""/>
        <dsp:cNvSpPr/>
      </dsp:nvSpPr>
      <dsp:spPr>
        <a:xfrm>
          <a:off x="988800" y="1377240"/>
          <a:ext cx="1724414" cy="974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Latn-AZ" sz="1600" kern="1200"/>
            <a:t>Both </a:t>
          </a:r>
          <a:r>
            <a:rPr lang="en-US" sz="1600" kern="1200"/>
            <a:t>Entropy </a:t>
          </a:r>
          <a:r>
            <a:rPr lang="en-US" sz="1600" b="1" kern="1200"/>
            <a:t>improve accuracy across all tasks</a:t>
          </a:r>
          <a:r>
            <a:rPr lang="en-US" sz="1600" kern="1200"/>
            <a:t>.</a:t>
          </a:r>
        </a:p>
      </dsp:txBody>
      <dsp:txXfrm>
        <a:off x="988800" y="1377240"/>
        <a:ext cx="1724414" cy="974245"/>
      </dsp:txXfrm>
    </dsp:sp>
    <dsp:sp modelId="{4CEBBD57-71E8-4779-8EF7-9E27B2ED4A23}">
      <dsp:nvSpPr>
        <dsp:cNvPr id="0" name=""/>
        <dsp:cNvSpPr/>
      </dsp:nvSpPr>
      <dsp:spPr>
        <a:xfrm>
          <a:off x="3656167" y="290358"/>
          <a:ext cx="775986" cy="7759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F1146-E792-460A-81EB-D8BAE9DFF125}">
      <dsp:nvSpPr>
        <dsp:cNvPr id="0" name=""/>
        <dsp:cNvSpPr/>
      </dsp:nvSpPr>
      <dsp:spPr>
        <a:xfrm>
          <a:off x="3014986" y="1377240"/>
          <a:ext cx="2058346" cy="974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Average improvement: </a:t>
          </a:r>
          <a:r>
            <a:rPr lang="en-US" sz="1600" b="1" kern="1200"/>
            <a:t>~13% relative gain</a:t>
          </a:r>
          <a:r>
            <a:rPr lang="en-US" sz="1600" kern="1200"/>
            <a:t> (</a:t>
          </a:r>
          <a:r>
            <a:rPr lang="en-US" sz="1600" kern="1200" err="1"/>
            <a:t>GlobalE</a:t>
          </a:r>
          <a:r>
            <a:rPr lang="en-US" sz="1600" kern="1200"/>
            <a:t>).</a:t>
          </a:r>
        </a:p>
      </dsp:txBody>
      <dsp:txXfrm>
        <a:off x="3014986" y="1377240"/>
        <a:ext cx="2058346" cy="974245"/>
      </dsp:txXfrm>
    </dsp:sp>
    <dsp:sp modelId="{99586953-3135-4C67-BD71-4C4E0A687EBD}">
      <dsp:nvSpPr>
        <dsp:cNvPr id="0" name=""/>
        <dsp:cNvSpPr/>
      </dsp:nvSpPr>
      <dsp:spPr>
        <a:xfrm>
          <a:off x="1413930" y="2890079"/>
          <a:ext cx="775986" cy="7759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B2915-BF7B-4DAC-9AB8-D6E2339FBFEC}">
      <dsp:nvSpPr>
        <dsp:cNvPr id="0" name=""/>
        <dsp:cNvSpPr/>
      </dsp:nvSpPr>
      <dsp:spPr>
        <a:xfrm>
          <a:off x="983342" y="3875239"/>
          <a:ext cx="1780871" cy="1069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Gains are </a:t>
          </a:r>
          <a:r>
            <a:rPr lang="en-US" sz="1600" b="1" kern="1200"/>
            <a:t>largest for small and medium-sized models</a:t>
          </a:r>
          <a:r>
            <a:rPr lang="en-US" sz="1800" kern="1200"/>
            <a:t>.</a:t>
          </a:r>
        </a:p>
      </dsp:txBody>
      <dsp:txXfrm>
        <a:off x="983342" y="3875239"/>
        <a:ext cx="1780871" cy="1069292"/>
      </dsp:txXfrm>
    </dsp:sp>
    <dsp:sp modelId="{B2DCF956-2AF3-49B5-BA54-981ED5D6BB0F}">
      <dsp:nvSpPr>
        <dsp:cNvPr id="0" name=""/>
        <dsp:cNvSpPr/>
      </dsp:nvSpPr>
      <dsp:spPr>
        <a:xfrm>
          <a:off x="3969648" y="2881862"/>
          <a:ext cx="775986" cy="7759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6FCA1-65B8-4472-A93D-418E8B56F293}">
      <dsp:nvSpPr>
        <dsp:cNvPr id="0" name=""/>
        <dsp:cNvSpPr/>
      </dsp:nvSpPr>
      <dsp:spPr>
        <a:xfrm>
          <a:off x="3478655" y="3893234"/>
          <a:ext cx="1724414" cy="974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Entropy-based selection also </a:t>
          </a:r>
          <a:r>
            <a:rPr lang="en-US" sz="1600" b="1" kern="1200"/>
            <a:t>reduces variance</a:t>
          </a:r>
          <a:r>
            <a:rPr lang="en-US" sz="1600" kern="1200"/>
            <a:t> significantly</a:t>
          </a:r>
        </a:p>
      </dsp:txBody>
      <dsp:txXfrm>
        <a:off x="3478655" y="3893234"/>
        <a:ext cx="1724414" cy="974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1370-D0FD-2D5C-F8D0-19957427D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675E9-B7D7-6B72-4C44-2F0EB3B08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FCA82-1A23-3662-D7C0-968064E4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EB80E-AB39-BB95-CAE1-28D53F8D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EBAE-CBA6-E25B-24B2-797F1D2C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02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548B-81FF-C4AD-4669-0F4EF7833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0711C-E2A6-3E2C-0C3D-9D6FA5FFC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FAC35-C033-8EA2-7705-9EF9175F5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0DB6C-72FA-058F-4974-7EF51CB1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5218B-0BEA-C75C-05A6-6FCE55AE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9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033F-279B-C93B-0914-1DBDAEAE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A619C-C74C-A0B5-C1A5-91C7FF6AB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ACC2D-2D75-87B4-FCD6-1A4616E4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6B6B-D63D-E037-864B-14045147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0502D-523A-0D1C-8E9C-FF7A1397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A7EF-E7F0-BDFA-0EE5-1A3D0F05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09545-627A-BD39-308B-1FC6DAA1C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E71A8-5E49-E7B9-2565-59CA6C52A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C095A-0460-D9C1-CADF-28C01AA8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C4EFF-D47C-B36D-B837-900624BB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01A37-7D48-D332-53C9-3FC3CB0F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0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6654-5F22-B6D6-8933-6C158B04D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7C64D-730D-828C-D900-0763A8396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397EE-D7D6-4726-925D-C3F8F0EB9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46149-0323-889A-AC4B-288C3C87E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DFD40-6325-FEA8-45E5-9CF34514E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0A8C3-60D4-E56C-4744-2EC9896E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F2B4D-7375-A26A-6056-265BCD9C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E75DB-8C87-B8CE-BCED-79688691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3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C1E1-4F74-0118-5648-04DD0E4B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BA725-1F47-5771-921C-B217F22E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276B2-96D6-5760-D67C-55A7E088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970F3-912C-B253-A906-4DEF3410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0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4810A-03C2-0FBF-2984-7268A40B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B0030-234F-D2E3-E3AA-E1041A9D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7C5AB-FD87-28F6-2EDD-698A5165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4E84-2E31-D2D8-C3E1-041D7A598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231DC-54EF-E5E3-9866-F4FFB2085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F855A-EF4C-98E5-50AD-DE8833B54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BB8C9-3028-3319-22DA-4CD80859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4C98F-8F9B-0A1C-F3A6-193CB17D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28328-BCE6-C29E-F29B-6C1BF7EE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6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E45D-0BEC-FA26-44AD-71925AEC4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F325-FAE1-79C6-3C02-E7AC71663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643B0-9A12-A567-FC34-FC73801EA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7D9F4-817F-6DB6-237F-23F0507D0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E2933-43A3-7BDC-6455-99E96894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D17E1-14E9-37E1-DEDA-60218C1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2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3B8F-0C53-3611-E6A6-808FB950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3E413-5961-9081-9570-7F18FBF93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94A06-B556-AF79-2C20-9ADC1AA9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4A855-F03A-3F57-53A1-47B1E73D7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C9DD-EB55-6AA2-9399-1B3F09F3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5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58B95-6B47-BA61-8C24-FED3026FA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C1760-7D9A-E729-6322-E5B38713A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DA9A8-2308-F366-6BD3-50936810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CDC3-ABFB-7E68-390A-547F4389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21AE-8497-4E81-A62B-18981D6D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0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09442-B2A9-D210-5341-131D5BCD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516E1-3FB4-2D5C-C499-D6D99F6A7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DD53-4ED0-A450-0932-57F45573C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5B174-0590-95F3-25A8-C4ADF1B14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C3961-6889-CEAC-E921-FA10746CE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1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4D33-245A-0740-8B96-0C80986A3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554133"/>
          </a:xfrm>
        </p:spPr>
        <p:txBody>
          <a:bodyPr anchor="t">
            <a:normAutofit/>
          </a:bodyPr>
          <a:lstStyle/>
          <a:p>
            <a:br>
              <a:rPr lang="en-US" sz="3100"/>
            </a:br>
            <a:br>
              <a:rPr lang="en-US" sz="3100"/>
            </a:br>
            <a:br>
              <a:rPr lang="en-US" sz="3600"/>
            </a:br>
            <a:br>
              <a:rPr lang="en-US" sz="3600"/>
            </a:br>
            <a:br>
              <a:rPr lang="en-US" sz="3600"/>
            </a:br>
            <a:br>
              <a:rPr lang="en-US" sz="3600"/>
            </a:br>
            <a:r>
              <a:rPr lang="en-US" sz="3600"/>
              <a:t>Fantastically Ordered Prompts and Where to Find Them: Overcoming Few-Shot Prompt Order Sensitivity</a:t>
            </a:r>
            <a:br>
              <a:rPr lang="en-US" sz="3600"/>
            </a:br>
            <a:br>
              <a:rPr lang="en-US" sz="3200"/>
            </a:br>
            <a:br>
              <a:rPr lang="en-US" sz="3100"/>
            </a:br>
            <a:r>
              <a:rPr lang="en-US" sz="3100"/>
              <a:t>Ilaha Karimli - 300201111</a:t>
            </a:r>
            <a:endParaRPr lang="en-GB" sz="3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67C56-01EC-8315-E3C4-859F3E4F3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891" y="5185304"/>
            <a:ext cx="5462682" cy="2377421"/>
          </a:xfrm>
        </p:spPr>
        <p:txBody>
          <a:bodyPr>
            <a:normAutofit/>
          </a:bodyPr>
          <a:lstStyle/>
          <a:p>
            <a:pPr algn="l"/>
            <a:r>
              <a:rPr lang="en-US" sz="2200"/>
              <a:t>Date: 30/11/2025</a:t>
            </a:r>
            <a:endParaRPr lang="en-GB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580CC-679F-E60F-9E0B-B65BDD66D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30222" y="1"/>
            <a:ext cx="19558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2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90AB-583E-D051-2111-851F99BA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18" y="-76844"/>
            <a:ext cx="10678082" cy="956733"/>
          </a:xfrm>
        </p:spPr>
        <p:txBody>
          <a:bodyPr/>
          <a:lstStyle/>
          <a:p>
            <a:r>
              <a:rPr lang="en-US">
                <a:solidFill>
                  <a:srgbClr val="48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GB">
              <a:solidFill>
                <a:srgbClr val="48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0C5C9A-C049-2589-9700-6ABD84FC8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7270" y="1186701"/>
            <a:ext cx="3300714" cy="4484597"/>
          </a:xfrm>
          <a:prstGeom prst="rect">
            <a:avLst/>
          </a:prstGeom>
        </p:spPr>
      </p:pic>
      <p:graphicFrame>
        <p:nvGraphicFramePr>
          <p:cNvPr id="16" name="Title 1">
            <a:extLst>
              <a:ext uri="{FF2B5EF4-FFF2-40B4-BE49-F238E27FC236}">
                <a16:creationId xmlns:a16="http://schemas.microsoft.com/office/drawing/2014/main" id="{A1AD22DA-2CB8-DE64-B3FB-27C186E7D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7260072"/>
              </p:ext>
            </p:extLst>
          </p:nvPr>
        </p:nvGraphicFramePr>
        <p:xfrm>
          <a:off x="787400" y="812799"/>
          <a:ext cx="8121149" cy="5748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631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8628-E260-04DB-1D40-FF363C552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51" y="0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480000"/>
                </a:solidFill>
              </a:rPr>
              <a:t>Introduction</a:t>
            </a:r>
            <a:endParaRPr lang="en-GB">
              <a:solidFill>
                <a:srgbClr val="480000"/>
              </a:solidFill>
            </a:endParaRPr>
          </a:p>
        </p:txBody>
      </p:sp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8F4EC098-9B57-16F5-F9D0-5AF746F28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4734750"/>
              </p:ext>
            </p:extLst>
          </p:nvPr>
        </p:nvGraphicFramePr>
        <p:xfrm>
          <a:off x="723609" y="837619"/>
          <a:ext cx="10305031" cy="5970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449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FDFB"/>
            </a:gs>
            <a:gs pos="16000">
              <a:srgbClr val="3C010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0D5C3-7C6E-B3BB-05EA-8B7E8D581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az-Latn-AZ">
                <a:solidFill>
                  <a:schemeClr val="bg2"/>
                </a:solidFill>
              </a:rPr>
              <a:t>Order Sensitivity</a:t>
            </a:r>
            <a:endParaRPr lang="en-GB">
              <a:solidFill>
                <a:schemeClr val="bg2"/>
              </a:solidFill>
            </a:endParaRPr>
          </a:p>
        </p:txBody>
      </p:sp>
      <p:graphicFrame>
        <p:nvGraphicFramePr>
          <p:cNvPr id="24" name="Rectangle 3">
            <a:extLst>
              <a:ext uri="{FF2B5EF4-FFF2-40B4-BE49-F238E27FC236}">
                <a16:creationId xmlns:a16="http://schemas.microsoft.com/office/drawing/2014/main" id="{E33BE9DD-AB8E-DDDD-7176-CFBCDA78C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997093"/>
              </p:ext>
            </p:extLst>
          </p:nvPr>
        </p:nvGraphicFramePr>
        <p:xfrm>
          <a:off x="424544" y="2473909"/>
          <a:ext cx="6425560" cy="3991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1B3932D-0D52-7E19-29F5-6501803A4EC5}"/>
              </a:ext>
            </a:extLst>
          </p:cNvPr>
          <p:cNvSpPr txBox="1"/>
          <p:nvPr/>
        </p:nvSpPr>
        <p:spPr>
          <a:xfrm>
            <a:off x="64105" y="1452519"/>
            <a:ext cx="12063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>
                <a:latin typeface="Amasis MT Pro Medium" panose="02040604050005020304" pitchFamily="18" charset="0"/>
              </a:rPr>
              <a:t>Increasing model size does not guarantee low variance</a:t>
            </a:r>
            <a:endParaRPr kumimoji="0" lang="en-GB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 panose="020406040500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D0C171-BF3F-F7D8-B1B7-B55F11F30B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438" y="2637402"/>
            <a:ext cx="4657571" cy="351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8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EBEB"/>
            </a:gs>
            <a:gs pos="16000">
              <a:srgbClr val="3C010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BC5F7-C354-FF5A-3D8D-243BD6BA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D3CB5-056D-668A-8FA4-DD86B603F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az-Latn-AZ">
                <a:solidFill>
                  <a:schemeClr val="bg2"/>
                </a:solidFill>
              </a:rPr>
              <a:t>Order Sensitivity</a:t>
            </a:r>
            <a:endParaRPr lang="en-GB">
              <a:solidFill>
                <a:schemeClr val="bg2"/>
              </a:solidFill>
            </a:endParaRPr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56BB65A4-5C9C-96BD-7370-65D61B1783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618563" y="3327979"/>
          <a:ext cx="8560295" cy="2626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D60C58E-81AF-3CC5-FCCD-4CA1E1A17E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5350" y="1943525"/>
            <a:ext cx="4576650" cy="40989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DB7053-467E-6D06-982F-454D464BF80B}"/>
              </a:ext>
            </a:extLst>
          </p:cNvPr>
          <p:cNvSpPr txBox="1"/>
          <p:nvPr/>
        </p:nvSpPr>
        <p:spPr>
          <a:xfrm>
            <a:off x="-117325" y="2127921"/>
            <a:ext cx="80590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</a:rPr>
              <a:t>Adding training samples does not significantly reduce variance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33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EBEB"/>
            </a:gs>
            <a:gs pos="16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7B68C-55BD-B07D-747A-652B8498E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038E-0468-BBEA-F193-3A439A68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az-Latn-AZ">
                <a:solidFill>
                  <a:schemeClr val="bg2"/>
                </a:solidFill>
              </a:rPr>
              <a:t>Order Sensitivity</a:t>
            </a:r>
            <a:endParaRPr lang="en-GB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609E5-59D4-A2F1-C02B-C6E26250AAE3}"/>
              </a:ext>
            </a:extLst>
          </p:cNvPr>
          <p:cNvSpPr txBox="1"/>
          <p:nvPr/>
        </p:nvSpPr>
        <p:spPr>
          <a:xfrm>
            <a:off x="717248" y="1480304"/>
            <a:ext cx="107575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Amasis MT Pro Medium" panose="02040604050005020304" pitchFamily="18" charset="0"/>
              </a:rPr>
              <a:t>Performant prompts are not transferable across models</a:t>
            </a:r>
            <a:endParaRPr lang="en-GB" sz="3200">
              <a:latin typeface="Amasis MT Pro Medium" panose="020406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F9D271-95B7-66AD-A9BD-8C241F3B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532" y="2336722"/>
            <a:ext cx="3993672" cy="35913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03F76A-DCE8-D5A7-EE0F-0483BAF33223}"/>
              </a:ext>
            </a:extLst>
          </p:cNvPr>
          <p:cNvSpPr txBox="1"/>
          <p:nvPr/>
        </p:nvSpPr>
        <p:spPr>
          <a:xfrm>
            <a:off x="424544" y="3371116"/>
            <a:ext cx="76949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>
                <a:solidFill>
                  <a:schemeClr val="tx2"/>
                </a:solidFill>
                <a:latin typeface="+mj-lt"/>
              </a:rPr>
              <a:t>A good permutation in GPT2-XL can become poor in GPT2-Large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30BDC6-1B07-91EA-188A-9BE3F732D3B8}"/>
              </a:ext>
            </a:extLst>
          </p:cNvPr>
          <p:cNvSpPr txBox="1"/>
          <p:nvPr/>
        </p:nvSpPr>
        <p:spPr>
          <a:xfrm>
            <a:off x="424543" y="4546699"/>
            <a:ext cx="76949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Cross-model Spearman correlations are extremely 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99462-8357-4894-2C04-E05C996D7742}"/>
              </a:ext>
            </a:extLst>
          </p:cNvPr>
          <p:cNvSpPr txBox="1"/>
          <p:nvPr/>
        </p:nvSpPr>
        <p:spPr>
          <a:xfrm>
            <a:off x="424544" y="5527914"/>
            <a:ext cx="75764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 universal “good ordering” exists across model sizes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46CD6A-5D15-2485-8598-5D1C36EBDF45}"/>
              </a:ext>
            </a:extLst>
          </p:cNvPr>
          <p:cNvSpPr txBox="1"/>
          <p:nvPr/>
        </p:nvSpPr>
        <p:spPr>
          <a:xfrm>
            <a:off x="424543" y="2539165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Prompt effectiveness is </a:t>
            </a:r>
            <a:r>
              <a:rPr kumimoji="0" lang="en-US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model-specific</a:t>
            </a:r>
            <a:endParaRPr kumimoji="0" lang="en-US" altLang="en-US" sz="2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93E7FD-7D21-54EE-B69A-F8960E408B46}"/>
              </a:ext>
            </a:extLst>
          </p:cNvPr>
          <p:cNvSpPr/>
          <p:nvPr/>
        </p:nvSpPr>
        <p:spPr>
          <a:xfrm>
            <a:off x="9930101" y="2424882"/>
            <a:ext cx="372533" cy="360505"/>
          </a:xfrm>
          <a:prstGeom prst="ellipse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19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EBEB"/>
            </a:gs>
            <a:gs pos="16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703F4-1816-1FA2-6B20-C1D1A30D4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2B48-CD79-80B0-3BB4-38E7EF59C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az-Latn-AZ">
                <a:solidFill>
                  <a:schemeClr val="bg2"/>
                </a:solidFill>
              </a:rPr>
              <a:t>Order Sensitivity</a:t>
            </a:r>
            <a:endParaRPr lang="en-GB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31D55-3B51-11E4-FBD7-4E83C911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0" y="1433472"/>
            <a:ext cx="3609060" cy="2929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780865-6834-76C8-151F-B1026FEA5498}"/>
              </a:ext>
            </a:extLst>
          </p:cNvPr>
          <p:cNvSpPr txBox="1"/>
          <p:nvPr/>
        </p:nvSpPr>
        <p:spPr>
          <a:xfrm>
            <a:off x="4657238" y="5100655"/>
            <a:ext cx="7435422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US" altLang="en-US" sz="2200">
                <a:solidFill>
                  <a:srgbClr val="480000"/>
                </a:solidFill>
                <a:latin typeface="+mj-lt"/>
              </a:rPr>
              <a:t>Poor prompts -&gt; Unbalanced </a:t>
            </a:r>
            <a:r>
              <a:rPr lang="en-US" altLang="en-US" sz="2200" b="1">
                <a:solidFill>
                  <a:srgbClr val="480000"/>
                </a:solidFill>
                <a:latin typeface="+mj-lt"/>
              </a:rPr>
              <a:t>label distributions (one label)</a:t>
            </a:r>
            <a:endParaRPr lang="en-US" altLang="en-US" sz="2200">
              <a:solidFill>
                <a:srgbClr val="480000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480000"/>
                </a:solidFill>
                <a:effectLst/>
                <a:latin typeface="+mj-lt"/>
              </a:rPr>
              <a:t>Calibration improves accuracy but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rgbClr val="480000"/>
                </a:solidFill>
                <a:effectLst/>
                <a:latin typeface="+mj-lt"/>
              </a:rPr>
              <a:t>not variance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rgbClr val="480000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480000"/>
                </a:solidFill>
                <a:effectLst/>
                <a:latin typeface="+mj-lt"/>
              </a:rPr>
              <a:t>Bad label distribution = strong indicator of poor prompt ordering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9F9BBE-BE8F-5805-0156-E2EA65629C58}"/>
              </a:ext>
            </a:extLst>
          </p:cNvPr>
          <p:cNvSpPr txBox="1"/>
          <p:nvPr/>
        </p:nvSpPr>
        <p:spPr>
          <a:xfrm>
            <a:off x="4773191" y="4453099"/>
            <a:ext cx="7435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Medium" panose="02040604050005020304" pitchFamily="18" charset="0"/>
              </a:rPr>
              <a:t>Degenerate behavior of bad prompts</a:t>
            </a:r>
            <a:endParaRPr lang="en-GB" sz="280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Medium" panose="020406040500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5D86A-47C6-47F4-4F79-AA106B8D4E3E}"/>
              </a:ext>
            </a:extLst>
          </p:cNvPr>
          <p:cNvSpPr txBox="1"/>
          <p:nvPr/>
        </p:nvSpPr>
        <p:spPr>
          <a:xfrm>
            <a:off x="424544" y="1559196"/>
            <a:ext cx="68410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Medium" panose="02040604050005020304" pitchFamily="18" charset="0"/>
              </a:rPr>
              <a:t>Performant label orderings are not consistent across models</a:t>
            </a:r>
            <a:endParaRPr lang="en-GB" sz="280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Medium" panose="020406040500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666ADC-D8B8-7091-F144-353D054B1A3A}"/>
              </a:ext>
            </a:extLst>
          </p:cNvPr>
          <p:cNvSpPr txBox="1"/>
          <p:nvPr/>
        </p:nvSpPr>
        <p:spPr>
          <a:xfrm>
            <a:off x="424544" y="2710033"/>
            <a:ext cx="6841066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-285750" eaLnBrk="0" fontAlgn="base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lang="en-US" altLang="en-US" sz="2200">
                <a:solidFill>
                  <a:srgbClr val="480000"/>
                </a:solidFill>
                <a:latin typeface="+mj-lt"/>
              </a:rPr>
              <a:t>Inconsistent Label patterns (e.g., PNPN, NPPN)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lang="en-US" altLang="en-US" sz="2200">
                <a:solidFill>
                  <a:srgbClr val="480000"/>
                </a:solidFill>
                <a:latin typeface="+mj-lt"/>
              </a:rPr>
              <a:t>Same pattern -&gt; Different Behavior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lang="en-US" altLang="en-US" sz="2200">
                <a:solidFill>
                  <a:srgbClr val="480000"/>
                </a:solidFill>
                <a:latin typeface="+mj-lt"/>
              </a:rPr>
              <a:t>Correlations again low → label ordering ≠ stable factor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95A0C7F-692B-02D5-BF9B-95C6C4358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11" y="4453098"/>
            <a:ext cx="4376518" cy="196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10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EBEB"/>
            </a:gs>
            <a:gs pos="16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819A5-B342-172D-B63C-E3775D85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8E54-E7F5-4EA6-A7E3-53C4D7DE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Methodology</a:t>
            </a:r>
            <a:endParaRPr lang="en-GB">
              <a:solidFill>
                <a:schemeClr val="bg2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0C374BA-C129-7DA0-34BA-F9CF38BB50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269203"/>
              </p:ext>
            </p:extLst>
          </p:nvPr>
        </p:nvGraphicFramePr>
        <p:xfrm>
          <a:off x="632085" y="1850112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8318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EBEB"/>
            </a:gs>
            <a:gs pos="16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7FB4F-D2D0-3477-6807-DFE6A891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B74C1F1-74A9-4A90-20DB-48C2E3450A23}"/>
              </a:ext>
            </a:extLst>
          </p:cNvPr>
          <p:cNvSpPr/>
          <p:nvPr/>
        </p:nvSpPr>
        <p:spPr>
          <a:xfrm>
            <a:off x="8190441" y="4817366"/>
            <a:ext cx="3785657" cy="1930301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864305-3E3E-E491-AA79-BD9E6FB46383}"/>
              </a:ext>
            </a:extLst>
          </p:cNvPr>
          <p:cNvSpPr/>
          <p:nvPr/>
        </p:nvSpPr>
        <p:spPr>
          <a:xfrm>
            <a:off x="8190441" y="1494939"/>
            <a:ext cx="3886200" cy="1987220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F5F33-86D3-B460-3E31-9C66AFCF2687}"/>
              </a:ext>
            </a:extLst>
          </p:cNvPr>
          <p:cNvSpPr/>
          <p:nvPr/>
        </p:nvSpPr>
        <p:spPr>
          <a:xfrm>
            <a:off x="229815" y="4817365"/>
            <a:ext cx="3751635" cy="1930301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5DA255-380C-E837-2128-2852513B59F5}"/>
              </a:ext>
            </a:extLst>
          </p:cNvPr>
          <p:cNvSpPr/>
          <p:nvPr/>
        </p:nvSpPr>
        <p:spPr>
          <a:xfrm>
            <a:off x="214998" y="1498699"/>
            <a:ext cx="3766452" cy="1930301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302386-CF52-9937-EECB-C5C6FF73AA5C}"/>
              </a:ext>
            </a:extLst>
          </p:cNvPr>
          <p:cNvSpPr/>
          <p:nvPr/>
        </p:nvSpPr>
        <p:spPr>
          <a:xfrm>
            <a:off x="4154001" y="3230982"/>
            <a:ext cx="3886200" cy="1987220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C718F-88B8-91A6-E44B-D5E5B2A6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Experimental Setup</a:t>
            </a:r>
            <a:endParaRPr lang="en-GB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E098B-B062-CF9A-BB11-12CC32BF6154}"/>
              </a:ext>
            </a:extLst>
          </p:cNvPr>
          <p:cNvSpPr txBox="1"/>
          <p:nvPr/>
        </p:nvSpPr>
        <p:spPr>
          <a:xfrm>
            <a:off x="304800" y="1498699"/>
            <a:ext cx="3505200" cy="18466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2400">
                <a:latin typeface="Amasis MT Pro Medium"/>
              </a:rPr>
              <a:t>Models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/>
              <a:t>GPT-2: </a:t>
            </a:r>
            <a:r>
              <a:rPr lang="en-US" sz="1800" b="1"/>
              <a:t>0.1B, 0.3B, 0.8B, 1.5B</a:t>
            </a:r>
            <a:endParaRPr lang="en-US" sz="18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/>
              <a:t>GPT-3: </a:t>
            </a:r>
            <a:r>
              <a:rPr lang="en-US" sz="1800" b="1"/>
              <a:t>2.7B, 175B</a:t>
            </a:r>
            <a:endParaRPr lang="en-US" sz="18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/>
              <a:t>GPT-2 use open-source checkpoints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/>
              <a:t>GPT-3 use paid API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B141D-44BA-42D9-F6A7-BA8416F59281}"/>
              </a:ext>
            </a:extLst>
          </p:cNvPr>
          <p:cNvSpPr txBox="1"/>
          <p:nvPr/>
        </p:nvSpPr>
        <p:spPr>
          <a:xfrm>
            <a:off x="4152900" y="3226247"/>
            <a:ext cx="3886200" cy="17235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2400" b="1"/>
              <a:t> </a:t>
            </a:r>
            <a:r>
              <a:rPr lang="en-US" sz="2400">
                <a:latin typeface="Amasis MT Pro Medium"/>
              </a:rPr>
              <a:t>Few-Shot Configuration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Mostly </a:t>
            </a:r>
            <a:r>
              <a:rPr lang="en-US" b="1"/>
              <a:t>4-shot</a:t>
            </a:r>
            <a:r>
              <a:rPr lang="en-US"/>
              <a:t> prompting</a:t>
            </a:r>
            <a:br>
              <a:rPr lang="en-US"/>
            </a:br>
            <a:r>
              <a:rPr lang="en-US"/>
              <a:t> (due to context window limit)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Exceptions:</a:t>
            </a:r>
          </a:p>
          <a:p>
            <a:pPr lvl="1"/>
            <a:r>
              <a:rPr lang="en-US" sz="1400" b="1" err="1"/>
              <a:t>AGNews</a:t>
            </a:r>
            <a:r>
              <a:rPr lang="en-US" sz="1400" b="1"/>
              <a:t>: 2-shot</a:t>
            </a:r>
            <a:endParaRPr lang="en-US" sz="1400"/>
          </a:p>
          <a:p>
            <a:pPr lvl="1"/>
            <a:r>
              <a:rPr lang="en-US" sz="1400" b="1" err="1"/>
              <a:t>DBPedia</a:t>
            </a:r>
            <a:r>
              <a:rPr lang="en-US" sz="1400" b="1"/>
              <a:t>: 1-shot</a:t>
            </a:r>
            <a:endParaRPr lang="en-GB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F32F0-6506-C00C-D330-33611BFC0D44}"/>
              </a:ext>
            </a:extLst>
          </p:cNvPr>
          <p:cNvSpPr txBox="1"/>
          <p:nvPr/>
        </p:nvSpPr>
        <p:spPr>
          <a:xfrm>
            <a:off x="215902" y="5020461"/>
            <a:ext cx="4034366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/>
            <a:r>
              <a:rPr lang="en-US" sz="1800" b="1"/>
              <a:t> </a:t>
            </a:r>
            <a:r>
              <a:rPr lang="en-US" sz="2400">
                <a:latin typeface="Amasis MT Pro Medium"/>
              </a:rPr>
              <a:t>Probing Set Generation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/>
              <a:t>Max generation length: </a:t>
            </a:r>
            <a:r>
              <a:rPr lang="en-US" sz="1800" b="1"/>
              <a:t>128 tokens</a:t>
            </a:r>
            <a:endParaRPr lang="en-US" sz="18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/>
              <a:t>Sampling temperature: </a:t>
            </a:r>
            <a:r>
              <a:rPr lang="en-US" sz="1800" b="1"/>
              <a:t>t = 2</a:t>
            </a:r>
            <a:endParaRPr lang="en-US" sz="18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/>
              <a:t>Block n-gram repetition penalty to encourage diverse output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B7D33-B834-261C-DA16-F5020034F75A}"/>
              </a:ext>
            </a:extLst>
          </p:cNvPr>
          <p:cNvSpPr txBox="1"/>
          <p:nvPr/>
        </p:nvSpPr>
        <p:spPr>
          <a:xfrm>
            <a:off x="8137958" y="1494939"/>
            <a:ext cx="4159559" cy="17313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latin typeface="Amasis MT Pro Medium"/>
              </a:rPr>
              <a:t>Permutation Evaluation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/>
              <a:t>Each sample set: </a:t>
            </a:r>
            <a:r>
              <a:rPr lang="en-US" b="1"/>
              <a:t>24 permutations</a:t>
            </a:r>
            <a:endParaRPr lang="en-US"/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/>
              <a:t>Each experiment: </a:t>
            </a:r>
            <a:r>
              <a:rPr lang="en-US" b="1"/>
              <a:t>5 sample sets</a:t>
            </a:r>
            <a:endParaRPr lang="en-US"/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r>
              <a:rPr lang="en-US"/>
              <a:t>Total: </a:t>
            </a:r>
            <a:r>
              <a:rPr lang="en-US" b="1"/>
              <a:t>~120 runs per model size</a:t>
            </a:r>
            <a:endParaRPr lang="en-US"/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/>
              <a:t>GPT-3 175B: </a:t>
            </a:r>
            <a:r>
              <a:rPr lang="en-US" b="1"/>
              <a:t>2 sets, 12 perm</a:t>
            </a:r>
            <a:r>
              <a:rPr lang="az-Latn-AZ" b="1"/>
              <a:t>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A7CC-4BD2-7D74-68EF-1DACE11F9482}"/>
              </a:ext>
            </a:extLst>
          </p:cNvPr>
          <p:cNvSpPr txBox="1"/>
          <p:nvPr/>
        </p:nvSpPr>
        <p:spPr>
          <a:xfrm>
            <a:off x="8328474" y="4853460"/>
            <a:ext cx="3633711" cy="190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/>
              <a:t>Prompt Ranking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/>
              <a:t>Global &amp; Local Entropy scores </a:t>
            </a:r>
            <a:endParaRPr lang="en-US"/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/>
              <a:t>Top-4</a:t>
            </a:r>
            <a:r>
              <a:rPr lang="en-US" sz="1800"/>
              <a:t> permutations as final </a:t>
            </a:r>
            <a:br>
              <a:rPr lang="az-Latn-AZ" sz="1800"/>
            </a:br>
            <a:r>
              <a:rPr lang="az-Latn-AZ" sz="1800"/>
              <a:t>          </a:t>
            </a:r>
            <a:r>
              <a:rPr lang="en-US" sz="1800"/>
              <a:t>prompts were selected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/>
              <a:t>Baseline &amp; Oracle comparisons included</a:t>
            </a:r>
          </a:p>
        </p:txBody>
      </p:sp>
    </p:spTree>
    <p:extLst>
      <p:ext uri="{BB962C8B-B14F-4D97-AF65-F5344CB8AC3E}">
        <p14:creationId xmlns:p14="http://schemas.microsoft.com/office/powerpoint/2010/main" val="363147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8000">
              <a:srgbClr val="FFEBEB"/>
            </a:gs>
            <a:gs pos="17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EF0BC-726F-A3AB-0D8F-1B0FBC89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F0F4-C1D1-EE13-4148-E45E559B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az-Latn-AZ">
                <a:solidFill>
                  <a:schemeClr val="bg2"/>
                </a:solidFill>
              </a:rPr>
              <a:t>Datasets</a:t>
            </a:r>
            <a:endParaRPr lang="en-GB">
              <a:solidFill>
                <a:schemeClr val="bg2"/>
              </a:solidFill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CC8C81C-E5C5-AD00-BE0E-F5541E49E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2995" y="1343818"/>
            <a:ext cx="7926009" cy="538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14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EBEB"/>
            </a:gs>
            <a:gs pos="16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F3418-960C-1AF1-BC07-0DEBD448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0222-A0A8-6AE9-B7C8-E80C45A0F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az-Latn-AZ">
                <a:solidFill>
                  <a:schemeClr val="bg2"/>
                </a:solidFill>
              </a:rPr>
              <a:t>Results</a:t>
            </a:r>
            <a:endParaRPr lang="en-GB">
              <a:solidFill>
                <a:schemeClr val="bg2"/>
              </a:solidFill>
            </a:endParaRP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A523F03B-7EB8-9A56-9289-135443EC3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410375"/>
              </p:ext>
            </p:extLst>
          </p:nvPr>
        </p:nvGraphicFramePr>
        <p:xfrm>
          <a:off x="-558801" y="1527042"/>
          <a:ext cx="6062134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FF66D8D-0ECA-E528-4E5D-D7E8C22B0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400" y="1343818"/>
            <a:ext cx="7526867" cy="551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6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17000">
              <a:srgbClr val="FFEBEB"/>
            </a:gs>
            <a:gs pos="16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AB8FC-3F49-5853-2044-8857ECE7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DF9CD40-909D-3E59-86AD-219A911C2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77" y="1281307"/>
            <a:ext cx="4834256" cy="203931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73CB4715-6351-02E6-4BF6-C553F2685641}"/>
              </a:ext>
            </a:extLst>
          </p:cNvPr>
          <p:cNvSpPr txBox="1"/>
          <p:nvPr/>
        </p:nvSpPr>
        <p:spPr>
          <a:xfrm>
            <a:off x="291006" y="4451749"/>
            <a:ext cx="6558528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tasks (RTE, CB) remain difficult for small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models see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performance jump</a:t>
            </a:r>
            <a:r>
              <a:rPr lang="en-US" altLang="en-US">
                <a:latin typeface="Arial" panose="020B0604020202020204" pitchFamily="34" charset="0"/>
              </a:rPr>
              <a:t>s.</a:t>
            </a:r>
            <a:endParaRPr kumimoji="0" lang="en-US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Splitting the few-shot training set into a validation set performs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entropy probing.</a:t>
            </a:r>
            <a:r>
              <a:rPr kumimoji="0" lang="az-Latn-AZ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(Table 5)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004969-4367-F300-9810-6077B122B5F4}"/>
              </a:ext>
            </a:extLst>
          </p:cNvPr>
          <p:cNvSpPr txBox="1">
            <a:spLocks/>
          </p:cNvSpPr>
          <p:nvPr/>
        </p:nvSpPr>
        <p:spPr>
          <a:xfrm>
            <a:off x="5961292" y="1084861"/>
            <a:ext cx="6328196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>
                <a:latin typeface="Amasis MT Pro Medium" panose="02040604050005020304" pitchFamily="18" charset="0"/>
              </a:rPr>
              <a:t>Entropy-Based Ranking Effectiveness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E002F8C1-4A96-F88A-3BB6-6BC3AB2ABA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650808"/>
            <a:ext cx="6096000" cy="140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az-Latn-AZ" altLang="en-US" sz="1800"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 </a:t>
            </a:r>
            <a:r>
              <a:rPr lang="en-US" altLang="en-US" sz="1800">
                <a:latin typeface="Arial" panose="020B0604020202020204" pitchFamily="34" charset="0"/>
              </a:rPr>
              <a:t>I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ncreases → </a:t>
            </a:r>
            <a:r>
              <a:rPr kumimoji="0" lang="az-Latn-AZ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Decrease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az-Latn-AZ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az-Latn-AZ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roves </a:t>
            </a:r>
            <a:r>
              <a:rPr lang="az-Latn-AZ" altLang="en-US" sz="1800">
                <a:latin typeface="Arial" panose="020B0604020202020204" pitchFamily="34" charset="0"/>
              </a:rPr>
              <a:t>R</a:t>
            </a:r>
            <a:r>
              <a:rPr kumimoji="0" lang="en-US" altLang="en-US" sz="1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anking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				</a:t>
            </a: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GlobalE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generally outperforms </a:t>
            </a:r>
            <a:r>
              <a:rPr kumimoji="0" lang="en-US" altLang="en-US" sz="1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LocalE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 works across different prompt templates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3" name="Picture 5" descr="metin, çizgi, ekran görüntüsü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EF0C6640-6E51-EEEB-94FD-5809C4126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535" y="3170083"/>
            <a:ext cx="4745388" cy="35477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B09F54-1595-DC36-3BE6-E80610E4254D}"/>
              </a:ext>
            </a:extLst>
          </p:cNvPr>
          <p:cNvSpPr txBox="1"/>
          <p:nvPr/>
        </p:nvSpPr>
        <p:spPr>
          <a:xfrm>
            <a:off x="571469" y="194571"/>
            <a:ext cx="61552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4400">
                <a:solidFill>
                  <a:schemeClr val="bg2"/>
                </a:solidFill>
              </a:rPr>
              <a:t>Results</a:t>
            </a:r>
            <a:endParaRPr lang="en-GB" sz="440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AFC5D34-DD79-ECD0-4460-C675AEBDCEC1}"/>
              </a:ext>
            </a:extLst>
          </p:cNvPr>
          <p:cNvSpPr txBox="1">
            <a:spLocks/>
          </p:cNvSpPr>
          <p:nvPr/>
        </p:nvSpPr>
        <p:spPr>
          <a:xfrm>
            <a:off x="321035" y="3521175"/>
            <a:ext cx="6328196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>
                <a:latin typeface="Amasis MT Pro Medium"/>
              </a:rPr>
              <a:t>Additional Findings &amp; Ed</a:t>
            </a:r>
            <a:r>
              <a:rPr lang="az-Latn-AZ" sz="2400">
                <a:latin typeface="Amasis MT Pro Medium"/>
              </a:rPr>
              <a:t>ge Cases</a:t>
            </a:r>
            <a:endParaRPr lang="en-GB" sz="240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59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20000">
              <a:srgbClr val="FFEBEB"/>
            </a:gs>
            <a:gs pos="19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F2CCE-25C9-11B7-0AF6-D9447FD6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AE68-1935-A5BA-4056-DBE0EA3C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/>
          <a:lstStyle/>
          <a:p>
            <a:r>
              <a:rPr lang="az-Latn-AZ" err="1">
                <a:solidFill>
                  <a:srgbClr val="E8E8E8"/>
                </a:solidFill>
              </a:rPr>
              <a:t>Related</a:t>
            </a:r>
            <a:r>
              <a:rPr lang="az-Latn-AZ">
                <a:solidFill>
                  <a:srgbClr val="E8E8E8"/>
                </a:solidFill>
              </a:rPr>
              <a:t> </a:t>
            </a:r>
            <a:r>
              <a:rPr lang="az-Latn-AZ" err="1">
                <a:solidFill>
                  <a:srgbClr val="E8E8E8"/>
                </a:solidFill>
              </a:rPr>
              <a:t>Work</a:t>
            </a:r>
            <a:endParaRPr lang="en-GB" err="1">
              <a:solidFill>
                <a:srgbClr val="E8E8E8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FAE0C2-EEA6-7B9D-8488-3F16B322DB0F}"/>
              </a:ext>
            </a:extLst>
          </p:cNvPr>
          <p:cNvSpPr txBox="1">
            <a:spLocks/>
          </p:cNvSpPr>
          <p:nvPr/>
        </p:nvSpPr>
        <p:spPr>
          <a:xfrm>
            <a:off x="424544" y="1502125"/>
            <a:ext cx="11228449" cy="51513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200" b="1">
                <a:latin typeface="Amasis MT Pro Medium" panose="02040604050005020304" pitchFamily="18" charset="0"/>
              </a:rPr>
              <a:t>Early Work: Task-Specific Models</a:t>
            </a:r>
          </a:p>
          <a:p>
            <a:pPr>
              <a:spcAft>
                <a:spcPts val="400"/>
              </a:spcAft>
            </a:pPr>
            <a:r>
              <a:rPr lang="en-US" sz="3500"/>
              <a:t>Traditional NLP relied on shared-parameter models (</a:t>
            </a:r>
            <a:r>
              <a:rPr lang="en-US" sz="3500" err="1"/>
              <a:t>ELMo</a:t>
            </a:r>
            <a:r>
              <a:rPr lang="en-US" sz="3500"/>
              <a:t>, BERT).</a:t>
            </a:r>
          </a:p>
          <a:p>
            <a:pPr>
              <a:spcAft>
                <a:spcPts val="400"/>
              </a:spcAft>
            </a:pPr>
            <a:r>
              <a:rPr lang="en-US" sz="3500"/>
              <a:t>One model per task → fragmented NLP.</a:t>
            </a:r>
            <a:r>
              <a:rPr lang="az-Latn-AZ" sz="3500"/>
              <a:t> (fine-tuning)</a:t>
            </a:r>
            <a:br>
              <a:rPr lang="en-US"/>
            </a:b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200" b="1">
                <a:latin typeface="Amasis MT Pro Medium" panose="02040604050005020304" pitchFamily="18" charset="0"/>
              </a:rPr>
              <a:t>Current Stage: Toward a Unified Interface</a:t>
            </a:r>
          </a:p>
          <a:p>
            <a:r>
              <a:rPr lang="en-US" sz="3500"/>
              <a:t>Efforts like Kumar et al. (2016) and T5 (Raffel et al., 2020) aim to express all tasks in a single text format.</a:t>
            </a:r>
          </a:p>
          <a:p>
            <a:r>
              <a:rPr lang="en-US" sz="3500"/>
              <a:t>GPT-2 shows that simple trigger tokens can shift model behavior.</a:t>
            </a:r>
          </a:p>
          <a:p>
            <a:r>
              <a:rPr lang="en-US" sz="3500"/>
              <a:t>GPT-3 enables task-agnostic prompting with strong zero- and few-shot performance</a:t>
            </a:r>
            <a:r>
              <a:rPr lang="en-US" sz="3600"/>
              <a:t>.</a:t>
            </a:r>
            <a:br>
              <a:rPr lang="en-US"/>
            </a:br>
            <a:endParaRPr lang="en-US" sz="38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200" b="1">
                <a:latin typeface="Amasis MT Pro Medium" panose="02040604050005020304" pitchFamily="18" charset="0"/>
              </a:rPr>
              <a:t>Researched Paper: Filling the Missing Gap</a:t>
            </a:r>
          </a:p>
          <a:p>
            <a:r>
              <a:rPr lang="az-Latn-AZ" sz="3500"/>
              <a:t>Critical </a:t>
            </a:r>
            <a:r>
              <a:rPr lang="en-US" sz="3500"/>
              <a:t>issue: order sensitivity in ICL.</a:t>
            </a:r>
          </a:p>
          <a:p>
            <a:r>
              <a:rPr lang="en-US" sz="3500"/>
              <a:t>Ordering can shift accuracy from near-SOTA to random.</a:t>
            </a:r>
          </a:p>
          <a:p>
            <a:r>
              <a:rPr lang="en-US" sz="3500"/>
              <a:t>Entropy probing picks stable prompts—filling a major gap in unified NLP.</a:t>
            </a:r>
            <a:endParaRPr lang="en-GB" sz="3500"/>
          </a:p>
        </p:txBody>
      </p:sp>
    </p:spTree>
    <p:extLst>
      <p:ext uri="{BB962C8B-B14F-4D97-AF65-F5344CB8AC3E}">
        <p14:creationId xmlns:p14="http://schemas.microsoft.com/office/powerpoint/2010/main" val="1832383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20000">
              <a:srgbClr val="FFEBEB"/>
            </a:gs>
            <a:gs pos="19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69F98-799D-401E-27FB-3809212F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D7F9-6220-D7F6-BF59-E96375E8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71" y="7212"/>
            <a:ext cx="11686207" cy="133660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Prompt Design for Pretrained Language Models</a:t>
            </a:r>
            <a:endParaRPr lang="tr-TR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191F9-C8D0-4627-370C-68407F6BD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99" y="4195947"/>
            <a:ext cx="5097670" cy="216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Amasis MT Pro Medium" panose="02040604050005020304" pitchFamily="18" charset="0"/>
              </a:rPr>
              <a:t>Key Insight</a:t>
            </a:r>
          </a:p>
          <a:p>
            <a:r>
              <a:rPr lang="en-US" sz="2400">
                <a:solidFill>
                  <a:srgbClr val="480000"/>
                </a:solidFill>
              </a:rPr>
              <a:t>Template design was studied; ordering was not—this paper reveals its major impact</a:t>
            </a:r>
            <a:r>
              <a:rPr lang="en-US" sz="2400"/>
              <a:t>.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ABEBC-E060-68AA-51B2-3F6563DC7AB9}"/>
              </a:ext>
            </a:extLst>
          </p:cNvPr>
          <p:cNvSpPr txBox="1"/>
          <p:nvPr/>
        </p:nvSpPr>
        <p:spPr>
          <a:xfrm>
            <a:off x="211668" y="1447800"/>
            <a:ext cx="52493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/>
              <a:t> Core Challenge</a:t>
            </a:r>
          </a:p>
          <a:p>
            <a:r>
              <a:rPr lang="en-US" sz="2400">
                <a:solidFill>
                  <a:srgbClr val="480000"/>
                </a:solidFill>
              </a:rPr>
              <a:t>Turning training data into natural-language prompts that align well with pretrained LMs.</a:t>
            </a:r>
            <a:endParaRPr lang="en-GB" sz="2200">
              <a:solidFill>
                <a:srgbClr val="4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F66E6-69DA-D1B7-4195-8FAA8ECBD040}"/>
              </a:ext>
            </a:extLst>
          </p:cNvPr>
          <p:cNvSpPr txBox="1"/>
          <p:nvPr/>
        </p:nvSpPr>
        <p:spPr>
          <a:xfrm>
            <a:off x="6548551" y="1394618"/>
            <a:ext cx="495088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>
                <a:latin typeface="Amasis MT Pro Medium" panose="02040604050005020304" pitchFamily="18" charset="0"/>
              </a:rPr>
              <a:t>Manual Prompting</a:t>
            </a:r>
          </a:p>
          <a:p>
            <a:r>
              <a:rPr lang="en-US" sz="2400">
                <a:solidFill>
                  <a:srgbClr val="480000"/>
                </a:solidFill>
              </a:rPr>
              <a:t>Petroni et al. (2019): human-written natural language templates.</a:t>
            </a:r>
          </a:p>
          <a:p>
            <a:r>
              <a:rPr lang="en-US" sz="2400">
                <a:solidFill>
                  <a:srgbClr val="480000"/>
                </a:solidFill>
              </a:rPr>
              <a:t>Issues: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480000"/>
                </a:solidFill>
              </a:rPr>
              <a:t>High human effort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480000"/>
                </a:solidFill>
              </a:rPr>
              <a:t>Hard to scale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480000"/>
                </a:solidFill>
              </a:rPr>
              <a:t>Often </a:t>
            </a:r>
            <a:r>
              <a:rPr lang="en-US" b="1">
                <a:solidFill>
                  <a:srgbClr val="480000"/>
                </a:solidFill>
              </a:rPr>
              <a:t>sub-optimal</a:t>
            </a:r>
            <a:r>
              <a:rPr lang="en-US">
                <a:solidFill>
                  <a:srgbClr val="480000"/>
                </a:solidFill>
              </a:rPr>
              <a:t>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F30D3-20EA-1BBE-470C-09D873AEAFBB}"/>
              </a:ext>
            </a:extLst>
          </p:cNvPr>
          <p:cNvSpPr txBox="1"/>
          <p:nvPr/>
        </p:nvSpPr>
        <p:spPr>
          <a:xfrm>
            <a:off x="6337300" y="4351460"/>
            <a:ext cx="58547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/>
              <a:t> Automatic Template Construction</a:t>
            </a:r>
          </a:p>
          <a:p>
            <a:r>
              <a:rPr lang="en-US" sz="1800" b="1">
                <a:solidFill>
                  <a:srgbClr val="480000"/>
                </a:solidFill>
              </a:rPr>
              <a:t>Schick &amp; Schütze (2020):</a:t>
            </a:r>
            <a:r>
              <a:rPr lang="en-US" sz="1800">
                <a:solidFill>
                  <a:srgbClr val="480000"/>
                </a:solidFill>
              </a:rPr>
              <a:t> cloze-style templates</a:t>
            </a:r>
          </a:p>
          <a:p>
            <a:r>
              <a:rPr lang="en-US" sz="1800" b="1">
                <a:solidFill>
                  <a:srgbClr val="480000"/>
                </a:solidFill>
              </a:rPr>
              <a:t>Gao et al. (2020):</a:t>
            </a:r>
            <a:r>
              <a:rPr lang="en-US" sz="1800">
                <a:solidFill>
                  <a:srgbClr val="480000"/>
                </a:solidFill>
              </a:rPr>
              <a:t> templates generated by an external LM</a:t>
            </a:r>
          </a:p>
          <a:p>
            <a:r>
              <a:rPr lang="en-US" sz="1800" b="1">
                <a:solidFill>
                  <a:srgbClr val="480000"/>
                </a:solidFill>
              </a:rPr>
              <a:t>Shin et al. (2020):</a:t>
            </a:r>
            <a:r>
              <a:rPr lang="en-US" sz="1800">
                <a:solidFill>
                  <a:srgbClr val="480000"/>
                </a:solidFill>
              </a:rPr>
              <a:t> gradient-guided search for optimal templates</a:t>
            </a:r>
          </a:p>
          <a:p>
            <a:r>
              <a:rPr lang="en-US" sz="1800" b="1">
                <a:solidFill>
                  <a:srgbClr val="480000"/>
                </a:solidFill>
              </a:rPr>
              <a:t>Jiang et al. (2020):</a:t>
            </a:r>
            <a:r>
              <a:rPr lang="en-US" sz="1800">
                <a:solidFill>
                  <a:srgbClr val="480000"/>
                </a:solidFill>
              </a:rPr>
              <a:t> mining-based methods for diverse templates</a:t>
            </a:r>
          </a:p>
        </p:txBody>
      </p:sp>
      <p:sp>
        <p:nvSpPr>
          <p:cNvPr id="21" name="Thought Bubble: Cloud 20">
            <a:extLst>
              <a:ext uri="{FF2B5EF4-FFF2-40B4-BE49-F238E27FC236}">
                <a16:creationId xmlns:a16="http://schemas.microsoft.com/office/drawing/2014/main" id="{97067AC2-E99E-EB36-9CF7-320D3C7F2E7D}"/>
              </a:ext>
            </a:extLst>
          </p:cNvPr>
          <p:cNvSpPr/>
          <p:nvPr/>
        </p:nvSpPr>
        <p:spPr>
          <a:xfrm rot="780000">
            <a:off x="-440876" y="3515198"/>
            <a:ext cx="5359491" cy="3263715"/>
          </a:xfrm>
          <a:prstGeom prst="cloudCallou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k: Çentikli Sağ 2">
            <a:extLst>
              <a:ext uri="{FF2B5EF4-FFF2-40B4-BE49-F238E27FC236}">
                <a16:creationId xmlns:a16="http://schemas.microsoft.com/office/drawing/2014/main" id="{6E1967FE-FDF9-89E1-9395-8B4ED9B10CFB}"/>
              </a:ext>
            </a:extLst>
          </p:cNvPr>
          <p:cNvSpPr/>
          <p:nvPr/>
        </p:nvSpPr>
        <p:spPr>
          <a:xfrm>
            <a:off x="5447835" y="1916616"/>
            <a:ext cx="964115" cy="41817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Ok: Çentikli Sağ 5">
            <a:extLst>
              <a:ext uri="{FF2B5EF4-FFF2-40B4-BE49-F238E27FC236}">
                <a16:creationId xmlns:a16="http://schemas.microsoft.com/office/drawing/2014/main" id="{77EED682-E142-EE7D-A370-D9F5D8136D05}"/>
              </a:ext>
            </a:extLst>
          </p:cNvPr>
          <p:cNvSpPr/>
          <p:nvPr/>
        </p:nvSpPr>
        <p:spPr>
          <a:xfrm rot="5400000">
            <a:off x="8528965" y="3948617"/>
            <a:ext cx="577594" cy="429213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2601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20000">
              <a:srgbClr val="FFEBEB"/>
            </a:gs>
            <a:gs pos="19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49ED4-717F-120A-3811-7EC8966D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C308-2F8F-76DE-9A50-41982B60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Order Sensitivity &amp; True Few-Shot Learning</a:t>
            </a:r>
            <a:endParaRPr lang="tr-TR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B7C445-E44A-5365-492A-EF97B4084CF4}"/>
              </a:ext>
            </a:extLst>
          </p:cNvPr>
          <p:cNvSpPr txBox="1">
            <a:spLocks/>
          </p:cNvSpPr>
          <p:nvPr/>
        </p:nvSpPr>
        <p:spPr>
          <a:xfrm>
            <a:off x="270933" y="1741751"/>
            <a:ext cx="5765800" cy="51162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/>
              <a:t> </a:t>
            </a:r>
            <a:r>
              <a:rPr lang="en-US" sz="4400">
                <a:latin typeface="Amasis MT Pro Medium"/>
              </a:rPr>
              <a:t>Order Sensitivity in Existing Work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3500"/>
              <a:t>Gao et al. (2020): fine-tuned models are less sensitive to example order.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3500"/>
              <a:t>Liu et al. (2021): with a large training set, nearest-neighbor retrieval reduces order effects.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3500"/>
              <a:t>Conclusion: after retrieving relevant samples, ordering barely matters.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4400">
                <a:latin typeface="Amasis MT Pro Medium"/>
              </a:rPr>
              <a:t>Contrasting Finding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az-Latn-AZ" sz="3400"/>
              <a:t>O</a:t>
            </a:r>
            <a:r>
              <a:rPr lang="en-US" sz="3400" err="1"/>
              <a:t>perate</a:t>
            </a:r>
            <a:r>
              <a:rPr lang="en-US" sz="3400"/>
              <a:t> in true few-shot settings (no large training set).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3400"/>
              <a:t>Example </a:t>
            </a:r>
            <a:r>
              <a:rPr lang="en-US" sz="3400" i="1"/>
              <a:t>order can shift performance from near-SOTA to random</a:t>
            </a:r>
            <a:r>
              <a:rPr lang="en-US" sz="3400"/>
              <a:t>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3400"/>
              <a:t>None examined order sensitivity deeply.</a:t>
            </a:r>
          </a:p>
          <a:p>
            <a:endParaRPr lang="en-GB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7B0DED0-941C-48BA-8C7C-CC3FB2945FAE}"/>
              </a:ext>
            </a:extLst>
          </p:cNvPr>
          <p:cNvSpPr txBox="1"/>
          <p:nvPr/>
        </p:nvSpPr>
        <p:spPr>
          <a:xfrm>
            <a:off x="6417204" y="1602708"/>
            <a:ext cx="5503863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2400">
                <a:latin typeface="Amasis MT Pro Medium"/>
              </a:rPr>
              <a:t>True Few-Shot Setting</a:t>
            </a:r>
          </a:p>
          <a:p>
            <a:pPr>
              <a:buNone/>
            </a:pPr>
            <a:endParaRPr lang="en-US" sz="2400">
              <a:latin typeface="Amasis MT Pro Medium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/>
              <a:t> Perez et al. (2021): few-shot performance is overestimated when a validation set is available.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/>
              <a:t> New method: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/>
              <a:t>Uses the LM’s generative ability to create an artificial probing set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/>
              <a:t>Requires no held-out data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/>
              <a:t>Outperforms tuning on a real split</a:t>
            </a:r>
          </a:p>
          <a:p>
            <a:pPr>
              <a:buNone/>
            </a:pPr>
            <a:endParaRPr lang="en-US" sz="2000"/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37086DA-36A9-CABE-D390-4BA90C369187}"/>
              </a:ext>
            </a:extLst>
          </p:cNvPr>
          <p:cNvCxnSpPr/>
          <p:nvPr/>
        </p:nvCxnSpPr>
        <p:spPr>
          <a:xfrm>
            <a:off x="6001313" y="1314102"/>
            <a:ext cx="35420" cy="552564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457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20000">
              <a:srgbClr val="FFEBEB"/>
            </a:gs>
            <a:gs pos="19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60971-B2C1-2176-9AB6-CAE23023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: Katlanmış Köşe 18">
            <a:extLst>
              <a:ext uri="{FF2B5EF4-FFF2-40B4-BE49-F238E27FC236}">
                <a16:creationId xmlns:a16="http://schemas.microsoft.com/office/drawing/2014/main" id="{FB6E55FB-5926-D8BF-6A7F-CC93A36085F3}"/>
              </a:ext>
            </a:extLst>
          </p:cNvPr>
          <p:cNvSpPr/>
          <p:nvPr/>
        </p:nvSpPr>
        <p:spPr>
          <a:xfrm>
            <a:off x="348474" y="1927658"/>
            <a:ext cx="5752304" cy="2315729"/>
          </a:xfrm>
          <a:prstGeom prst="foldedCorne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: Katlanmış Köşe 17">
            <a:extLst>
              <a:ext uri="{FF2B5EF4-FFF2-40B4-BE49-F238E27FC236}">
                <a16:creationId xmlns:a16="http://schemas.microsoft.com/office/drawing/2014/main" id="{88C23B3A-78E0-AC1B-7FBD-018B9C42D0DC}"/>
              </a:ext>
            </a:extLst>
          </p:cNvPr>
          <p:cNvSpPr/>
          <p:nvPr/>
        </p:nvSpPr>
        <p:spPr>
          <a:xfrm>
            <a:off x="359517" y="4235745"/>
            <a:ext cx="5730217" cy="2315729"/>
          </a:xfrm>
          <a:prstGeom prst="foldedCorne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: Katlanmış Köşe 16">
            <a:extLst>
              <a:ext uri="{FF2B5EF4-FFF2-40B4-BE49-F238E27FC236}">
                <a16:creationId xmlns:a16="http://schemas.microsoft.com/office/drawing/2014/main" id="{4C10B13D-4D4C-048A-2D63-F47075E8AF1F}"/>
              </a:ext>
            </a:extLst>
          </p:cNvPr>
          <p:cNvSpPr/>
          <p:nvPr/>
        </p:nvSpPr>
        <p:spPr>
          <a:xfrm>
            <a:off x="6091083" y="4235745"/>
            <a:ext cx="5752304" cy="2315729"/>
          </a:xfrm>
          <a:prstGeom prst="foldedCorne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Dikdörtgen: Katlanmış Köşe 14">
            <a:extLst>
              <a:ext uri="{FF2B5EF4-FFF2-40B4-BE49-F238E27FC236}">
                <a16:creationId xmlns:a16="http://schemas.microsoft.com/office/drawing/2014/main" id="{88153DF2-74EE-7809-46EB-8B0567C1609C}"/>
              </a:ext>
            </a:extLst>
          </p:cNvPr>
          <p:cNvSpPr/>
          <p:nvPr/>
        </p:nvSpPr>
        <p:spPr>
          <a:xfrm>
            <a:off x="6091083" y="1927658"/>
            <a:ext cx="5752304" cy="2315729"/>
          </a:xfrm>
          <a:prstGeom prst="foldedCorne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2E0F8-F2A3-2224-2611-52F6836C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>
            <a:noAutofit/>
          </a:bodyPr>
          <a:lstStyle/>
          <a:p>
            <a:r>
              <a:rPr lang="az-Latn-AZ">
                <a:solidFill>
                  <a:schemeClr val="bg1"/>
                </a:solidFill>
                <a:latin typeface="Aptos Display"/>
              </a:rPr>
              <a:t>Limitation</a:t>
            </a:r>
            <a:r>
              <a:rPr lang="en-US">
                <a:solidFill>
                  <a:schemeClr val="bg1"/>
                </a:solidFill>
                <a:latin typeface="Aptos Display"/>
              </a:rPr>
              <a:t>s</a:t>
            </a:r>
            <a:endParaRPr lang="tr-TR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6705CF3-FD6E-BE83-CACC-692EB4ABA26D}"/>
              </a:ext>
            </a:extLst>
          </p:cNvPr>
          <p:cNvSpPr txBox="1"/>
          <p:nvPr/>
        </p:nvSpPr>
        <p:spPr>
          <a:xfrm>
            <a:off x="520148" y="2074783"/>
            <a:ext cx="4949319" cy="13542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Task &amp; Domain Limitations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  Evaluated only on text classification tasks.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  Unclear in generation, multi-turn reasoning, or more complex tasks.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9FAA86-928A-F2B5-A277-7C70A2BC7066}"/>
              </a:ext>
            </a:extLst>
          </p:cNvPr>
          <p:cNvSpPr txBox="1"/>
          <p:nvPr/>
        </p:nvSpPr>
        <p:spPr>
          <a:xfrm>
            <a:off x="418548" y="4519221"/>
            <a:ext cx="550081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Probing Set Assumptions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  The model generates its own probing set.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  Low-quality </a:t>
            </a:r>
            <a:r>
              <a:rPr lang="en-US" err="1"/>
              <a:t>generatio</a:t>
            </a:r>
            <a:r>
              <a:rPr lang="en-US"/>
              <a:t> →</a:t>
            </a:r>
            <a:br>
              <a:rPr lang="en-US"/>
            </a:br>
            <a:r>
              <a:rPr lang="en-US"/>
              <a:t>   Probing signal may be unreliable.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8C768CE-D0AF-55F0-645A-FD582CC32FD8}"/>
              </a:ext>
            </a:extLst>
          </p:cNvPr>
          <p:cNvSpPr txBox="1"/>
          <p:nvPr/>
        </p:nvSpPr>
        <p:spPr>
          <a:xfrm>
            <a:off x="6105636" y="1933030"/>
            <a:ext cx="5876536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Shot &amp; Scaling Constraints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  Tested mainly in 4-shot settings (context limits).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  Unclear how permutation sensitivity scales in higher-shot prompts.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  Real few-shot tasks may require scoring thousands</a:t>
            </a:r>
            <a:br>
              <a:rPr lang="en-US"/>
            </a:br>
            <a:r>
              <a:rPr lang="en-US"/>
              <a:t>   (more than 24)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89AD16F-6F36-FC30-B305-4E5A421DB3E6}"/>
              </a:ext>
            </a:extLst>
          </p:cNvPr>
          <p:cNvSpPr txBox="1"/>
          <p:nvPr/>
        </p:nvSpPr>
        <p:spPr>
          <a:xfrm>
            <a:off x="6092948" y="4437701"/>
            <a:ext cx="61146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/>
              <a:t>Future Directions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  Wider tasks, domains, languages, and templates.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  Richer probing-set generation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  Unsupervised indicators</a:t>
            </a:r>
            <a:br>
              <a:rPr lang="en-GB"/>
            </a:br>
            <a:r>
              <a:rPr lang="en-GB"/>
              <a:t>(diversity signals, uncertainty metrics beyond entropy).</a:t>
            </a:r>
          </a:p>
        </p:txBody>
      </p:sp>
    </p:spTree>
    <p:extLst>
      <p:ext uri="{BB962C8B-B14F-4D97-AF65-F5344CB8AC3E}">
        <p14:creationId xmlns:p14="http://schemas.microsoft.com/office/powerpoint/2010/main" val="2266825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20000">
              <a:srgbClr val="FFEBEB"/>
            </a:gs>
            <a:gs pos="19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33D11-17FD-92AE-EF52-322D4A9D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5316-57C4-F729-B1C0-EF1B28904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8255"/>
            <a:ext cx="10515600" cy="1325563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A0F12-60EB-5137-A810-4967C77BCC3B}"/>
              </a:ext>
            </a:extLst>
          </p:cNvPr>
          <p:cNvSpPr txBox="1"/>
          <p:nvPr/>
        </p:nvSpPr>
        <p:spPr>
          <a:xfrm>
            <a:off x="562113" y="1541300"/>
            <a:ext cx="6097162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>
                <a:latin typeface="Amasis MT Pro Medium"/>
              </a:rPr>
              <a:t>Insight</a:t>
            </a:r>
          </a:p>
          <a:p>
            <a:pPr>
              <a:buNone/>
            </a:pPr>
            <a:r>
              <a:rPr lang="en-US"/>
              <a:t>Order sensitivity is a fundamental limitation of in-context learning and, </a:t>
            </a:r>
            <a:r>
              <a:rPr lang="en-US" b="1"/>
              <a:t>it has not been systematically examined in prior work</a:t>
            </a:r>
            <a:r>
              <a:rPr lang="en-US"/>
              <a:t>. Results show that example ordering can radically affect model reliability.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B68C199-08A8-26B9-EA52-DB46954337F2}"/>
              </a:ext>
            </a:extLst>
          </p:cNvPr>
          <p:cNvSpPr txBox="1"/>
          <p:nvPr/>
        </p:nvSpPr>
        <p:spPr>
          <a:xfrm>
            <a:off x="3075384" y="3442122"/>
            <a:ext cx="609716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>
                <a:latin typeface="Amasis MT Pro Medium"/>
              </a:rPr>
              <a:t>Method</a:t>
            </a:r>
          </a:p>
          <a:p>
            <a:pPr>
              <a:buNone/>
            </a:pPr>
            <a:r>
              <a:rPr lang="en-US"/>
              <a:t>An entropy-based probing strategy selects high-quality example permutations using only model-generated probes (no validation set needed).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2C73048-BBC9-92DD-0D5C-416340FA2413}"/>
              </a:ext>
            </a:extLst>
          </p:cNvPr>
          <p:cNvSpPr txBox="1"/>
          <p:nvPr/>
        </p:nvSpPr>
        <p:spPr>
          <a:xfrm>
            <a:off x="5677650" y="5210607"/>
            <a:ext cx="609716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>
                <a:latin typeface="Amasis MT Pro Medium"/>
              </a:rPr>
              <a:t>Impact</a:t>
            </a:r>
          </a:p>
          <a:p>
            <a:pPr>
              <a:buNone/>
            </a:pPr>
            <a:r>
              <a:rPr lang="en-US"/>
              <a:t>Consistent accuracy gains across models and tasks demonstrate that stable few-shot learning depends on understanding and controlling example order.</a:t>
            </a:r>
          </a:p>
        </p:txBody>
      </p:sp>
      <p:sp>
        <p:nvSpPr>
          <p:cNvPr id="19" name="Ok: Yukarı Bükülü 18">
            <a:extLst>
              <a:ext uri="{FF2B5EF4-FFF2-40B4-BE49-F238E27FC236}">
                <a16:creationId xmlns:a16="http://schemas.microsoft.com/office/drawing/2014/main" id="{1A4A8C5D-7A44-BCC6-F429-83D84961D6C0}"/>
              </a:ext>
            </a:extLst>
          </p:cNvPr>
          <p:cNvSpPr/>
          <p:nvPr/>
        </p:nvSpPr>
        <p:spPr>
          <a:xfrm rot="5400000">
            <a:off x="1989149" y="3273629"/>
            <a:ext cx="1200329" cy="707261"/>
          </a:xfrm>
          <a:prstGeom prst="bentUpArrow">
            <a:avLst/>
          </a:prstGeom>
          <a:solidFill>
            <a:schemeClr val="tx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B4CD49FB-DE96-1239-B6D1-A99923B70DEB}"/>
              </a:ext>
            </a:extLst>
          </p:cNvPr>
          <p:cNvSpPr/>
          <p:nvPr/>
        </p:nvSpPr>
        <p:spPr>
          <a:xfrm>
            <a:off x="453018" y="1451981"/>
            <a:ext cx="6168018" cy="1568140"/>
          </a:xfrm>
          <a:prstGeom prst="round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048302887">
                  <a:custGeom>
                    <a:avLst/>
                    <a:gdLst>
                      <a:gd name="csX0" fmla="*/ 0 w 6168018"/>
                      <a:gd name="csY0" fmla="*/ 261362 h 1568140"/>
                      <a:gd name="csX1" fmla="*/ 261362 w 6168018"/>
                      <a:gd name="csY1" fmla="*/ 0 h 1568140"/>
                      <a:gd name="csX2" fmla="*/ 5906656 w 6168018"/>
                      <a:gd name="csY2" fmla="*/ 0 h 1568140"/>
                      <a:gd name="csX3" fmla="*/ 6168018 w 6168018"/>
                      <a:gd name="csY3" fmla="*/ 261362 h 1568140"/>
                      <a:gd name="csX4" fmla="*/ 6168018 w 6168018"/>
                      <a:gd name="csY4" fmla="*/ 1306778 h 1568140"/>
                      <a:gd name="csX5" fmla="*/ 5906656 w 6168018"/>
                      <a:gd name="csY5" fmla="*/ 1568140 h 1568140"/>
                      <a:gd name="csX6" fmla="*/ 261362 w 6168018"/>
                      <a:gd name="csY6" fmla="*/ 1568140 h 1568140"/>
                      <a:gd name="csX7" fmla="*/ 0 w 6168018"/>
                      <a:gd name="csY7" fmla="*/ 1306778 h 1568140"/>
                      <a:gd name="csX8" fmla="*/ 0 w 6168018"/>
                      <a:gd name="csY8" fmla="*/ 261362 h 15681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6168018" h="1568140" extrusionOk="0">
                        <a:moveTo>
                          <a:pt x="0" y="261362"/>
                        </a:moveTo>
                        <a:cubicBezTo>
                          <a:pt x="8186" y="98178"/>
                          <a:pt x="143701" y="4821"/>
                          <a:pt x="261362" y="0"/>
                        </a:cubicBezTo>
                        <a:cubicBezTo>
                          <a:pt x="2262658" y="-31708"/>
                          <a:pt x="3295264" y="-60487"/>
                          <a:pt x="5906656" y="0"/>
                        </a:cubicBezTo>
                        <a:cubicBezTo>
                          <a:pt x="6057289" y="4035"/>
                          <a:pt x="6178690" y="102137"/>
                          <a:pt x="6168018" y="261362"/>
                        </a:cubicBezTo>
                        <a:cubicBezTo>
                          <a:pt x="6211955" y="734701"/>
                          <a:pt x="6257439" y="1060900"/>
                          <a:pt x="6168018" y="1306778"/>
                        </a:cubicBezTo>
                        <a:cubicBezTo>
                          <a:pt x="6153195" y="1471326"/>
                          <a:pt x="6043588" y="1549313"/>
                          <a:pt x="5906656" y="1568140"/>
                        </a:cubicBezTo>
                        <a:cubicBezTo>
                          <a:pt x="3920949" y="1634181"/>
                          <a:pt x="1637514" y="1573341"/>
                          <a:pt x="261362" y="1568140"/>
                        </a:cubicBezTo>
                        <a:cubicBezTo>
                          <a:pt x="113930" y="1569023"/>
                          <a:pt x="16534" y="1456230"/>
                          <a:pt x="0" y="1306778"/>
                        </a:cubicBezTo>
                        <a:cubicBezTo>
                          <a:pt x="83343" y="1024704"/>
                          <a:pt x="-21845" y="512836"/>
                          <a:pt x="0" y="26136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Dikdörtgen: Köşeleri Yuvarlatılmış 24">
            <a:extLst>
              <a:ext uri="{FF2B5EF4-FFF2-40B4-BE49-F238E27FC236}">
                <a16:creationId xmlns:a16="http://schemas.microsoft.com/office/drawing/2014/main" id="{AFBB422B-F36C-EBBF-FC69-F5DFEDD0996C}"/>
              </a:ext>
            </a:extLst>
          </p:cNvPr>
          <p:cNvSpPr/>
          <p:nvPr/>
        </p:nvSpPr>
        <p:spPr>
          <a:xfrm>
            <a:off x="3011161" y="3259009"/>
            <a:ext cx="6168018" cy="1568140"/>
          </a:xfrm>
          <a:prstGeom prst="round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048302887">
                  <a:custGeom>
                    <a:avLst/>
                    <a:gdLst>
                      <a:gd name="csX0" fmla="*/ 0 w 6168018"/>
                      <a:gd name="csY0" fmla="*/ 261362 h 1568140"/>
                      <a:gd name="csX1" fmla="*/ 261362 w 6168018"/>
                      <a:gd name="csY1" fmla="*/ 0 h 1568140"/>
                      <a:gd name="csX2" fmla="*/ 5906656 w 6168018"/>
                      <a:gd name="csY2" fmla="*/ 0 h 1568140"/>
                      <a:gd name="csX3" fmla="*/ 6168018 w 6168018"/>
                      <a:gd name="csY3" fmla="*/ 261362 h 1568140"/>
                      <a:gd name="csX4" fmla="*/ 6168018 w 6168018"/>
                      <a:gd name="csY4" fmla="*/ 1306778 h 1568140"/>
                      <a:gd name="csX5" fmla="*/ 5906656 w 6168018"/>
                      <a:gd name="csY5" fmla="*/ 1568140 h 1568140"/>
                      <a:gd name="csX6" fmla="*/ 261362 w 6168018"/>
                      <a:gd name="csY6" fmla="*/ 1568140 h 1568140"/>
                      <a:gd name="csX7" fmla="*/ 0 w 6168018"/>
                      <a:gd name="csY7" fmla="*/ 1306778 h 1568140"/>
                      <a:gd name="csX8" fmla="*/ 0 w 6168018"/>
                      <a:gd name="csY8" fmla="*/ 261362 h 15681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6168018" h="1568140" extrusionOk="0">
                        <a:moveTo>
                          <a:pt x="0" y="261362"/>
                        </a:moveTo>
                        <a:cubicBezTo>
                          <a:pt x="8186" y="98178"/>
                          <a:pt x="143701" y="4821"/>
                          <a:pt x="261362" y="0"/>
                        </a:cubicBezTo>
                        <a:cubicBezTo>
                          <a:pt x="2262658" y="-31708"/>
                          <a:pt x="3295264" y="-60487"/>
                          <a:pt x="5906656" y="0"/>
                        </a:cubicBezTo>
                        <a:cubicBezTo>
                          <a:pt x="6057289" y="4035"/>
                          <a:pt x="6178690" y="102137"/>
                          <a:pt x="6168018" y="261362"/>
                        </a:cubicBezTo>
                        <a:cubicBezTo>
                          <a:pt x="6211955" y="734701"/>
                          <a:pt x="6257439" y="1060900"/>
                          <a:pt x="6168018" y="1306778"/>
                        </a:cubicBezTo>
                        <a:cubicBezTo>
                          <a:pt x="6153195" y="1471326"/>
                          <a:pt x="6043588" y="1549313"/>
                          <a:pt x="5906656" y="1568140"/>
                        </a:cubicBezTo>
                        <a:cubicBezTo>
                          <a:pt x="3920949" y="1634181"/>
                          <a:pt x="1637514" y="1573341"/>
                          <a:pt x="261362" y="1568140"/>
                        </a:cubicBezTo>
                        <a:cubicBezTo>
                          <a:pt x="113930" y="1569023"/>
                          <a:pt x="16534" y="1456230"/>
                          <a:pt x="0" y="1306778"/>
                        </a:cubicBezTo>
                        <a:cubicBezTo>
                          <a:pt x="83343" y="1024704"/>
                          <a:pt x="-21845" y="512836"/>
                          <a:pt x="0" y="26136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10ED7FE7-8BCD-0F00-93F4-647136E3A187}"/>
              </a:ext>
            </a:extLst>
          </p:cNvPr>
          <p:cNvSpPr/>
          <p:nvPr/>
        </p:nvSpPr>
        <p:spPr>
          <a:xfrm>
            <a:off x="5558417" y="5022494"/>
            <a:ext cx="6168018" cy="1568140"/>
          </a:xfrm>
          <a:prstGeom prst="round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048302887">
                  <a:custGeom>
                    <a:avLst/>
                    <a:gdLst>
                      <a:gd name="csX0" fmla="*/ 0 w 6168018"/>
                      <a:gd name="csY0" fmla="*/ 261362 h 1568140"/>
                      <a:gd name="csX1" fmla="*/ 261362 w 6168018"/>
                      <a:gd name="csY1" fmla="*/ 0 h 1568140"/>
                      <a:gd name="csX2" fmla="*/ 5906656 w 6168018"/>
                      <a:gd name="csY2" fmla="*/ 0 h 1568140"/>
                      <a:gd name="csX3" fmla="*/ 6168018 w 6168018"/>
                      <a:gd name="csY3" fmla="*/ 261362 h 1568140"/>
                      <a:gd name="csX4" fmla="*/ 6168018 w 6168018"/>
                      <a:gd name="csY4" fmla="*/ 1306778 h 1568140"/>
                      <a:gd name="csX5" fmla="*/ 5906656 w 6168018"/>
                      <a:gd name="csY5" fmla="*/ 1568140 h 1568140"/>
                      <a:gd name="csX6" fmla="*/ 261362 w 6168018"/>
                      <a:gd name="csY6" fmla="*/ 1568140 h 1568140"/>
                      <a:gd name="csX7" fmla="*/ 0 w 6168018"/>
                      <a:gd name="csY7" fmla="*/ 1306778 h 1568140"/>
                      <a:gd name="csX8" fmla="*/ 0 w 6168018"/>
                      <a:gd name="csY8" fmla="*/ 261362 h 15681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6168018" h="1568140" extrusionOk="0">
                        <a:moveTo>
                          <a:pt x="0" y="261362"/>
                        </a:moveTo>
                        <a:cubicBezTo>
                          <a:pt x="8186" y="98178"/>
                          <a:pt x="143701" y="4821"/>
                          <a:pt x="261362" y="0"/>
                        </a:cubicBezTo>
                        <a:cubicBezTo>
                          <a:pt x="2262658" y="-31708"/>
                          <a:pt x="3295264" y="-60487"/>
                          <a:pt x="5906656" y="0"/>
                        </a:cubicBezTo>
                        <a:cubicBezTo>
                          <a:pt x="6057289" y="4035"/>
                          <a:pt x="6178690" y="102137"/>
                          <a:pt x="6168018" y="261362"/>
                        </a:cubicBezTo>
                        <a:cubicBezTo>
                          <a:pt x="6211955" y="734701"/>
                          <a:pt x="6257439" y="1060900"/>
                          <a:pt x="6168018" y="1306778"/>
                        </a:cubicBezTo>
                        <a:cubicBezTo>
                          <a:pt x="6153195" y="1471326"/>
                          <a:pt x="6043588" y="1549313"/>
                          <a:pt x="5906656" y="1568140"/>
                        </a:cubicBezTo>
                        <a:cubicBezTo>
                          <a:pt x="3920949" y="1634181"/>
                          <a:pt x="1637514" y="1573341"/>
                          <a:pt x="261362" y="1568140"/>
                        </a:cubicBezTo>
                        <a:cubicBezTo>
                          <a:pt x="113930" y="1569023"/>
                          <a:pt x="16534" y="1456230"/>
                          <a:pt x="0" y="1306778"/>
                        </a:cubicBezTo>
                        <a:cubicBezTo>
                          <a:pt x="83343" y="1024704"/>
                          <a:pt x="-21845" y="512836"/>
                          <a:pt x="0" y="26136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" name="Ok: Yukarı Bükülü 26">
            <a:extLst>
              <a:ext uri="{FF2B5EF4-FFF2-40B4-BE49-F238E27FC236}">
                <a16:creationId xmlns:a16="http://schemas.microsoft.com/office/drawing/2014/main" id="{1B4FE00F-8F9A-748E-81B5-A9699CE6A22E}"/>
              </a:ext>
            </a:extLst>
          </p:cNvPr>
          <p:cNvSpPr/>
          <p:nvPr/>
        </p:nvSpPr>
        <p:spPr>
          <a:xfrm rot="5400000">
            <a:off x="4612606" y="5080657"/>
            <a:ext cx="1200329" cy="707261"/>
          </a:xfrm>
          <a:prstGeom prst="bentUpArrow">
            <a:avLst/>
          </a:prstGeom>
          <a:solidFill>
            <a:schemeClr val="tx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2698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9485-340E-470E-877C-B5475CC2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27311"/>
            <a:ext cx="7890933" cy="863601"/>
          </a:xfrm>
        </p:spPr>
        <p:txBody>
          <a:bodyPr/>
          <a:lstStyle/>
          <a:p>
            <a:r>
              <a:rPr lang="en-US"/>
              <a:t>References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665C61-CE66-B8B9-1FC2-90CCD473C842}"/>
              </a:ext>
            </a:extLst>
          </p:cNvPr>
          <p:cNvSpPr txBox="1"/>
          <p:nvPr/>
        </p:nvSpPr>
        <p:spPr>
          <a:xfrm>
            <a:off x="249767" y="823177"/>
            <a:ext cx="1169246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sz="1400"/>
              <a:t>Lu, Y., Bartolo, M., Moore, A., Riedel, S., &amp; </a:t>
            </a:r>
            <a:r>
              <a:rPr lang="en-US" sz="1400" err="1"/>
              <a:t>Stenetorp</a:t>
            </a:r>
            <a:r>
              <a:rPr lang="en-US" sz="1400"/>
              <a:t>, P. (2022). </a:t>
            </a:r>
            <a:r>
              <a:rPr lang="en-US" sz="1400" i="1"/>
              <a:t>Fantastically ordered prompts and where to find them: Overcoming few-shot prompt order sensitivity</a:t>
            </a:r>
            <a:r>
              <a:rPr lang="en-US" sz="1400"/>
              <a:t>. </a:t>
            </a:r>
            <a:r>
              <a:rPr lang="en-US" sz="1400" err="1"/>
              <a:t>arXiv</a:t>
            </a:r>
            <a:r>
              <a:rPr lang="en-US" sz="1400"/>
              <a:t> preprint arXiv:2104.08786.</a:t>
            </a:r>
            <a:endParaRPr lang="en-GB" sz="1600"/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Gao, T., Fisch, A., &amp; Chen, D. (2020). Making pre-trained language models better few-shot learners. </a:t>
            </a:r>
            <a:r>
              <a:rPr lang="en-GB" sz="1600" i="1" err="1"/>
              <a:t>arXiv</a:t>
            </a:r>
            <a:r>
              <a:rPr lang="en-GB" sz="1600" i="1"/>
              <a:t> preprint</a:t>
            </a:r>
            <a:r>
              <a:rPr lang="en-GB" sz="1600"/>
              <a:t> arXiv:2012.15723.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Jiang, Z., Xu, F. F., Araki, J., &amp; Neubig, G. (2020). How can we know what language models know? </a:t>
            </a:r>
            <a:r>
              <a:rPr lang="en-GB" sz="1600" i="1"/>
              <a:t>Transactions of the Association for Computational Linguistics, 8</a:t>
            </a:r>
            <a:r>
              <a:rPr lang="en-GB" sz="1600"/>
              <a:t>, 423–438.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Kumar, A., </a:t>
            </a:r>
            <a:r>
              <a:rPr lang="en-GB" sz="1600" err="1"/>
              <a:t>Irsoy</a:t>
            </a:r>
            <a:r>
              <a:rPr lang="en-GB" sz="1600"/>
              <a:t>, O., Ondruska, P., </a:t>
            </a:r>
            <a:r>
              <a:rPr lang="en-GB" sz="1600" err="1"/>
              <a:t>Iyyer</a:t>
            </a:r>
            <a:r>
              <a:rPr lang="en-GB" sz="1600"/>
              <a:t>, M., Bradbury, J., Gulrajani, I., Zhong, V., Paulus, R., &amp; Socher, R. (2016). Ask me anything: Dynamic memory networks for natural language processing. In </a:t>
            </a:r>
            <a:r>
              <a:rPr lang="en-GB" sz="1600" i="1"/>
              <a:t>Proceedings of the International Conference on Machine Learning (ICML)</a:t>
            </a:r>
            <a:r>
              <a:rPr lang="en-GB" sz="1600"/>
              <a:t> (pp. 1378–1387). PMLR.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Liu, J., Shen, D., Zhang, Y., Dolan, B., Carin, L., &amp; Chen, W. (2021). What makes good in-context examples for GPT-3? </a:t>
            </a:r>
            <a:r>
              <a:rPr lang="en-GB" sz="1600" i="1" err="1"/>
              <a:t>arXiv</a:t>
            </a:r>
            <a:r>
              <a:rPr lang="en-GB" sz="1600" i="1"/>
              <a:t> preprint</a:t>
            </a:r>
            <a:r>
              <a:rPr lang="en-GB" sz="1600"/>
              <a:t> arXiv:2101.06804.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Lu, Y., Bartolo, M., Moore, A., Riedel, S., &amp; </a:t>
            </a:r>
            <a:r>
              <a:rPr lang="en-GB" sz="1600" err="1"/>
              <a:t>Stenetorp</a:t>
            </a:r>
            <a:r>
              <a:rPr lang="en-GB" sz="1600"/>
              <a:t>, P. (2022). Fantastically ordered prompts and where to find them: Overcoming few-shot prompt order sensitivity. </a:t>
            </a:r>
            <a:r>
              <a:rPr lang="en-GB" sz="1600" i="1" err="1"/>
              <a:t>arXiv</a:t>
            </a:r>
            <a:r>
              <a:rPr lang="en-GB" sz="1600" i="1"/>
              <a:t> preprint</a:t>
            </a:r>
            <a:r>
              <a:rPr lang="en-GB" sz="1600"/>
              <a:t> arXiv:2104.08786.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Perez, E., Kiela, D., &amp; Cho, K. (2021). True few-shot learning with language models. </a:t>
            </a:r>
            <a:r>
              <a:rPr lang="en-GB" sz="1600" i="1" err="1"/>
              <a:t>arXiv</a:t>
            </a:r>
            <a:r>
              <a:rPr lang="en-GB" sz="1600" i="1"/>
              <a:t> preprint</a:t>
            </a:r>
            <a:r>
              <a:rPr lang="en-GB" sz="1600"/>
              <a:t> arXiv:2105.11447.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Petroni, F., </a:t>
            </a:r>
            <a:r>
              <a:rPr lang="en-GB" sz="1600" err="1"/>
              <a:t>Rocktäschel</a:t>
            </a:r>
            <a:r>
              <a:rPr lang="en-GB" sz="1600"/>
              <a:t>, T., Riedel, S., Lewis, P., Bakhtin, A., Wu, Y., &amp; Miller, A. (2019). Language models as knowledge bases? In </a:t>
            </a:r>
            <a:r>
              <a:rPr lang="en-GB" sz="1600" i="1"/>
              <a:t>Proceedings of the 2019 Conference on Empirical Methods in Natural Language Processing and the 9th International Joint Conference on Natural Language Processing (EMNLP-IJCNLP)</a:t>
            </a:r>
            <a:r>
              <a:rPr lang="en-GB" sz="1600"/>
              <a:t> (pp. 2463–2473). Association for Computational Linguistics.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Raffel, C., </a:t>
            </a:r>
            <a:r>
              <a:rPr lang="en-GB" sz="1600" err="1"/>
              <a:t>Shazeer</a:t>
            </a:r>
            <a:r>
              <a:rPr lang="en-GB" sz="1600"/>
              <a:t>, N., Roberts, A., Lee, K., Narang, S., </a:t>
            </a:r>
            <a:r>
              <a:rPr lang="en-GB" sz="1600" err="1"/>
              <a:t>Matena</a:t>
            </a:r>
            <a:r>
              <a:rPr lang="en-GB" sz="1600"/>
              <a:t>, M., Zhou, Y., Li, W., &amp; Liu, P. J. (2020). Exploring the limits of transfer learning with a unified text-to-text transformer. </a:t>
            </a:r>
            <a:r>
              <a:rPr lang="en-GB" sz="1600" i="1"/>
              <a:t>Journal of Machine Learning Research, 21</a:t>
            </a:r>
            <a:r>
              <a:rPr lang="en-GB" sz="1600"/>
              <a:t>, 1–67.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Schick, T., &amp; Schütze, H. (2020). It’s not just size that matters: Small language models are also few-shot learners. </a:t>
            </a:r>
            <a:r>
              <a:rPr lang="en-GB" sz="1600" i="1" err="1"/>
              <a:t>arXiv</a:t>
            </a:r>
            <a:r>
              <a:rPr lang="en-GB" sz="1600" i="1"/>
              <a:t> preprint</a:t>
            </a:r>
            <a:r>
              <a:rPr lang="en-GB" sz="1600"/>
              <a:t> arXiv:2009.07118.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600"/>
              <a:t>Shin, T., </a:t>
            </a:r>
            <a:r>
              <a:rPr lang="en-GB" sz="1600" err="1"/>
              <a:t>Razeghi</a:t>
            </a:r>
            <a:r>
              <a:rPr lang="en-GB" sz="1600"/>
              <a:t>, Y., Logan, R. L., IV, Wallace, E., &amp; Singh, S. (2020). </a:t>
            </a:r>
            <a:r>
              <a:rPr lang="en-GB" sz="1600" err="1"/>
              <a:t>AutoPrompt</a:t>
            </a:r>
            <a:r>
              <a:rPr lang="en-GB" sz="1600"/>
              <a:t>: Eliciting knowledge from language models with automatically generated prompts. </a:t>
            </a:r>
            <a:r>
              <a:rPr lang="en-GB" sz="1600" i="1" err="1"/>
              <a:t>arXiv</a:t>
            </a:r>
            <a:r>
              <a:rPr lang="en-GB" sz="1600" i="1"/>
              <a:t> preprint</a:t>
            </a:r>
            <a:r>
              <a:rPr lang="en-GB" sz="1600"/>
              <a:t> arXiv:2010.15980.</a:t>
            </a:r>
          </a:p>
        </p:txBody>
      </p:sp>
    </p:spTree>
    <p:extLst>
      <p:ext uri="{BB962C8B-B14F-4D97-AF65-F5344CB8AC3E}">
        <p14:creationId xmlns:p14="http://schemas.microsoft.com/office/powerpoint/2010/main" val="4261100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3F0707"/>
      </a:dk2>
      <a:lt2>
        <a:srgbClr val="E8E8E8"/>
      </a:lt2>
      <a:accent1>
        <a:srgbClr val="3F0707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fl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DD3A7FD16CAC24AB14869E051BC66D7" ma:contentTypeVersion="3" ma:contentTypeDescription="Yeni belge oluşturun." ma:contentTypeScope="" ma:versionID="89cac7f1e1de45334f4a7af93b008dff">
  <xsd:schema xmlns:xsd="http://www.w3.org/2001/XMLSchema" xmlns:xs="http://www.w3.org/2001/XMLSchema" xmlns:p="http://schemas.microsoft.com/office/2006/metadata/properties" xmlns:ns2="6bfd5f63-3232-42a0-8db4-2484f8efdeaa" targetNamespace="http://schemas.microsoft.com/office/2006/metadata/properties" ma:root="true" ma:fieldsID="7ffae74ceffa62c4c775c89a27f27671" ns2:_="">
    <xsd:import namespace="6bfd5f63-3232-42a0-8db4-2484f8ef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5f63-3232-42a0-8db4-2484f8efd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32780E-7D92-480B-93FF-DC6F7E8DF735}">
  <ds:schemaRefs>
    <ds:schemaRef ds:uri="6bfd5f63-3232-42a0-8db4-2484f8efde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AB8F36-9B82-4434-AA66-B59DA77478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B53F8E-EF91-48EC-A842-41BAA8F04F6D}">
  <ds:schemaRefs>
    <ds:schemaRef ds:uri="791693ca-3c59-49de-8e09-d1b41acfca7c"/>
    <ds:schemaRef ds:uri="8223c54c-02d1-402e-882c-576f49b34d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      Fantastically Ordered Prompts and Where to Find Them: Overcoming Few-Shot Prompt Order Sensitivity   Ilaha Karimli - 300201111</vt:lpstr>
      <vt:lpstr>Introduction</vt:lpstr>
      <vt:lpstr>Introduction</vt:lpstr>
      <vt:lpstr>Order Sensitivity</vt:lpstr>
      <vt:lpstr>Order Sensitivity</vt:lpstr>
      <vt:lpstr>Order Sensitivity</vt:lpstr>
      <vt:lpstr>Order Sensitivity</vt:lpstr>
      <vt:lpstr>Methodology</vt:lpstr>
      <vt:lpstr>Experimental Setup</vt:lpstr>
      <vt:lpstr>Datasets</vt:lpstr>
      <vt:lpstr>Results</vt:lpstr>
      <vt:lpstr>PowerPoint Presentation</vt:lpstr>
      <vt:lpstr>Related Work</vt:lpstr>
      <vt:lpstr>Prompt Design for Pretrained Language Models</vt:lpstr>
      <vt:lpstr>Order Sensitivity &amp; True Few-Shot Learning</vt:lpstr>
      <vt:lpstr>Limitations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ILAHA KARIMLI</dc:creator>
  <cp:revision>2</cp:revision>
  <cp:lastPrinted>2025-11-30T15:49:43Z</cp:lastPrinted>
  <dcterms:created xsi:type="dcterms:W3CDTF">2025-11-30T08:08:59Z</dcterms:created>
  <dcterms:modified xsi:type="dcterms:W3CDTF">2025-12-05T14:07:27Z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