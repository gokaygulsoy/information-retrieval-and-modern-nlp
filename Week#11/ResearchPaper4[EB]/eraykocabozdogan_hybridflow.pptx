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24"/>
  </p:notesMasterIdLst>
  <p:sldIdLst>
    <p:sldId id="256" r:id="rId5"/>
    <p:sldId id="258" r:id="rId6"/>
    <p:sldId id="260" r:id="rId7"/>
    <p:sldId id="261" r:id="rId8"/>
    <p:sldId id="262" r:id="rId9"/>
    <p:sldId id="263" r:id="rId10"/>
    <p:sldId id="298" r:id="rId11"/>
    <p:sldId id="265" r:id="rId12"/>
    <p:sldId id="299" r:id="rId13"/>
    <p:sldId id="300" r:id="rId14"/>
    <p:sldId id="266" r:id="rId15"/>
    <p:sldId id="301" r:id="rId16"/>
    <p:sldId id="302" r:id="rId17"/>
    <p:sldId id="303" r:id="rId18"/>
    <p:sldId id="304" r:id="rId19"/>
    <p:sldId id="270" r:id="rId20"/>
    <p:sldId id="307" r:id="rId21"/>
    <p:sldId id="275" r:id="rId22"/>
    <p:sldId id="279" r:id="rId23"/>
  </p:sldIdLst>
  <p:sldSz cx="9144000" cy="5143500" type="screen16x9"/>
  <p:notesSz cx="6858000" cy="9144000"/>
  <p:embeddedFontLs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DM Sans ExtraBold" panose="020B0604020202020204" charset="0"/>
      <p:bold r:id="rId29"/>
      <p:italic r:id="rId29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Nunito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82BA91-00DB-40D3-A542-E25689BAEA72}">
  <a:tblStyle styleId="{BA82BA91-00DB-40D3-A542-E25689BAEA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/>
    <p:restoredTop sz="94748"/>
  </p:normalViewPr>
  <p:slideViewPr>
    <p:cSldViewPr snapToGrid="0">
      <p:cViewPr>
        <p:scale>
          <a:sx n="105" d="100"/>
          <a:sy n="105" d="100"/>
        </p:scale>
        <p:origin x="16" y="19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2175A44F-796E-D71B-92AF-D23779AD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dd46dd1d67_2_681:notes">
            <a:extLst>
              <a:ext uri="{FF2B5EF4-FFF2-40B4-BE49-F238E27FC236}">
                <a16:creationId xmlns:a16="http://schemas.microsoft.com/office/drawing/2014/main" id="{C0AD0048-749F-621A-A9E0-1829C02AAB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dd46dd1d67_2_681:notes">
            <a:extLst>
              <a:ext uri="{FF2B5EF4-FFF2-40B4-BE49-F238E27FC236}">
                <a16:creationId xmlns:a16="http://schemas.microsoft.com/office/drawing/2014/main" id="{40601C32-1121-E654-78AC-3357B2653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577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>
          <a:extLst>
            <a:ext uri="{FF2B5EF4-FFF2-40B4-BE49-F238E27FC236}">
              <a16:creationId xmlns:a16="http://schemas.microsoft.com/office/drawing/2014/main" id="{0C62881E-FA47-9858-9CF1-076B901B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dd46dd1d67_2_5:notes">
            <a:extLst>
              <a:ext uri="{FF2B5EF4-FFF2-40B4-BE49-F238E27FC236}">
                <a16:creationId xmlns:a16="http://schemas.microsoft.com/office/drawing/2014/main" id="{3A176230-1FD1-4193-C12E-F5991FA9F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dd46dd1d67_2_5:notes">
            <a:extLst>
              <a:ext uri="{FF2B5EF4-FFF2-40B4-BE49-F238E27FC236}">
                <a16:creationId xmlns:a16="http://schemas.microsoft.com/office/drawing/2014/main" id="{D58B214C-4857-B80D-8FAD-244F5FE6B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9186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71CED03C-EF2F-2298-64BA-C7318BD5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>
            <a:extLst>
              <a:ext uri="{FF2B5EF4-FFF2-40B4-BE49-F238E27FC236}">
                <a16:creationId xmlns:a16="http://schemas.microsoft.com/office/drawing/2014/main" id="{FB61D363-BE51-6C7B-14E9-D58331EFD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>
            <a:extLst>
              <a:ext uri="{FF2B5EF4-FFF2-40B4-BE49-F238E27FC236}">
                <a16:creationId xmlns:a16="http://schemas.microsoft.com/office/drawing/2014/main" id="{FAD30D17-F07C-5F3D-3B05-AEEB382E9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005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78FE007F-7147-6037-F135-625B825A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>
            <a:extLst>
              <a:ext uri="{FF2B5EF4-FFF2-40B4-BE49-F238E27FC236}">
                <a16:creationId xmlns:a16="http://schemas.microsoft.com/office/drawing/2014/main" id="{C28E49AD-818B-F096-F9B7-A645249CE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>
            <a:extLst>
              <a:ext uri="{FF2B5EF4-FFF2-40B4-BE49-F238E27FC236}">
                <a16:creationId xmlns:a16="http://schemas.microsoft.com/office/drawing/2014/main" id="{820905EC-6845-1D8F-BD44-DD77AF3D5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214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FDB0944-C09B-7323-1CA3-045AF533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>
            <a:extLst>
              <a:ext uri="{FF2B5EF4-FFF2-40B4-BE49-F238E27FC236}">
                <a16:creationId xmlns:a16="http://schemas.microsoft.com/office/drawing/2014/main" id="{BFCB9128-FCF7-9377-80FA-28E505160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2454A243-52FA-438A-F439-561C7DC96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947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9BAAA398-35F9-FF36-8595-644EF544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>
            <a:extLst>
              <a:ext uri="{FF2B5EF4-FFF2-40B4-BE49-F238E27FC236}">
                <a16:creationId xmlns:a16="http://schemas.microsoft.com/office/drawing/2014/main" id="{0A1502E0-EE01-064C-2A21-4229D21E6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>
            <a:extLst>
              <a:ext uri="{FF2B5EF4-FFF2-40B4-BE49-F238E27FC236}">
                <a16:creationId xmlns:a16="http://schemas.microsoft.com/office/drawing/2014/main" id="{77A01B6D-EA17-EBEA-F92B-DC04EB78F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822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E1F591E8-7A33-5771-8615-0DF093E1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>
            <a:extLst>
              <a:ext uri="{FF2B5EF4-FFF2-40B4-BE49-F238E27FC236}">
                <a16:creationId xmlns:a16="http://schemas.microsoft.com/office/drawing/2014/main" id="{A53A4E7C-05E1-347F-A889-7CFCD48B9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>
            <a:extLst>
              <a:ext uri="{FF2B5EF4-FFF2-40B4-BE49-F238E27FC236}">
                <a16:creationId xmlns:a16="http://schemas.microsoft.com/office/drawing/2014/main" id="{1903370A-2B1B-B869-A4C2-38500B210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0254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49E9E21F-D2C3-17FB-6149-722766DD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>
            <a:extLst>
              <a:ext uri="{FF2B5EF4-FFF2-40B4-BE49-F238E27FC236}">
                <a16:creationId xmlns:a16="http://schemas.microsoft.com/office/drawing/2014/main" id="{CC549729-D1C9-40DF-D66E-FB14B9A45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>
            <a:extLst>
              <a:ext uri="{FF2B5EF4-FFF2-40B4-BE49-F238E27FC236}">
                <a16:creationId xmlns:a16="http://schemas.microsoft.com/office/drawing/2014/main" id="{D58BF36D-C619-582B-A9D7-B78D8ADB9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513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b786378c4d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b786378c4d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98300" y="1523100"/>
            <a:ext cx="6957000" cy="22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98450" y="3732200"/>
            <a:ext cx="6957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078028" y="-1391669"/>
            <a:ext cx="11666207" cy="8151541"/>
            <a:chOff x="-2078028" y="-1391669"/>
            <a:chExt cx="11666207" cy="8151541"/>
          </a:xfrm>
        </p:grpSpPr>
        <p:sp>
          <p:nvSpPr>
            <p:cNvPr id="13" name="Google Shape;13;p2"/>
            <p:cNvSpPr/>
            <p:nvPr/>
          </p:nvSpPr>
          <p:spPr>
            <a:xfrm rot="5400000">
              <a:off x="-1065597" y="-240409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02464" y="36860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82925" y="-535943"/>
            <a:ext cx="8085408" cy="5144509"/>
            <a:chOff x="-182925" y="-535943"/>
            <a:chExt cx="8085408" cy="514450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-182925" y="4544171"/>
              <a:ext cx="8085408" cy="64395"/>
              <a:chOff x="-182925" y="4544171"/>
              <a:chExt cx="8085408" cy="6439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911949" y="-535943"/>
              <a:ext cx="64395" cy="1596993"/>
              <a:chOff x="911949" y="-535943"/>
              <a:chExt cx="64395" cy="1596993"/>
            </a:xfrm>
          </p:grpSpPr>
          <p:sp>
            <p:nvSpPr>
              <p:cNvPr id="20" name="Google Shape;20;p2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 rot="5400000">
            <a:off x="5929618" y="1770414"/>
            <a:ext cx="5611922" cy="64395"/>
            <a:chOff x="2290561" y="4544171"/>
            <a:chExt cx="5611922" cy="64395"/>
          </a:xfrm>
        </p:grpSpPr>
        <p:sp>
          <p:nvSpPr>
            <p:cNvPr id="41" name="Google Shape;41;p4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-1116563" y="-3550068"/>
            <a:ext cx="11772053" cy="9613578"/>
            <a:chOff x="-1116563" y="-3550068"/>
            <a:chExt cx="11772053" cy="9613578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7426512" y="2834532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10800000">
              <a:off x="-1116563" y="-35500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7200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47259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-1495975" y="-4262043"/>
            <a:ext cx="11107963" cy="10356802"/>
            <a:chOff x="-1495975" y="-4262043"/>
            <a:chExt cx="11107963" cy="10356802"/>
          </a:xfrm>
        </p:grpSpPr>
        <p:sp>
          <p:nvSpPr>
            <p:cNvPr id="54" name="Google Shape;54;p5"/>
            <p:cNvSpPr/>
            <p:nvPr/>
          </p:nvSpPr>
          <p:spPr>
            <a:xfrm>
              <a:off x="-1495975" y="2684808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121325" y="-42620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-1397550" y="705258"/>
            <a:ext cx="10299913" cy="5634038"/>
            <a:chOff x="-1397550" y="705258"/>
            <a:chExt cx="10299913" cy="5634038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-1397550" y="4613783"/>
              <a:ext cx="1771650" cy="71438"/>
              <a:chOff x="1150025" y="4460558"/>
              <a:chExt cx="1771650" cy="71438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" name="Google Shape;60;p5"/>
            <p:cNvGrpSpPr/>
            <p:nvPr/>
          </p:nvGrpSpPr>
          <p:grpSpPr>
            <a:xfrm rot="-5400000">
              <a:off x="6049625" y="3486558"/>
              <a:ext cx="5634038" cy="71438"/>
              <a:chOff x="969625" y="4766808"/>
              <a:chExt cx="5634038" cy="71438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969625" y="4795327"/>
                <a:ext cx="55278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20000" y="637700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7"/>
          <p:cNvGrpSpPr/>
          <p:nvPr/>
        </p:nvGrpSpPr>
        <p:grpSpPr>
          <a:xfrm>
            <a:off x="-965711" y="-1913219"/>
            <a:ext cx="11369546" cy="8152491"/>
            <a:chOff x="-965711" y="-1913219"/>
            <a:chExt cx="11369546" cy="8152491"/>
          </a:xfrm>
        </p:grpSpPr>
        <p:sp>
          <p:nvSpPr>
            <p:cNvPr id="77" name="Google Shape;77;p7"/>
            <p:cNvSpPr/>
            <p:nvPr/>
          </p:nvSpPr>
          <p:spPr>
            <a:xfrm rot="5400000">
              <a:off x="6938678" y="-292564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-965711" y="31654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712974" y="-1057493"/>
            <a:ext cx="8695857" cy="5875668"/>
            <a:chOff x="712974" y="-1057493"/>
            <a:chExt cx="8695857" cy="5875668"/>
          </a:xfrm>
        </p:grpSpPr>
        <p:grpSp>
          <p:nvGrpSpPr>
            <p:cNvPr id="80" name="Google Shape;80;p7"/>
            <p:cNvGrpSpPr/>
            <p:nvPr/>
          </p:nvGrpSpPr>
          <p:grpSpPr>
            <a:xfrm>
              <a:off x="7257199" y="-1057493"/>
              <a:ext cx="64395" cy="1596993"/>
              <a:chOff x="911949" y="-535943"/>
              <a:chExt cx="64395" cy="1596993"/>
            </a:xfrm>
          </p:grpSpPr>
          <p:sp>
            <p:nvSpPr>
              <p:cNvPr id="81" name="Google Shape;81;p7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7"/>
            <p:cNvGrpSpPr/>
            <p:nvPr/>
          </p:nvGrpSpPr>
          <p:grpSpPr>
            <a:xfrm rot="10800000">
              <a:off x="712974" y="4753773"/>
              <a:ext cx="8695857" cy="64402"/>
              <a:chOff x="-182925" y="4544171"/>
              <a:chExt cx="8085408" cy="64395"/>
            </a:xfrm>
          </p:grpSpPr>
          <p:sp>
            <p:nvSpPr>
              <p:cNvPr id="84" name="Google Shape;84;p7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996150" y="2474600"/>
            <a:ext cx="4699200" cy="17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 rot="-5400000">
            <a:off x="5613750" y="5901708"/>
            <a:ext cx="5634038" cy="71438"/>
            <a:chOff x="969625" y="4766808"/>
            <a:chExt cx="5634038" cy="71438"/>
          </a:xfrm>
        </p:grpSpPr>
        <p:sp>
          <p:nvSpPr>
            <p:cNvPr id="90" name="Google Shape;90;p8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4135975" y="539500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4135975" y="2634775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 rot="10800000">
            <a:off x="3697875" y="4456796"/>
            <a:ext cx="5634038" cy="71438"/>
            <a:chOff x="969625" y="4766808"/>
            <a:chExt cx="5634038" cy="71438"/>
          </a:xfrm>
        </p:grpSpPr>
        <p:sp>
          <p:nvSpPr>
            <p:cNvPr id="98" name="Google Shape;98;p9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-1269421" y="-1539067"/>
            <a:ext cx="4967292" cy="7392058"/>
            <a:chOff x="-1269421" y="-1539067"/>
            <a:chExt cx="4967292" cy="7392058"/>
          </a:xfrm>
        </p:grpSpPr>
        <p:sp>
          <p:nvSpPr>
            <p:cNvPr id="102" name="Google Shape;102;p9"/>
            <p:cNvSpPr/>
            <p:nvPr/>
          </p:nvSpPr>
          <p:spPr>
            <a:xfrm>
              <a:off x="-1156850" y="-1539067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 rot="5400000">
              <a:off x="-146263" y="2008857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35400" cy="1143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>
            <a:spLocks noGrp="1"/>
          </p:cNvSpPr>
          <p:nvPr>
            <p:ph type="title" hasCustomPrompt="1"/>
          </p:nvPr>
        </p:nvSpPr>
        <p:spPr>
          <a:xfrm>
            <a:off x="1541975" y="2206088"/>
            <a:ext cx="65760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1"/>
          </p:nvPr>
        </p:nvSpPr>
        <p:spPr>
          <a:xfrm>
            <a:off x="1541975" y="318956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-813163" y="2810632"/>
            <a:ext cx="1490664" cy="4967292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1"/>
          <p:cNvGrpSpPr/>
          <p:nvPr/>
        </p:nvGrpSpPr>
        <p:grpSpPr>
          <a:xfrm>
            <a:off x="677500" y="-126523"/>
            <a:ext cx="8912413" cy="4658519"/>
            <a:chOff x="677500" y="-126523"/>
            <a:chExt cx="8912413" cy="4658519"/>
          </a:xfrm>
        </p:grpSpPr>
        <p:grpSp>
          <p:nvGrpSpPr>
            <p:cNvPr id="113" name="Google Shape;113;p11"/>
            <p:cNvGrpSpPr/>
            <p:nvPr/>
          </p:nvGrpSpPr>
          <p:grpSpPr>
            <a:xfrm rot="5400000">
              <a:off x="7473850" y="723583"/>
              <a:ext cx="1771650" cy="71438"/>
              <a:chOff x="1150025" y="4460558"/>
              <a:chExt cx="1771650" cy="71438"/>
            </a:xfrm>
          </p:grpSpPr>
          <p:sp>
            <p:nvSpPr>
              <p:cNvPr id="114" name="Google Shape;114;p11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1"/>
            <p:cNvGrpSpPr/>
            <p:nvPr/>
          </p:nvGrpSpPr>
          <p:grpSpPr>
            <a:xfrm rot="10800000">
              <a:off x="677500" y="4460558"/>
              <a:ext cx="8912413" cy="71438"/>
              <a:chOff x="-2308750" y="4879233"/>
              <a:chExt cx="8912413" cy="71438"/>
            </a:xfrm>
          </p:grpSpPr>
          <p:sp>
            <p:nvSpPr>
              <p:cNvPr id="117" name="Google Shape;117;p11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1322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"/>
          </p:nvPr>
        </p:nvSpPr>
        <p:spPr>
          <a:xfrm>
            <a:off x="71322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3419250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3419250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2527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612527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6"/>
          </p:nvPr>
        </p:nvSpPr>
        <p:spPr>
          <a:xfrm>
            <a:off x="71322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7"/>
          </p:nvPr>
        </p:nvSpPr>
        <p:spPr>
          <a:xfrm>
            <a:off x="71322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8"/>
          </p:nvPr>
        </p:nvSpPr>
        <p:spPr>
          <a:xfrm>
            <a:off x="3419250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9"/>
          </p:nvPr>
        </p:nvSpPr>
        <p:spPr>
          <a:xfrm>
            <a:off x="3419250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20"/>
          </p:nvPr>
        </p:nvSpPr>
        <p:spPr>
          <a:xfrm>
            <a:off x="612527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21"/>
          </p:nvPr>
        </p:nvSpPr>
        <p:spPr>
          <a:xfrm>
            <a:off x="612527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 rot="5400000">
            <a:off x="-2432457" y="1770414"/>
            <a:ext cx="5611922" cy="64395"/>
            <a:chOff x="2290561" y="4544171"/>
            <a:chExt cx="5611922" cy="64395"/>
          </a:xfrm>
        </p:grpSpPr>
        <p:sp>
          <p:nvSpPr>
            <p:cNvPr id="143" name="Google Shape;143;p13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3"/>
          <p:cNvSpPr/>
          <p:nvPr/>
        </p:nvSpPr>
        <p:spPr>
          <a:xfrm rot="5400000">
            <a:off x="-370272" y="3596151"/>
            <a:ext cx="2452727" cy="4477588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>
            <a:spLocks noGrp="1"/>
          </p:cNvSpPr>
          <p:nvPr>
            <p:ph type="title"/>
          </p:nvPr>
        </p:nvSpPr>
        <p:spPr>
          <a:xfrm>
            <a:off x="1134950" y="896900"/>
            <a:ext cx="35196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4"/>
          <p:cNvSpPr txBox="1">
            <a:spLocks noGrp="1"/>
          </p:cNvSpPr>
          <p:nvPr>
            <p:ph type="subTitle" idx="1"/>
          </p:nvPr>
        </p:nvSpPr>
        <p:spPr>
          <a:xfrm>
            <a:off x="1134950" y="2370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4"/>
          <p:cNvSpPr>
            <a:spLocks noGrp="1"/>
          </p:cNvSpPr>
          <p:nvPr>
            <p:ph type="pic" idx="2"/>
          </p:nvPr>
        </p:nvSpPr>
        <p:spPr>
          <a:xfrm>
            <a:off x="5112775" y="533863"/>
            <a:ext cx="2910000" cy="407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tr-TR"/>
          </a:p>
        </p:txBody>
      </p:sp>
      <p:grpSp>
        <p:nvGrpSpPr>
          <p:cNvPr id="151" name="Google Shape;151;p14"/>
          <p:cNvGrpSpPr/>
          <p:nvPr/>
        </p:nvGrpSpPr>
        <p:grpSpPr>
          <a:xfrm rot="5400000">
            <a:off x="-4082112" y="651583"/>
            <a:ext cx="8912413" cy="71438"/>
            <a:chOff x="-2308750" y="4879233"/>
            <a:chExt cx="8912413" cy="71438"/>
          </a:xfrm>
        </p:grpSpPr>
        <p:sp>
          <p:nvSpPr>
            <p:cNvPr id="152" name="Google Shape;152;p14"/>
            <p:cNvSpPr/>
            <p:nvPr/>
          </p:nvSpPr>
          <p:spPr>
            <a:xfrm>
              <a:off x="-2308750" y="4907750"/>
              <a:ext cx="88761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6478250" y="4879233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6478250" y="4879233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4"/>
          <p:cNvGrpSpPr/>
          <p:nvPr/>
        </p:nvGrpSpPr>
        <p:grpSpPr>
          <a:xfrm>
            <a:off x="-3158952" y="-2761668"/>
            <a:ext cx="14310715" cy="8500853"/>
            <a:chOff x="-3158952" y="-2761668"/>
            <a:chExt cx="14310715" cy="8500853"/>
          </a:xfrm>
        </p:grpSpPr>
        <p:sp>
          <p:nvSpPr>
            <p:cNvPr id="156" name="Google Shape;156;p14"/>
            <p:cNvSpPr/>
            <p:nvPr/>
          </p:nvSpPr>
          <p:spPr>
            <a:xfrm rot="-5400000">
              <a:off x="-1420638" y="2510207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8430787" y="-2761668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subTitle" idx="1"/>
          </p:nvPr>
        </p:nvSpPr>
        <p:spPr>
          <a:xfrm>
            <a:off x="720000" y="1149525"/>
            <a:ext cx="7710600" cy="23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/>
          <p:nvPr/>
        </p:nvSpPr>
        <p:spPr>
          <a:xfrm rot="-5400000">
            <a:off x="356437" y="2870270"/>
            <a:ext cx="1490664" cy="4967292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16"/>
          <p:cNvGrpSpPr/>
          <p:nvPr/>
        </p:nvGrpSpPr>
        <p:grpSpPr>
          <a:xfrm rot="-5400000">
            <a:off x="758575" y="5458683"/>
            <a:ext cx="1771650" cy="71438"/>
            <a:chOff x="1150025" y="4460558"/>
            <a:chExt cx="1771650" cy="71438"/>
          </a:xfrm>
        </p:grpSpPr>
        <p:sp>
          <p:nvSpPr>
            <p:cNvPr id="174" name="Google Shape;174;p16"/>
            <p:cNvSpPr/>
            <p:nvPr/>
          </p:nvSpPr>
          <p:spPr>
            <a:xfrm>
              <a:off x="1150025" y="4489077"/>
              <a:ext cx="16860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2797850" y="4460558"/>
              <a:ext cx="123825" cy="71438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6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720025" y="276730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720025" y="38863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subTitle" idx="5"/>
          </p:nvPr>
        </p:nvSpPr>
        <p:spPr>
          <a:xfrm>
            <a:off x="720025" y="23530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8676293" y="2237651"/>
            <a:ext cx="1343707" cy="4477588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 rot="5400000">
            <a:off x="9454499" y="3167632"/>
            <a:ext cx="64395" cy="1596993"/>
            <a:chOff x="911949" y="-535943"/>
            <a:chExt cx="64395" cy="1596993"/>
          </a:xfrm>
        </p:grpSpPr>
        <p:sp>
          <p:nvSpPr>
            <p:cNvPr id="187" name="Google Shape;187;p17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1"/>
          </p:nvPr>
        </p:nvSpPr>
        <p:spPr>
          <a:xfrm>
            <a:off x="1294375" y="1633950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2"/>
          </p:nvPr>
        </p:nvSpPr>
        <p:spPr>
          <a:xfrm>
            <a:off x="1294385" y="2753474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3"/>
          </p:nvPr>
        </p:nvSpPr>
        <p:spPr>
          <a:xfrm>
            <a:off x="1294385" y="3872998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98" name="Google Shape;198;p18"/>
          <p:cNvGrpSpPr/>
          <p:nvPr/>
        </p:nvGrpSpPr>
        <p:grpSpPr>
          <a:xfrm rot="5400000">
            <a:off x="5882675" y="-894817"/>
            <a:ext cx="2797175" cy="71438"/>
            <a:chOff x="969625" y="5671683"/>
            <a:chExt cx="2797175" cy="71438"/>
          </a:xfrm>
        </p:grpSpPr>
        <p:sp>
          <p:nvSpPr>
            <p:cNvPr id="199" name="Google Shape;199;p18"/>
            <p:cNvSpPr/>
            <p:nvPr/>
          </p:nvSpPr>
          <p:spPr>
            <a:xfrm>
              <a:off x="969625" y="5700202"/>
              <a:ext cx="26973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3644562" y="5671683"/>
              <a:ext cx="122238" cy="71438"/>
            </a:xfrm>
            <a:custGeom>
              <a:avLst/>
              <a:gdLst/>
              <a:ahLst/>
              <a:cxnLst/>
              <a:rect l="l" t="t" r="r" b="b"/>
              <a:pathLst>
                <a:path w="77" h="45" extrusionOk="0">
                  <a:moveTo>
                    <a:pt x="0" y="23"/>
                  </a:moveTo>
                  <a:lnTo>
                    <a:pt x="39" y="0"/>
                  </a:lnTo>
                  <a:lnTo>
                    <a:pt x="77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3644562" y="5671683"/>
              <a:ext cx="122238" cy="71438"/>
            </a:xfrm>
            <a:custGeom>
              <a:avLst/>
              <a:gdLst/>
              <a:ahLst/>
              <a:cxnLst/>
              <a:rect l="l" t="t" r="r" b="b"/>
              <a:pathLst>
                <a:path w="77" h="45" extrusionOk="0">
                  <a:moveTo>
                    <a:pt x="0" y="23"/>
                  </a:moveTo>
                  <a:lnTo>
                    <a:pt x="39" y="0"/>
                  </a:lnTo>
                  <a:lnTo>
                    <a:pt x="77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-1116563" y="-951154"/>
            <a:ext cx="11413703" cy="8943978"/>
            <a:chOff x="-1116563" y="-951154"/>
            <a:chExt cx="11413703" cy="8943978"/>
          </a:xfrm>
        </p:grpSpPr>
        <p:sp>
          <p:nvSpPr>
            <p:cNvPr id="203" name="Google Shape;203;p18"/>
            <p:cNvSpPr/>
            <p:nvPr/>
          </p:nvSpPr>
          <p:spPr>
            <a:xfrm rot="-5400000">
              <a:off x="7068162" y="-26894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10800000">
              <a:off x="-1116563" y="3025532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>
            <a:spLocks noGrp="1"/>
          </p:cNvSpPr>
          <p:nvPr>
            <p:ph type="title"/>
          </p:nvPr>
        </p:nvSpPr>
        <p:spPr>
          <a:xfrm>
            <a:off x="713263" y="6161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100"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2"/>
          <p:cNvSpPr txBox="1">
            <a:spLocks noGrp="1"/>
          </p:cNvSpPr>
          <p:nvPr>
            <p:ph type="subTitle" idx="1"/>
          </p:nvPr>
        </p:nvSpPr>
        <p:spPr>
          <a:xfrm>
            <a:off x="713225" y="161826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132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4" name="Google Shape;254;p22"/>
          <p:cNvGrpSpPr/>
          <p:nvPr/>
        </p:nvGrpSpPr>
        <p:grpSpPr>
          <a:xfrm>
            <a:off x="99650" y="692408"/>
            <a:ext cx="9608575" cy="4195938"/>
            <a:chOff x="99650" y="692408"/>
            <a:chExt cx="9608575" cy="4195938"/>
          </a:xfrm>
        </p:grpSpPr>
        <p:grpSp>
          <p:nvGrpSpPr>
            <p:cNvPr id="255" name="Google Shape;255;p22"/>
            <p:cNvGrpSpPr/>
            <p:nvPr/>
          </p:nvGrpSpPr>
          <p:grpSpPr>
            <a:xfrm rot="10800000">
              <a:off x="6911050" y="692408"/>
              <a:ext cx="2797175" cy="71438"/>
              <a:chOff x="969625" y="5671683"/>
              <a:chExt cx="2797175" cy="71438"/>
            </a:xfrm>
          </p:grpSpPr>
          <p:sp>
            <p:nvSpPr>
              <p:cNvPr id="256" name="Google Shape;256;p22"/>
              <p:cNvSpPr/>
              <p:nvPr/>
            </p:nvSpPr>
            <p:spPr>
              <a:xfrm>
                <a:off x="969625" y="5700202"/>
                <a:ext cx="26973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2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22"/>
            <p:cNvGrpSpPr/>
            <p:nvPr/>
          </p:nvGrpSpPr>
          <p:grpSpPr>
            <a:xfrm>
              <a:off x="99650" y="4816908"/>
              <a:ext cx="5634038" cy="71438"/>
              <a:chOff x="969625" y="4766808"/>
              <a:chExt cx="5634038" cy="71438"/>
            </a:xfrm>
          </p:grpSpPr>
          <p:sp>
            <p:nvSpPr>
              <p:cNvPr id="260" name="Google Shape;260;p22"/>
              <p:cNvSpPr/>
              <p:nvPr/>
            </p:nvSpPr>
            <p:spPr>
              <a:xfrm>
                <a:off x="969625" y="4795327"/>
                <a:ext cx="55278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22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22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3"/>
          <p:cNvGrpSpPr/>
          <p:nvPr/>
        </p:nvGrpSpPr>
        <p:grpSpPr>
          <a:xfrm>
            <a:off x="-1353152" y="-951167"/>
            <a:ext cx="11547203" cy="7961265"/>
            <a:chOff x="-1353152" y="-951167"/>
            <a:chExt cx="11547203" cy="7961265"/>
          </a:xfrm>
        </p:grpSpPr>
        <p:sp>
          <p:nvSpPr>
            <p:cNvPr id="266" name="Google Shape;266;p23"/>
            <p:cNvSpPr/>
            <p:nvPr/>
          </p:nvSpPr>
          <p:spPr>
            <a:xfrm rot="-5400000">
              <a:off x="385162" y="-2689480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 rot="10800000">
              <a:off x="8703387" y="2042807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 rot="5400000">
            <a:off x="985675" y="-382042"/>
            <a:ext cx="1771650" cy="71438"/>
            <a:chOff x="1150025" y="4460558"/>
            <a:chExt cx="1771650" cy="71438"/>
          </a:xfrm>
        </p:grpSpPr>
        <p:sp>
          <p:nvSpPr>
            <p:cNvPr id="269" name="Google Shape;269;p23"/>
            <p:cNvSpPr/>
            <p:nvPr/>
          </p:nvSpPr>
          <p:spPr>
            <a:xfrm>
              <a:off x="1150025" y="4489077"/>
              <a:ext cx="16860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2797850" y="4460558"/>
              <a:ext cx="123825" cy="71438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4"/>
          <p:cNvGrpSpPr/>
          <p:nvPr/>
        </p:nvGrpSpPr>
        <p:grpSpPr>
          <a:xfrm>
            <a:off x="-481650" y="795633"/>
            <a:ext cx="8912413" cy="4500744"/>
            <a:chOff x="-481650" y="795633"/>
            <a:chExt cx="8912413" cy="4500744"/>
          </a:xfrm>
        </p:grpSpPr>
        <p:grpSp>
          <p:nvGrpSpPr>
            <p:cNvPr id="274" name="Google Shape;274;p24"/>
            <p:cNvGrpSpPr/>
            <p:nvPr/>
          </p:nvGrpSpPr>
          <p:grpSpPr>
            <a:xfrm rot="-5400000">
              <a:off x="1013950" y="4374833"/>
              <a:ext cx="1771650" cy="71438"/>
              <a:chOff x="1150025" y="4460558"/>
              <a:chExt cx="1771650" cy="71438"/>
            </a:xfrm>
          </p:grpSpPr>
          <p:sp>
            <p:nvSpPr>
              <p:cNvPr id="275" name="Google Shape;275;p24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24"/>
            <p:cNvGrpSpPr/>
            <p:nvPr/>
          </p:nvGrpSpPr>
          <p:grpSpPr>
            <a:xfrm>
              <a:off x="-481650" y="795633"/>
              <a:ext cx="8912413" cy="71438"/>
              <a:chOff x="-2308750" y="4879233"/>
              <a:chExt cx="8912413" cy="71438"/>
            </a:xfrm>
          </p:grpSpPr>
          <p:sp>
            <p:nvSpPr>
              <p:cNvPr id="278" name="Google Shape;278;p24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24"/>
          <p:cNvGrpSpPr/>
          <p:nvPr/>
        </p:nvGrpSpPr>
        <p:grpSpPr>
          <a:xfrm>
            <a:off x="539287" y="-1724343"/>
            <a:ext cx="9382164" cy="10216367"/>
            <a:chOff x="539287" y="-1724343"/>
            <a:chExt cx="9382164" cy="10216367"/>
          </a:xfrm>
        </p:grpSpPr>
        <p:sp>
          <p:nvSpPr>
            <p:cNvPr id="282" name="Google Shape;282;p24"/>
            <p:cNvSpPr/>
            <p:nvPr/>
          </p:nvSpPr>
          <p:spPr>
            <a:xfrm>
              <a:off x="8430787" y="-17243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539287" y="3524732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64" r:id="rId14"/>
    <p:sldLayoutId id="2147483668" r:id="rId15"/>
    <p:sldLayoutId id="2147483669" r:id="rId16"/>
    <p:sldLayoutId id="2147483670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ctrTitle"/>
          </p:nvPr>
        </p:nvSpPr>
        <p:spPr>
          <a:xfrm>
            <a:off x="1162995" y="1242363"/>
            <a:ext cx="6957000" cy="22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tr-TR" b="0" dirty="0" err="1"/>
              <a:t>HybridFlow</a:t>
            </a:r>
            <a:r>
              <a:rPr lang="tr-TR" b="0" dirty="0"/>
              <a:t>: A </a:t>
            </a:r>
            <a:r>
              <a:rPr lang="tr-TR" b="0" dirty="0" err="1"/>
              <a:t>Flexible</a:t>
            </a:r>
            <a:r>
              <a:rPr lang="tr-TR" b="0" dirty="0"/>
              <a:t> </a:t>
            </a:r>
            <a:r>
              <a:rPr lang="tr-TR" b="0" dirty="0" err="1"/>
              <a:t>and</a:t>
            </a:r>
            <a:r>
              <a:rPr lang="tr-TR" b="0" dirty="0"/>
              <a:t> </a:t>
            </a:r>
            <a:r>
              <a:rPr lang="tr-TR" b="0" dirty="0" err="1"/>
              <a:t>Efficient</a:t>
            </a:r>
            <a:r>
              <a:rPr lang="tr-TR" b="0" dirty="0"/>
              <a:t> RLHF Framework</a:t>
            </a:r>
            <a:endParaRPr b="0" dirty="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1"/>
          </p:nvPr>
        </p:nvSpPr>
        <p:spPr>
          <a:xfrm>
            <a:off x="1820871" y="3663237"/>
            <a:ext cx="6957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/>
              <a:t>CENG 543 - </a:t>
            </a:r>
            <a:r>
              <a:rPr lang="tr-TR" dirty="0" err="1"/>
              <a:t>Research</a:t>
            </a:r>
            <a:r>
              <a:rPr lang="tr-TR" dirty="0"/>
              <a:t> </a:t>
            </a:r>
            <a:r>
              <a:rPr lang="tr-TR" dirty="0" err="1"/>
              <a:t>Paper</a:t>
            </a:r>
            <a:r>
              <a:rPr lang="tr-TR" dirty="0"/>
              <a:t> Presentation</a:t>
            </a:r>
          </a:p>
          <a:p>
            <a:pPr marL="0" lvl="0" indent="0"/>
            <a:r>
              <a:rPr lang="tr-TR" sz="1600" dirty="0"/>
              <a:t>Eray Kocabozdoğan</a:t>
            </a:r>
            <a:endParaRPr sz="1600" dirty="0"/>
          </a:p>
        </p:txBody>
      </p:sp>
      <p:sp>
        <p:nvSpPr>
          <p:cNvPr id="296" name="Google Shape;296;p28"/>
          <p:cNvSpPr/>
          <p:nvPr/>
        </p:nvSpPr>
        <p:spPr>
          <a:xfrm rot="5400000">
            <a:off x="625212" y="973043"/>
            <a:ext cx="111618" cy="64395"/>
          </a:xfrm>
          <a:custGeom>
            <a:avLst/>
            <a:gdLst/>
            <a:ahLst/>
            <a:cxnLst/>
            <a:rect l="l" t="t" r="r" b="b"/>
            <a:pathLst>
              <a:path w="78" h="45" extrusionOk="0">
                <a:moveTo>
                  <a:pt x="0" y="23"/>
                </a:moveTo>
                <a:lnTo>
                  <a:pt x="39" y="0"/>
                </a:lnTo>
                <a:lnTo>
                  <a:pt x="78" y="23"/>
                </a:lnTo>
                <a:lnTo>
                  <a:pt x="39" y="45"/>
                </a:lnTo>
                <a:lnTo>
                  <a:pt x="0" y="23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 descr="daire, simge, sembol, amblem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885AEB-F07B-6B77-9344-C31819AFC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068" y="2805773"/>
            <a:ext cx="1714927" cy="1714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 idx="5"/>
          </p:nvPr>
        </p:nvSpPr>
        <p:spPr>
          <a:xfrm>
            <a:off x="262625" y="3589871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br>
              <a:rPr lang="en" dirty="0"/>
            </a:br>
            <a:r>
              <a:rPr lang="en" dirty="0"/>
              <a:t>02</a:t>
            </a:r>
            <a:br>
              <a:rPr lang="en" dirty="0"/>
            </a:br>
            <a:r>
              <a:rPr lang="en" dirty="0"/>
              <a:t>03</a:t>
            </a:r>
            <a:br>
              <a:rPr lang="en" dirty="0"/>
            </a:br>
            <a:r>
              <a:rPr lang="en" dirty="0"/>
              <a:t>04</a:t>
            </a:r>
            <a:br>
              <a:rPr lang="en" dirty="0"/>
            </a:br>
            <a:r>
              <a:rPr lang="en" dirty="0"/>
              <a:t>05</a:t>
            </a:r>
            <a:br>
              <a:rPr lang="en" dirty="0"/>
            </a:br>
            <a:r>
              <a:rPr lang="en" dirty="0"/>
              <a:t>06</a:t>
            </a:r>
            <a:br>
              <a:rPr lang="en" dirty="0"/>
            </a:br>
            <a:r>
              <a:rPr lang="en" dirty="0"/>
              <a:t>07</a:t>
            </a:r>
            <a:endParaRPr dirty="0"/>
          </a:p>
        </p:txBody>
      </p:sp>
      <p:sp>
        <p:nvSpPr>
          <p:cNvPr id="323" name="Google Shape;323;p30"/>
          <p:cNvSpPr txBox="1">
            <a:spLocks noGrp="1"/>
          </p:cNvSpPr>
          <p:nvPr>
            <p:ph type="subTitle" idx="16"/>
          </p:nvPr>
        </p:nvSpPr>
        <p:spPr>
          <a:xfrm>
            <a:off x="970609" y="3821471"/>
            <a:ext cx="5347882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tr-TR" sz="2200" dirty="0" err="1"/>
              <a:t>Motivation</a:t>
            </a:r>
            <a:r>
              <a:rPr lang="tr-TR" sz="2200" dirty="0"/>
              <a:t> &amp; Problem Statement</a:t>
            </a:r>
          </a:p>
          <a:p>
            <a:pPr marL="0" lvl="0" indent="0" algn="l"/>
            <a:r>
              <a:rPr lang="tr-TR" sz="2200" dirty="0"/>
              <a:t>RLHF Background &amp; </a:t>
            </a:r>
            <a:r>
              <a:rPr lang="tr-TR" sz="2200" dirty="0" err="1"/>
              <a:t>Challenges</a:t>
            </a:r>
            <a:endParaRPr lang="tr-TR" sz="2200" dirty="0"/>
          </a:p>
          <a:p>
            <a:pPr marL="0" lvl="0" indent="0" algn="l"/>
            <a:r>
              <a:rPr lang="tr-TR" sz="2200" dirty="0" err="1"/>
              <a:t>HybridFlow</a:t>
            </a:r>
            <a:r>
              <a:rPr lang="tr-TR" sz="2200" dirty="0"/>
              <a:t> Architecture</a:t>
            </a:r>
          </a:p>
          <a:p>
            <a:pPr marL="0" lvl="0" indent="0" algn="l"/>
            <a:r>
              <a:rPr lang="tr-TR" sz="2200" dirty="0" err="1"/>
              <a:t>Core</a:t>
            </a:r>
            <a:r>
              <a:rPr lang="tr-TR" sz="2200" dirty="0"/>
              <a:t> </a:t>
            </a:r>
            <a:r>
              <a:rPr lang="tr-TR" sz="2200" dirty="0" err="1"/>
              <a:t>Innovation</a:t>
            </a:r>
            <a:r>
              <a:rPr lang="tr-TR" sz="2200" dirty="0"/>
              <a:t>: 3D-HybridEngine</a:t>
            </a:r>
          </a:p>
          <a:p>
            <a:pPr marL="0" lvl="0" indent="0" algn="l"/>
            <a:r>
              <a:rPr lang="tr-TR" sz="2200" dirty="0"/>
              <a:t>Auto Device </a:t>
            </a:r>
            <a:r>
              <a:rPr lang="tr-TR" sz="2200" dirty="0" err="1"/>
              <a:t>Mapping</a:t>
            </a:r>
            <a:endParaRPr lang="tr-TR" sz="2200" dirty="0"/>
          </a:p>
          <a:p>
            <a:pPr marL="0" lvl="0" indent="0" algn="l"/>
            <a:r>
              <a:rPr lang="tr-TR" sz="2200" dirty="0"/>
              <a:t>Evaluation &amp; </a:t>
            </a:r>
            <a:r>
              <a:rPr lang="tr-TR" sz="2200" dirty="0" err="1"/>
              <a:t>Results</a:t>
            </a:r>
            <a:endParaRPr lang="tr-TR" sz="2200" dirty="0"/>
          </a:p>
          <a:p>
            <a:pPr marL="0" lvl="0" indent="0" algn="l"/>
            <a:r>
              <a:rPr lang="tr-TR" sz="2200" dirty="0"/>
              <a:t>Critical Analysis &amp; </a:t>
            </a:r>
            <a:r>
              <a:rPr lang="tr-TR" sz="2200" dirty="0" err="1"/>
              <a:t>Conclusion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Motivation: The Dilemma</a:t>
            </a:r>
            <a:endParaRPr dirty="0"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/>
              <a:t>RLHF is </a:t>
            </a:r>
            <a:r>
              <a:rPr lang="tr-TR" dirty="0" err="1"/>
              <a:t>essential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aligning</a:t>
            </a:r>
            <a:r>
              <a:rPr lang="tr-TR" dirty="0"/>
              <a:t> </a:t>
            </a:r>
            <a:r>
              <a:rPr lang="tr-TR" dirty="0" err="1"/>
              <a:t>LLMs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342" name="Google Shape;342;p32"/>
          <p:cNvSpPr txBox="1">
            <a:spLocks noGrp="1"/>
          </p:cNvSpPr>
          <p:nvPr>
            <p:ph type="subTitle" idx="2"/>
          </p:nvPr>
        </p:nvSpPr>
        <p:spPr>
          <a:xfrm>
            <a:off x="719975" y="269188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Single Controller: </a:t>
            </a:r>
            <a:r>
              <a:rPr lang="en" dirty="0"/>
              <a:t>Flexible Code, but high overhead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Multi Controller: </a:t>
            </a:r>
            <a:r>
              <a:rPr lang="en" dirty="0"/>
              <a:t>High efficiency, but rigid and complex code</a:t>
            </a:r>
          </a:p>
        </p:txBody>
      </p:sp>
      <p:sp>
        <p:nvSpPr>
          <p:cNvPr id="343" name="Google Shape;343;p32"/>
          <p:cNvSpPr txBox="1">
            <a:spLocks noGrp="1"/>
          </p:cNvSpPr>
          <p:nvPr>
            <p:ph type="subTitle" idx="3"/>
          </p:nvPr>
        </p:nvSpPr>
        <p:spPr>
          <a:xfrm>
            <a:off x="719975" y="3834667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/>
              <a:t>A </a:t>
            </a:r>
            <a:r>
              <a:rPr lang="tr-TR" dirty="0" err="1"/>
              <a:t>framework</a:t>
            </a:r>
            <a:r>
              <a:rPr lang="tr-TR" dirty="0"/>
              <a:t> </a:t>
            </a:r>
            <a:r>
              <a:rPr lang="tr-TR" dirty="0" err="1"/>
              <a:t>combining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flexibility</a:t>
            </a:r>
            <a:r>
              <a:rPr lang="tr-TR" dirty="0"/>
              <a:t> of </a:t>
            </a:r>
            <a:r>
              <a:rPr lang="tr-TR" dirty="0" err="1"/>
              <a:t>single-controller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efficiency</a:t>
            </a:r>
            <a:r>
              <a:rPr lang="tr-TR" dirty="0"/>
              <a:t> of </a:t>
            </a:r>
            <a:r>
              <a:rPr lang="tr-TR" dirty="0" err="1"/>
              <a:t>multi-controller</a:t>
            </a:r>
            <a:r>
              <a:rPr lang="tr-TR" dirty="0"/>
              <a:t> </a:t>
            </a:r>
            <a:r>
              <a:rPr lang="tr-TR" dirty="0" err="1"/>
              <a:t>architectures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719975" y="1229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Current State</a:t>
            </a:r>
            <a:endParaRPr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subTitle" idx="5"/>
          </p:nvPr>
        </p:nvSpPr>
        <p:spPr>
          <a:xfrm>
            <a:off x="719975" y="227620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Trade-off:</a:t>
            </a:r>
            <a:endParaRPr dirty="0"/>
          </a:p>
        </p:txBody>
      </p:sp>
      <p:sp>
        <p:nvSpPr>
          <p:cNvPr id="346" name="Google Shape;346;p32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/>
          <p:nvPr/>
        </p:nvSpPr>
        <p:spPr>
          <a:xfrm rot="5400000">
            <a:off x="7857762" y="-21879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5CB9F3B-6AB5-6D1F-B720-B5FE0CC2D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733" y="1200548"/>
            <a:ext cx="2980529" cy="2720976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9134BD6A-DF9E-F159-EEB7-377B85064D9B}"/>
              </a:ext>
            </a:extLst>
          </p:cNvPr>
          <p:cNvSpPr txBox="1"/>
          <p:nvPr/>
        </p:nvSpPr>
        <p:spPr>
          <a:xfrm>
            <a:off x="3032956" y="4051911"/>
            <a:ext cx="3078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Comparison</a:t>
            </a:r>
            <a:r>
              <a:rPr lang="tr-TR" dirty="0"/>
              <a:t> of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models</a:t>
            </a:r>
            <a:endParaRPr lang="tr-TR" dirty="0"/>
          </a:p>
        </p:txBody>
      </p:sp>
      <p:sp>
        <p:nvSpPr>
          <p:cNvPr id="9" name="Google Shape;340;p32">
            <a:extLst>
              <a:ext uri="{FF2B5EF4-FFF2-40B4-BE49-F238E27FC236}">
                <a16:creationId xmlns:a16="http://schemas.microsoft.com/office/drawing/2014/main" id="{D00D24BC-4DCE-4246-0181-DAB4CCAC4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8" y="4974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Motivation: The Dilemma</a:t>
            </a:r>
            <a:endParaRPr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504424" y="-176510"/>
            <a:ext cx="7613663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tr-TR" dirty="0"/>
              <a:t>Background: </a:t>
            </a:r>
            <a:r>
              <a:rPr lang="tr-TR" dirty="0" err="1"/>
              <a:t>Why</a:t>
            </a:r>
            <a:r>
              <a:rPr lang="tr-TR" dirty="0"/>
              <a:t> is RLHF </a:t>
            </a:r>
            <a:r>
              <a:rPr lang="tr-TR" dirty="0" err="1"/>
              <a:t>Difficult</a:t>
            </a:r>
            <a:r>
              <a:rPr lang="tr-TR" dirty="0"/>
              <a:t>?</a:t>
            </a:r>
            <a:endParaRPr dirty="0"/>
          </a:p>
        </p:txBody>
      </p:sp>
      <p:sp>
        <p:nvSpPr>
          <p:cNvPr id="360" name="Google Shape;360;p34"/>
          <p:cNvSpPr txBox="1">
            <a:spLocks noGrp="1"/>
          </p:cNvSpPr>
          <p:nvPr>
            <p:ph type="subTitle" idx="1"/>
          </p:nvPr>
        </p:nvSpPr>
        <p:spPr>
          <a:xfrm>
            <a:off x="818224" y="1460437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1800" b="1" dirty="0" err="1"/>
              <a:t>Complex</a:t>
            </a:r>
            <a:r>
              <a:rPr lang="tr-TR" sz="1800" b="1" dirty="0"/>
              <a:t> </a:t>
            </a:r>
            <a:r>
              <a:rPr lang="tr-TR" sz="1800" b="1" dirty="0" err="1"/>
              <a:t>Dataflow</a:t>
            </a:r>
            <a:endParaRPr lang="tr-TR" sz="1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sz="1800" dirty="0" err="1"/>
              <a:t>Involves</a:t>
            </a:r>
            <a:r>
              <a:rPr lang="tr-TR" sz="1800" dirty="0"/>
              <a:t> </a:t>
            </a:r>
            <a:r>
              <a:rPr lang="tr-TR" sz="1800" dirty="0" err="1"/>
              <a:t>Generation</a:t>
            </a:r>
            <a:r>
              <a:rPr lang="tr-TR" sz="1800" dirty="0"/>
              <a:t> (</a:t>
            </a:r>
            <a:r>
              <a:rPr lang="tr-TR" sz="1800" dirty="0" err="1"/>
              <a:t>Actor</a:t>
            </a:r>
            <a:r>
              <a:rPr lang="tr-TR" sz="1800" dirty="0"/>
              <a:t>), </a:t>
            </a:r>
            <a:r>
              <a:rPr lang="tr-TR" sz="1800" dirty="0" err="1"/>
              <a:t>Inference</a:t>
            </a:r>
            <a:r>
              <a:rPr lang="tr-TR" sz="1800" dirty="0"/>
              <a:t> (</a:t>
            </a:r>
            <a:r>
              <a:rPr lang="tr-TR" sz="1800" dirty="0" err="1"/>
              <a:t>Critic</a:t>
            </a:r>
            <a:r>
              <a:rPr lang="tr-TR" sz="1800" dirty="0"/>
              <a:t>/</a:t>
            </a:r>
            <a:r>
              <a:rPr lang="tr-TR" sz="1800" dirty="0" err="1"/>
              <a:t>Reward</a:t>
            </a:r>
            <a:r>
              <a:rPr lang="tr-TR" sz="1800" dirty="0"/>
              <a:t>), </a:t>
            </a:r>
            <a:r>
              <a:rPr lang="tr-TR" sz="1800" dirty="0" err="1"/>
              <a:t>and</a:t>
            </a:r>
            <a:r>
              <a:rPr lang="tr-TR" sz="1800" dirty="0"/>
              <a:t> Training (</a:t>
            </a:r>
            <a:r>
              <a:rPr lang="tr-TR" sz="1800" dirty="0" err="1"/>
              <a:t>Actor</a:t>
            </a:r>
            <a:r>
              <a:rPr lang="tr-TR" sz="1800" dirty="0"/>
              <a:t>/</a:t>
            </a:r>
            <a:r>
              <a:rPr lang="tr-TR" sz="1800" dirty="0" err="1"/>
              <a:t>Critic</a:t>
            </a:r>
            <a:r>
              <a:rPr lang="tr-TR" sz="1800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tr-TR" sz="1800" dirty="0"/>
          </a:p>
          <a:p>
            <a:pPr marL="0" lvl="0" indent="0"/>
            <a:endParaRPr sz="1800" dirty="0"/>
          </a:p>
        </p:txBody>
      </p:sp>
      <p:sp>
        <p:nvSpPr>
          <p:cNvPr id="16" name="Google Shape;360;p34">
            <a:extLst>
              <a:ext uri="{FF2B5EF4-FFF2-40B4-BE49-F238E27FC236}">
                <a16:creationId xmlns:a16="http://schemas.microsoft.com/office/drawing/2014/main" id="{8D071A6C-FC9F-7A04-7A1D-E4351F399599}"/>
              </a:ext>
            </a:extLst>
          </p:cNvPr>
          <p:cNvSpPr txBox="1">
            <a:spLocks/>
          </p:cNvSpPr>
          <p:nvPr/>
        </p:nvSpPr>
        <p:spPr>
          <a:xfrm>
            <a:off x="4962292" y="1460437"/>
            <a:ext cx="35196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tr-TR" sz="1800" b="1" dirty="0" err="1"/>
              <a:t>Heterogeneous</a:t>
            </a:r>
            <a:r>
              <a:rPr lang="tr-TR" sz="1800" b="1" dirty="0"/>
              <a:t> </a:t>
            </a:r>
            <a:r>
              <a:rPr lang="tr-TR" sz="1800" b="1" dirty="0" err="1"/>
              <a:t>Workloads</a:t>
            </a:r>
            <a:endParaRPr lang="tr-TR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 err="1"/>
              <a:t>Actor</a:t>
            </a:r>
            <a:r>
              <a:rPr lang="tr-TR" sz="1800" dirty="0"/>
              <a:t> model </a:t>
            </a:r>
            <a:r>
              <a:rPr lang="tr-TR" sz="1800" dirty="0" err="1"/>
              <a:t>performs</a:t>
            </a:r>
            <a:r>
              <a:rPr lang="tr-TR" sz="1800" dirty="0"/>
              <a:t> </a:t>
            </a:r>
            <a:r>
              <a:rPr lang="tr-TR" sz="1800" dirty="0" err="1"/>
              <a:t>both</a:t>
            </a:r>
            <a:r>
              <a:rPr lang="tr-TR" sz="1800" dirty="0"/>
              <a:t> </a:t>
            </a:r>
            <a:r>
              <a:rPr lang="tr-TR" sz="1800" dirty="0" err="1"/>
              <a:t>Generation</a:t>
            </a:r>
            <a:r>
              <a:rPr lang="tr-TR" sz="1800" dirty="0"/>
              <a:t> (Memory-</a:t>
            </a:r>
            <a:r>
              <a:rPr lang="tr-TR" sz="1800" dirty="0" err="1"/>
              <a:t>bound</a:t>
            </a:r>
            <a:r>
              <a:rPr lang="tr-TR" sz="1800" dirty="0"/>
              <a:t>) </a:t>
            </a:r>
            <a:r>
              <a:rPr lang="tr-TR" sz="1800" dirty="0" err="1"/>
              <a:t>and</a:t>
            </a:r>
            <a:r>
              <a:rPr lang="tr-TR" sz="1800" dirty="0"/>
              <a:t> Training (</a:t>
            </a:r>
            <a:r>
              <a:rPr lang="tr-TR" sz="1800" dirty="0" err="1"/>
              <a:t>Compute-Bound</a:t>
            </a:r>
            <a:r>
              <a:rPr lang="tr-TR" sz="18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 err="1"/>
              <a:t>Models</a:t>
            </a:r>
            <a:r>
              <a:rPr lang="tr-TR" sz="1800" dirty="0"/>
              <a:t> </a:t>
            </a:r>
            <a:r>
              <a:rPr lang="tr-TR" sz="1800" dirty="0" err="1"/>
              <a:t>have</a:t>
            </a:r>
            <a:r>
              <a:rPr lang="tr-TR" sz="1800" dirty="0"/>
              <a:t> </a:t>
            </a:r>
            <a:r>
              <a:rPr lang="tr-TR" sz="1800" dirty="0" err="1"/>
              <a:t>varying</a:t>
            </a:r>
            <a:r>
              <a:rPr lang="tr-TR" sz="1800" dirty="0"/>
              <a:t> </a:t>
            </a:r>
            <a:r>
              <a:rPr lang="tr-TR" sz="1800" dirty="0" err="1"/>
              <a:t>sizes</a:t>
            </a:r>
            <a:r>
              <a:rPr lang="tr-TR" sz="1800" dirty="0"/>
              <a:t> (</a:t>
            </a:r>
            <a:r>
              <a:rPr lang="tr-TR" sz="1800" dirty="0" err="1"/>
              <a:t>e.g</a:t>
            </a:r>
            <a:r>
              <a:rPr lang="tr-TR" sz="1800" dirty="0"/>
              <a:t>., 7B </a:t>
            </a:r>
            <a:r>
              <a:rPr lang="tr-TR" sz="1800" dirty="0" err="1"/>
              <a:t>Actor</a:t>
            </a:r>
            <a:r>
              <a:rPr lang="tr-TR" sz="1800" dirty="0"/>
              <a:t> vs. 70B </a:t>
            </a:r>
            <a:r>
              <a:rPr lang="tr-TR" sz="1800" dirty="0" err="1"/>
              <a:t>Reward</a:t>
            </a:r>
            <a:r>
              <a:rPr lang="tr-TR" sz="1800" dirty="0"/>
              <a:t>).</a:t>
            </a:r>
          </a:p>
          <a:p>
            <a:pPr marL="0" indent="0"/>
            <a:endParaRPr lang="tr-TR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/>
          <p:nvPr/>
        </p:nvSpPr>
        <p:spPr>
          <a:xfrm>
            <a:off x="7070287" y="-18468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35"/>
          <p:cNvGrpSpPr/>
          <p:nvPr/>
        </p:nvGrpSpPr>
        <p:grpSpPr>
          <a:xfrm>
            <a:off x="-792263" y="-1494461"/>
            <a:ext cx="3409951" cy="2797182"/>
            <a:chOff x="-792263" y="-1494461"/>
            <a:chExt cx="3409951" cy="2797182"/>
          </a:xfrm>
        </p:grpSpPr>
        <p:sp>
          <p:nvSpPr>
            <p:cNvPr id="368" name="Google Shape;368;p35"/>
            <p:cNvSpPr/>
            <p:nvPr/>
          </p:nvSpPr>
          <p:spPr>
            <a:xfrm rot="5400000">
              <a:off x="-22325" y="-1337292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" name="Google Shape;369;p35"/>
            <p:cNvGrpSpPr/>
            <p:nvPr/>
          </p:nvGrpSpPr>
          <p:grpSpPr>
            <a:xfrm rot="5400000">
              <a:off x="7325" y="-131592"/>
              <a:ext cx="2797175" cy="71438"/>
              <a:chOff x="969625" y="5671683"/>
              <a:chExt cx="2797175" cy="71438"/>
            </a:xfrm>
          </p:grpSpPr>
          <p:sp>
            <p:nvSpPr>
              <p:cNvPr id="370" name="Google Shape;370;p35"/>
              <p:cNvSpPr/>
              <p:nvPr/>
            </p:nvSpPr>
            <p:spPr>
              <a:xfrm>
                <a:off x="969625" y="5700202"/>
                <a:ext cx="26973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Resim 2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2839BC9-63FD-BF9E-FC3D-DA9A62615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760" y="1302715"/>
            <a:ext cx="6476479" cy="2975937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D3FF0E4A-EE21-3446-F5CB-4F5CE3B14B13}"/>
              </a:ext>
            </a:extLst>
          </p:cNvPr>
          <p:cNvSpPr txBox="1"/>
          <p:nvPr/>
        </p:nvSpPr>
        <p:spPr>
          <a:xfrm>
            <a:off x="3343938" y="4328934"/>
            <a:ext cx="2456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Dataflow</a:t>
            </a:r>
            <a:r>
              <a:rPr lang="tr-TR" dirty="0"/>
              <a:t> of PPO/</a:t>
            </a:r>
            <a:r>
              <a:rPr lang="tr-TR" dirty="0" err="1"/>
              <a:t>Safe</a:t>
            </a:r>
            <a:r>
              <a:rPr lang="tr-TR" dirty="0"/>
              <a:t>-RLHF</a:t>
            </a:r>
          </a:p>
        </p:txBody>
      </p:sp>
      <p:sp>
        <p:nvSpPr>
          <p:cNvPr id="5" name="Google Shape;359;p34">
            <a:extLst>
              <a:ext uri="{FF2B5EF4-FFF2-40B4-BE49-F238E27FC236}">
                <a16:creationId xmlns:a16="http://schemas.microsoft.com/office/drawing/2014/main" id="{E456DABA-6B75-3948-E550-17D345E7FA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128" y="-221167"/>
            <a:ext cx="7613663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tr-TR" sz="3000" dirty="0"/>
              <a:t>Background: </a:t>
            </a:r>
            <a:r>
              <a:rPr lang="tr-TR" sz="3000" dirty="0" err="1"/>
              <a:t>Why</a:t>
            </a:r>
            <a:r>
              <a:rPr lang="tr-TR" sz="3000" dirty="0"/>
              <a:t> is RLHF </a:t>
            </a:r>
            <a:r>
              <a:rPr lang="tr-TR" sz="3000" dirty="0" err="1"/>
              <a:t>Difficult</a:t>
            </a:r>
            <a:r>
              <a:rPr lang="tr-TR" sz="3000" dirty="0"/>
              <a:t>?</a:t>
            </a:r>
            <a:endParaRPr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4AC9D9CD-B649-F6B5-E99D-6466175A5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7CECDC1F-C9B2-E163-561E-42F906BFC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3569" y="-467794"/>
            <a:ext cx="7613663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tr-TR" dirty="0" err="1"/>
              <a:t>HybridFlow</a:t>
            </a:r>
            <a:r>
              <a:rPr lang="tr-TR" dirty="0"/>
              <a:t> </a:t>
            </a:r>
            <a:r>
              <a:rPr lang="tr-TR" dirty="0" err="1"/>
              <a:t>Overview</a:t>
            </a:r>
            <a:r>
              <a:rPr lang="tr-TR" dirty="0"/>
              <a:t> (</a:t>
            </a:r>
            <a:r>
              <a:rPr lang="tr-TR" dirty="0" err="1"/>
              <a:t>The</a:t>
            </a:r>
            <a:r>
              <a:rPr lang="tr-TR" dirty="0"/>
              <a:t> Solution)</a:t>
            </a:r>
            <a:endParaRPr dirty="0"/>
          </a:p>
        </p:txBody>
      </p:sp>
      <p:sp>
        <p:nvSpPr>
          <p:cNvPr id="360" name="Google Shape;360;p34">
            <a:extLst>
              <a:ext uri="{FF2B5EF4-FFF2-40B4-BE49-F238E27FC236}">
                <a16:creationId xmlns:a16="http://schemas.microsoft.com/office/drawing/2014/main" id="{CD95EA1A-817F-7563-7E5C-646AB8756C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6768" y="895507"/>
            <a:ext cx="857651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1800" b="1" dirty="0" err="1"/>
              <a:t>Hierarchical</a:t>
            </a:r>
            <a:r>
              <a:rPr lang="tr-TR" sz="1800" b="1" dirty="0"/>
              <a:t> Architecture: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sz="1800" b="1" dirty="0"/>
              <a:t>Inter-</a:t>
            </a:r>
            <a:r>
              <a:rPr lang="tr-TR" sz="1800" b="1" dirty="0" err="1"/>
              <a:t>node</a:t>
            </a:r>
            <a:r>
              <a:rPr lang="tr-TR" sz="1800" b="1" dirty="0"/>
              <a:t>: </a:t>
            </a:r>
            <a:r>
              <a:rPr lang="tr-TR" sz="1800" dirty="0" err="1"/>
              <a:t>Single</a:t>
            </a:r>
            <a:r>
              <a:rPr lang="tr-TR" sz="1800" dirty="0"/>
              <a:t> Controller </a:t>
            </a:r>
            <a:r>
              <a:rPr lang="tr-TR" sz="1800" dirty="0" err="1"/>
              <a:t>for</a:t>
            </a:r>
            <a:r>
              <a:rPr lang="tr-TR" sz="1800" dirty="0"/>
              <a:t> </a:t>
            </a:r>
            <a:r>
              <a:rPr lang="tr-TR" sz="1800" dirty="0" err="1"/>
              <a:t>flexibility</a:t>
            </a:r>
            <a:r>
              <a:rPr lang="tr-TR" sz="1800" dirty="0"/>
              <a:t>.</a:t>
            </a:r>
            <a:endParaRPr lang="tr-TR" sz="1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sz="1800" b="1" dirty="0" err="1"/>
              <a:t>Intra-node</a:t>
            </a:r>
            <a:r>
              <a:rPr lang="tr-TR" sz="1800" b="1" dirty="0"/>
              <a:t>: </a:t>
            </a:r>
            <a:r>
              <a:rPr lang="tr-TR" sz="1800" dirty="0"/>
              <a:t>Multi Controller </a:t>
            </a:r>
            <a:r>
              <a:rPr lang="tr-TR" sz="1800" dirty="0" err="1"/>
              <a:t>for</a:t>
            </a:r>
            <a:r>
              <a:rPr lang="tr-TR" sz="1800" dirty="0"/>
              <a:t> </a:t>
            </a:r>
            <a:r>
              <a:rPr lang="tr-TR" sz="1800" dirty="0" err="1"/>
              <a:t>performance</a:t>
            </a:r>
            <a:r>
              <a:rPr lang="tr-TR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tr-TR" sz="1800" dirty="0"/>
          </a:p>
          <a:p>
            <a:pPr marL="0" lvl="0" indent="0"/>
            <a:endParaRPr sz="1800" dirty="0"/>
          </a:p>
        </p:txBody>
      </p:sp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2694777-09D1-511B-D05E-B6EE7BF79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917" y="2122106"/>
            <a:ext cx="5648166" cy="2413577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BC205C2F-B152-D5AC-CC5F-DB2ABD2FE996}"/>
              </a:ext>
            </a:extLst>
          </p:cNvPr>
          <p:cNvSpPr txBox="1"/>
          <p:nvPr/>
        </p:nvSpPr>
        <p:spPr>
          <a:xfrm>
            <a:off x="3678165" y="4535683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System</a:t>
            </a:r>
            <a:r>
              <a:rPr lang="tr-TR" dirty="0"/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6112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Hybrid</a:t>
            </a:r>
            <a:r>
              <a:rPr lang="tr-TR" dirty="0"/>
              <a:t> Programming Model</a:t>
            </a:r>
            <a:endParaRPr dirty="0"/>
          </a:p>
        </p:txBody>
      </p:sp>
      <p:sp>
        <p:nvSpPr>
          <p:cNvPr id="425" name="Google Shape;425;p37"/>
          <p:cNvSpPr txBox="1">
            <a:spLocks noGrp="1"/>
          </p:cNvSpPr>
          <p:nvPr>
            <p:ph type="subTitle" idx="1"/>
          </p:nvPr>
        </p:nvSpPr>
        <p:spPr>
          <a:xfrm>
            <a:off x="1294375" y="1633950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Encapsulates distributed computation (e.g., </a:t>
            </a:r>
            <a:r>
              <a:rPr lang="en" dirty="0" err="1"/>
              <a:t>update_actor</a:t>
            </a:r>
            <a:r>
              <a:rPr lang="en" dirty="0"/>
              <a:t> )</a:t>
            </a:r>
            <a:endParaRPr dirty="0"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2"/>
          </p:nvPr>
        </p:nvSpPr>
        <p:spPr>
          <a:xfrm>
            <a:off x="1294385" y="2753474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 err="1"/>
              <a:t>Automatically</a:t>
            </a:r>
            <a:r>
              <a:rPr lang="tr-TR" dirty="0"/>
              <a:t> </a:t>
            </a:r>
            <a:r>
              <a:rPr lang="tr-TR" dirty="0" err="1"/>
              <a:t>handles</a:t>
            </a:r>
            <a:r>
              <a:rPr lang="tr-TR" dirty="0"/>
              <a:t> data </a:t>
            </a:r>
            <a:r>
              <a:rPr lang="tr-TR" dirty="0" err="1"/>
              <a:t>resharding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27" name="Google Shape;427;p37"/>
          <p:cNvSpPr txBox="1">
            <a:spLocks noGrp="1"/>
          </p:cNvSpPr>
          <p:nvPr>
            <p:ph type="subTitle" idx="3"/>
          </p:nvPr>
        </p:nvSpPr>
        <p:spPr>
          <a:xfrm>
            <a:off x="1294385" y="3872998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 err="1"/>
              <a:t>Implementing</a:t>
            </a:r>
            <a:r>
              <a:rPr lang="tr-TR" dirty="0"/>
              <a:t> PPO </a:t>
            </a:r>
            <a:r>
              <a:rPr lang="tr-TR" dirty="0" err="1"/>
              <a:t>takes</a:t>
            </a:r>
            <a:r>
              <a:rPr lang="tr-TR" dirty="0"/>
              <a:t> </a:t>
            </a:r>
            <a:r>
              <a:rPr lang="tr-TR" dirty="0" err="1"/>
              <a:t>only</a:t>
            </a:r>
            <a:r>
              <a:rPr lang="tr-TR" dirty="0"/>
              <a:t> ~8 </a:t>
            </a:r>
            <a:r>
              <a:rPr lang="tr-TR" dirty="0" err="1"/>
              <a:t>lines</a:t>
            </a:r>
            <a:r>
              <a:rPr lang="tr-TR" dirty="0"/>
              <a:t> of </a:t>
            </a:r>
            <a:r>
              <a:rPr lang="tr-TR" dirty="0" err="1"/>
              <a:t>code</a:t>
            </a:r>
            <a:r>
              <a:rPr lang="tr-TR" dirty="0"/>
              <a:t>; </a:t>
            </a:r>
            <a:r>
              <a:rPr lang="tr-TR" dirty="0" err="1"/>
              <a:t>Safe</a:t>
            </a:r>
            <a:r>
              <a:rPr lang="tr-TR" dirty="0"/>
              <a:t>-RLHF </a:t>
            </a:r>
            <a:r>
              <a:rPr lang="tr-TR" dirty="0" err="1"/>
              <a:t>requires</a:t>
            </a:r>
            <a:r>
              <a:rPr lang="tr-TR" dirty="0"/>
              <a:t> </a:t>
            </a:r>
            <a:r>
              <a:rPr lang="tr-TR" dirty="0" err="1"/>
              <a:t>just</a:t>
            </a:r>
            <a:r>
              <a:rPr lang="tr-TR" dirty="0"/>
              <a:t> +5 </a:t>
            </a:r>
            <a:r>
              <a:rPr lang="tr-TR" dirty="0" err="1"/>
              <a:t>lines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28" name="Google Shape;428;p37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Hierarchical APIs</a:t>
            </a:r>
            <a:endParaRPr dirty="0"/>
          </a:p>
        </p:txBody>
      </p:sp>
      <p:sp>
        <p:nvSpPr>
          <p:cNvPr id="429" name="Google Shape;429;p37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Transfer Protocols</a:t>
            </a:r>
            <a:endParaRPr dirty="0"/>
          </a:p>
        </p:txBody>
      </p:sp>
      <p:sp>
        <p:nvSpPr>
          <p:cNvPr id="430" name="Google Shape;430;p37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Ease of Use</a:t>
            </a:r>
            <a:endParaRPr dirty="0"/>
          </a:p>
        </p:txBody>
      </p:sp>
      <p:sp>
        <p:nvSpPr>
          <p:cNvPr id="431" name="Google Shape;431;p37"/>
          <p:cNvSpPr txBox="1"/>
          <p:nvPr/>
        </p:nvSpPr>
        <p:spPr>
          <a:xfrm>
            <a:off x="693051" y="1329825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1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693051" y="2445600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2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693051" y="3561375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3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>
          <a:extLst>
            <a:ext uri="{FF2B5EF4-FFF2-40B4-BE49-F238E27FC236}">
              <a16:creationId xmlns:a16="http://schemas.microsoft.com/office/drawing/2014/main" id="{4EFE1442-4C8B-244A-E149-D936C071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>
            <a:extLst>
              <a:ext uri="{FF2B5EF4-FFF2-40B4-BE49-F238E27FC236}">
                <a16:creationId xmlns:a16="http://schemas.microsoft.com/office/drawing/2014/main" id="{08E8AD5F-BF02-1701-016E-7BE32A11D89A}"/>
              </a:ext>
            </a:extLst>
          </p:cNvPr>
          <p:cNvSpPr/>
          <p:nvPr/>
        </p:nvSpPr>
        <p:spPr>
          <a:xfrm rot="5400000">
            <a:off x="7857762" y="-21879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Resim 5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636A328-F8AE-9844-0816-2C3CFFF4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984" y="1075194"/>
            <a:ext cx="4912031" cy="310675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5DDCCD0-CE52-8A1C-84E0-BF8149C3FD0F}"/>
              </a:ext>
            </a:extLst>
          </p:cNvPr>
          <p:cNvSpPr txBox="1"/>
          <p:nvPr/>
        </p:nvSpPr>
        <p:spPr>
          <a:xfrm>
            <a:off x="3135549" y="4181949"/>
            <a:ext cx="2872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Code</a:t>
            </a:r>
            <a:r>
              <a:rPr lang="tr-TR" dirty="0"/>
              <a:t> </a:t>
            </a:r>
            <a:r>
              <a:rPr lang="tr-TR" dirty="0" err="1"/>
              <a:t>snippet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PPO/</a:t>
            </a:r>
            <a:r>
              <a:rPr lang="tr-TR" dirty="0" err="1"/>
              <a:t>Safe</a:t>
            </a:r>
            <a:r>
              <a:rPr lang="tr-TR" dirty="0"/>
              <a:t>-RLHF</a:t>
            </a:r>
          </a:p>
        </p:txBody>
      </p:sp>
      <p:sp>
        <p:nvSpPr>
          <p:cNvPr id="8" name="Google Shape;424;p37">
            <a:extLst>
              <a:ext uri="{FF2B5EF4-FFF2-40B4-BE49-F238E27FC236}">
                <a16:creationId xmlns:a16="http://schemas.microsoft.com/office/drawing/2014/main" id="{C5962E11-BE8D-6AAA-49E1-58E7EECBD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tr-TR" sz="3000" dirty="0" err="1"/>
              <a:t>Hybrid</a:t>
            </a:r>
            <a:r>
              <a:rPr lang="tr-TR" sz="3000" dirty="0"/>
              <a:t> Programming Model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13898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8E59C442-7DD2-8877-8CFD-953D5797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>
            <a:extLst>
              <a:ext uri="{FF2B5EF4-FFF2-40B4-BE49-F238E27FC236}">
                <a16:creationId xmlns:a16="http://schemas.microsoft.com/office/drawing/2014/main" id="{60FC3BA0-3217-F939-FD20-AC0A19F02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Core</a:t>
            </a:r>
            <a:r>
              <a:rPr lang="tr-TR" dirty="0"/>
              <a:t> Challenge: </a:t>
            </a:r>
            <a:r>
              <a:rPr lang="tr-TR" dirty="0" err="1"/>
              <a:t>Actor</a:t>
            </a:r>
            <a:r>
              <a:rPr lang="tr-TR" dirty="0"/>
              <a:t> </a:t>
            </a:r>
            <a:r>
              <a:rPr lang="tr-TR" dirty="0" err="1"/>
              <a:t>Resharding</a:t>
            </a:r>
            <a:endParaRPr dirty="0"/>
          </a:p>
        </p:txBody>
      </p:sp>
      <p:sp>
        <p:nvSpPr>
          <p:cNvPr id="425" name="Google Shape;425;p37">
            <a:extLst>
              <a:ext uri="{FF2B5EF4-FFF2-40B4-BE49-F238E27FC236}">
                <a16:creationId xmlns:a16="http://schemas.microsoft.com/office/drawing/2014/main" id="{D464ACC1-1468-80F4-4B8F-07EA097566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03491" y="123932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Encapsulates distributed computation (e.g., </a:t>
            </a:r>
            <a:r>
              <a:rPr lang="en" sz="1800" dirty="0" err="1"/>
              <a:t>update_actor</a:t>
            </a:r>
            <a:r>
              <a:rPr lang="en" sz="1800" dirty="0"/>
              <a:t> )</a:t>
            </a:r>
            <a:endParaRPr sz="1800" dirty="0"/>
          </a:p>
        </p:txBody>
      </p:sp>
      <p:sp>
        <p:nvSpPr>
          <p:cNvPr id="426" name="Google Shape;426;p37">
            <a:extLst>
              <a:ext uri="{FF2B5EF4-FFF2-40B4-BE49-F238E27FC236}">
                <a16:creationId xmlns:a16="http://schemas.microsoft.com/office/drawing/2014/main" id="{B69A2383-2F6B-EFCD-B81E-E98DA36C26C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724717" y="168736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1800" dirty="0" err="1"/>
              <a:t>Automatically</a:t>
            </a:r>
            <a:r>
              <a:rPr lang="tr-TR" sz="1800" dirty="0"/>
              <a:t> </a:t>
            </a:r>
            <a:r>
              <a:rPr lang="tr-TR" sz="1800" dirty="0" err="1"/>
              <a:t>handles</a:t>
            </a:r>
            <a:r>
              <a:rPr lang="tr-TR" sz="1800" dirty="0"/>
              <a:t> data </a:t>
            </a:r>
            <a:r>
              <a:rPr lang="tr-TR" sz="1800" dirty="0" err="1"/>
              <a:t>resharding</a:t>
            </a:r>
            <a:r>
              <a:rPr lang="tr-TR" sz="1800" dirty="0"/>
              <a:t> </a:t>
            </a:r>
            <a:r>
              <a:rPr lang="tr-TR" sz="1800" dirty="0" err="1"/>
              <a:t>between</a:t>
            </a:r>
            <a:r>
              <a:rPr lang="tr-TR" sz="1800" dirty="0"/>
              <a:t> </a:t>
            </a:r>
            <a:r>
              <a:rPr lang="tr-TR" sz="1800" dirty="0" err="1"/>
              <a:t>models</a:t>
            </a:r>
            <a:r>
              <a:rPr lang="tr-TR" sz="1800" dirty="0"/>
              <a:t>.</a:t>
            </a:r>
            <a:endParaRPr sz="1800" dirty="0"/>
          </a:p>
        </p:txBody>
      </p:sp>
      <p:sp>
        <p:nvSpPr>
          <p:cNvPr id="428" name="Google Shape;428;p37">
            <a:extLst>
              <a:ext uri="{FF2B5EF4-FFF2-40B4-BE49-F238E27FC236}">
                <a16:creationId xmlns:a16="http://schemas.microsoft.com/office/drawing/2014/main" id="{BD0225EE-81D2-3992-8E8A-F9D5CE200B3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1339529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Conflict: </a:t>
            </a:r>
            <a:endParaRPr dirty="0"/>
          </a:p>
        </p:txBody>
      </p:sp>
      <p:sp>
        <p:nvSpPr>
          <p:cNvPr id="429" name="Google Shape;429;p37">
            <a:extLst>
              <a:ext uri="{FF2B5EF4-FFF2-40B4-BE49-F238E27FC236}">
                <a16:creationId xmlns:a16="http://schemas.microsoft.com/office/drawing/2014/main" id="{594FCA75-DF81-BB6D-171D-2A94CEE1AA1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00" y="178756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Bottleneck:</a:t>
            </a:r>
            <a:endParaRPr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FEDCE1E-F1B9-F3BD-94AF-1BEA587C4253}"/>
              </a:ext>
            </a:extLst>
          </p:cNvPr>
          <p:cNvSpPr txBox="1"/>
          <p:nvPr/>
        </p:nvSpPr>
        <p:spPr>
          <a:xfrm>
            <a:off x="3022376" y="4559296"/>
            <a:ext cx="3267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resharding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redundancy</a:t>
            </a:r>
            <a:endParaRPr lang="tr-TR" dirty="0"/>
          </a:p>
        </p:txBody>
      </p:sp>
      <p:pic>
        <p:nvPicPr>
          <p:cNvPr id="12" name="Resim 11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625EFE7-20CD-8986-8B2A-D3B14D86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391" y="2294576"/>
            <a:ext cx="4613217" cy="21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7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Innovation</a:t>
            </a:r>
            <a:r>
              <a:rPr lang="tr-TR" dirty="0"/>
              <a:t>: 3D-HybridEngine</a:t>
            </a:r>
            <a:endParaRPr dirty="0"/>
          </a:p>
        </p:txBody>
      </p:sp>
      <p:sp>
        <p:nvSpPr>
          <p:cNvPr id="439" name="Google Shape;439;p38"/>
          <p:cNvSpPr txBox="1">
            <a:spLocks noGrp="1"/>
          </p:cNvSpPr>
          <p:nvPr>
            <p:ph type="body" idx="1"/>
          </p:nvPr>
        </p:nvSpPr>
        <p:spPr>
          <a:xfrm>
            <a:off x="1057930" y="1017725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accent1"/>
              </a:buClr>
              <a:buSzPts val="1400"/>
              <a:buNone/>
            </a:pPr>
            <a:r>
              <a:rPr lang="tr-TR" sz="1600" b="1" dirty="0"/>
              <a:t>Zero </a:t>
            </a:r>
            <a:r>
              <a:rPr lang="tr-TR" sz="1600" b="1" dirty="0" err="1"/>
              <a:t>Redundancy</a:t>
            </a:r>
            <a:r>
              <a:rPr lang="tr-TR" sz="1600" b="1" dirty="0"/>
              <a:t> </a:t>
            </a:r>
            <a:r>
              <a:rPr lang="tr-TR" sz="1600" b="1" dirty="0" err="1"/>
              <a:t>Resharding</a:t>
            </a:r>
            <a:r>
              <a:rPr lang="tr-TR" sz="1600" b="1" dirty="0"/>
              <a:t>:</a:t>
            </a:r>
          </a:p>
          <a:p>
            <a:pPr lvl="0" indent="-317500"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tr-TR" sz="1600" dirty="0" err="1"/>
              <a:t>Reinterprets</a:t>
            </a:r>
            <a:r>
              <a:rPr lang="tr-TR" sz="1600" dirty="0"/>
              <a:t> </a:t>
            </a:r>
            <a:r>
              <a:rPr lang="tr-TR" sz="1600" dirty="0" err="1"/>
              <a:t>training</a:t>
            </a:r>
            <a:r>
              <a:rPr lang="tr-TR" sz="1600" dirty="0"/>
              <a:t> TP </a:t>
            </a:r>
            <a:r>
              <a:rPr lang="tr-TR" sz="1600" dirty="0" err="1"/>
              <a:t>groups</a:t>
            </a:r>
            <a:r>
              <a:rPr lang="tr-TR" sz="1600" dirty="0"/>
              <a:t> as "Micro-DP" </a:t>
            </a:r>
            <a:r>
              <a:rPr lang="tr-TR" sz="1600" dirty="0" err="1"/>
              <a:t>groups</a:t>
            </a:r>
            <a:r>
              <a:rPr lang="tr-TR" sz="1600" dirty="0"/>
              <a:t> </a:t>
            </a:r>
            <a:r>
              <a:rPr lang="tr-TR" sz="1600" dirty="0" err="1"/>
              <a:t>during</a:t>
            </a:r>
            <a:r>
              <a:rPr lang="tr-TR" sz="1600" dirty="0"/>
              <a:t> </a:t>
            </a:r>
            <a:r>
              <a:rPr lang="tr-TR" sz="1600" dirty="0" err="1"/>
              <a:t>generation</a:t>
            </a:r>
            <a:r>
              <a:rPr lang="tr-TR" sz="1600" dirty="0"/>
              <a:t>.</a:t>
            </a:r>
          </a:p>
          <a:p>
            <a:pPr lvl="0" indent="-317500"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tr-TR" sz="1600" dirty="0" err="1"/>
              <a:t>Result</a:t>
            </a:r>
            <a:r>
              <a:rPr lang="tr-TR" sz="1600" dirty="0"/>
              <a:t>: No </a:t>
            </a:r>
            <a:r>
              <a:rPr lang="tr-TR" sz="1600" dirty="0" err="1"/>
              <a:t>massive</a:t>
            </a:r>
            <a:r>
              <a:rPr lang="tr-TR" sz="1600" dirty="0"/>
              <a:t> data transfer; </a:t>
            </a:r>
            <a:r>
              <a:rPr lang="tr-TR" sz="1600" dirty="0" err="1"/>
              <a:t>weights</a:t>
            </a:r>
            <a:r>
              <a:rPr lang="tr-TR" sz="1600" dirty="0"/>
              <a:t> </a:t>
            </a:r>
            <a:r>
              <a:rPr lang="tr-TR" sz="1600" dirty="0" err="1"/>
              <a:t>stay</a:t>
            </a:r>
            <a:r>
              <a:rPr lang="tr-TR" sz="1600" dirty="0"/>
              <a:t> on </a:t>
            </a:r>
            <a:r>
              <a:rPr lang="tr-TR" sz="1600" dirty="0" err="1"/>
              <a:t>the</a:t>
            </a:r>
            <a:r>
              <a:rPr lang="tr-TR" sz="1600" dirty="0"/>
              <a:t> GPU, </a:t>
            </a:r>
            <a:r>
              <a:rPr lang="tr-TR" sz="1600" dirty="0" err="1"/>
              <a:t>only</a:t>
            </a:r>
            <a:r>
              <a:rPr lang="tr-TR" sz="1600" dirty="0"/>
              <a:t> </a:t>
            </a:r>
            <a:r>
              <a:rPr lang="tr-TR" sz="1600" dirty="0" err="1"/>
              <a:t>the</a:t>
            </a:r>
            <a:r>
              <a:rPr lang="tr-TR" sz="1600" dirty="0"/>
              <a:t> "</a:t>
            </a:r>
            <a:r>
              <a:rPr lang="tr-TR" sz="1600" dirty="0" err="1"/>
              <a:t>view</a:t>
            </a:r>
            <a:r>
              <a:rPr lang="tr-TR" sz="1600" dirty="0"/>
              <a:t>" </a:t>
            </a:r>
            <a:r>
              <a:rPr lang="tr-TR" sz="1600" dirty="0" err="1"/>
              <a:t>changes</a:t>
            </a:r>
            <a:r>
              <a:rPr lang="tr-TR" sz="1600" dirty="0"/>
              <a:t>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5938B61-4F87-DFFE-975E-C9B2DB3257E6}"/>
              </a:ext>
            </a:extLst>
          </p:cNvPr>
          <p:cNvSpPr txBox="1"/>
          <p:nvPr/>
        </p:nvSpPr>
        <p:spPr>
          <a:xfrm>
            <a:off x="3604426" y="4250825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Optimized</a:t>
            </a:r>
            <a:r>
              <a:rPr lang="tr-TR" dirty="0"/>
              <a:t> </a:t>
            </a:r>
            <a:r>
              <a:rPr lang="tr-TR" dirty="0" err="1"/>
              <a:t>resharding</a:t>
            </a:r>
            <a:endParaRPr lang="tr-TR" dirty="0"/>
          </a:p>
        </p:txBody>
      </p:sp>
      <p:pic>
        <p:nvPicPr>
          <p:cNvPr id="8" name="Resim 7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56F474-E9DD-220D-7C32-83644CB2A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760" y="2412108"/>
            <a:ext cx="4984476" cy="1838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20E4863F-EE8A-1C4F-3380-46F11D01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>
            <a:extLst>
              <a:ext uri="{FF2B5EF4-FFF2-40B4-BE49-F238E27FC236}">
                <a16:creationId xmlns:a16="http://schemas.microsoft.com/office/drawing/2014/main" id="{A323709D-3D67-F49A-86E6-97DCE1F3D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06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sz="2200" dirty="0"/>
              <a:t>Auto Device </a:t>
            </a:r>
            <a:r>
              <a:rPr lang="tr-TR" sz="2200" dirty="0" err="1"/>
              <a:t>Mapping</a:t>
            </a:r>
            <a:r>
              <a:rPr lang="tr-TR" sz="2200" dirty="0"/>
              <a:t> </a:t>
            </a:r>
            <a:r>
              <a:rPr lang="tr-TR" sz="2200" dirty="0" err="1"/>
              <a:t>Algorithm</a:t>
            </a:r>
            <a:endParaRPr sz="2200" dirty="0"/>
          </a:p>
        </p:txBody>
      </p:sp>
      <p:sp>
        <p:nvSpPr>
          <p:cNvPr id="425" name="Google Shape;425;p37">
            <a:extLst>
              <a:ext uri="{FF2B5EF4-FFF2-40B4-BE49-F238E27FC236}">
                <a16:creationId xmlns:a16="http://schemas.microsoft.com/office/drawing/2014/main" id="{B7F1E6EA-17B9-68D3-72AA-FDDFAF0CCE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4200" y="117157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/>
              <a:t>Minimize </a:t>
            </a:r>
            <a:r>
              <a:rPr lang="tr-TR" dirty="0" err="1"/>
              <a:t>end-to-end</a:t>
            </a:r>
            <a:r>
              <a:rPr lang="tr-TR" dirty="0"/>
              <a:t> RLHF </a:t>
            </a:r>
            <a:r>
              <a:rPr lang="tr-TR" dirty="0" err="1"/>
              <a:t>latency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26" name="Google Shape;426;p37">
            <a:extLst>
              <a:ext uri="{FF2B5EF4-FFF2-40B4-BE49-F238E27FC236}">
                <a16:creationId xmlns:a16="http://schemas.microsoft.com/office/drawing/2014/main" id="{7A2876E0-4E5C-22F9-9ACD-0C8213D3F37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94200" y="1759991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1500" dirty="0" err="1"/>
              <a:t>Simulates</a:t>
            </a:r>
            <a:r>
              <a:rPr lang="tr-TR" sz="1500" dirty="0"/>
              <a:t> </a:t>
            </a:r>
            <a:r>
              <a:rPr lang="tr-TR" sz="1500" dirty="0" err="1"/>
              <a:t>all</a:t>
            </a:r>
            <a:r>
              <a:rPr lang="tr-TR" sz="1500" dirty="0"/>
              <a:t> </a:t>
            </a:r>
            <a:r>
              <a:rPr lang="tr-TR" dirty="0" err="1"/>
              <a:t>possible</a:t>
            </a:r>
            <a:r>
              <a:rPr lang="tr-TR" sz="1500" dirty="0"/>
              <a:t> </a:t>
            </a:r>
            <a:r>
              <a:rPr lang="tr-TR" sz="1500" dirty="0" err="1"/>
              <a:t>placement</a:t>
            </a:r>
            <a:r>
              <a:rPr lang="tr-TR" sz="1500" dirty="0"/>
              <a:t> </a:t>
            </a:r>
            <a:r>
              <a:rPr lang="tr-TR" sz="1500" dirty="0" err="1"/>
              <a:t>strategies</a:t>
            </a:r>
            <a:r>
              <a:rPr lang="tr-TR" sz="1500" dirty="0"/>
              <a:t> (</a:t>
            </a:r>
            <a:r>
              <a:rPr lang="tr-TR" sz="1500" dirty="0" err="1"/>
              <a:t>Colocate</a:t>
            </a:r>
            <a:r>
              <a:rPr lang="tr-TR" sz="1500" dirty="0"/>
              <a:t> vs. </a:t>
            </a:r>
            <a:r>
              <a:rPr lang="tr-TR" sz="1500" dirty="0" err="1"/>
              <a:t>Split</a:t>
            </a:r>
            <a:r>
              <a:rPr lang="tr-TR" sz="1500" dirty="0"/>
              <a:t>) </a:t>
            </a:r>
            <a:r>
              <a:rPr lang="tr-TR" sz="1500" dirty="0" err="1"/>
              <a:t>and</a:t>
            </a:r>
            <a:r>
              <a:rPr lang="tr-TR" sz="1500" dirty="0"/>
              <a:t> </a:t>
            </a:r>
            <a:r>
              <a:rPr lang="tr-TR" sz="1500" dirty="0" err="1"/>
              <a:t>selects</a:t>
            </a:r>
            <a:r>
              <a:rPr lang="tr-TR" sz="1500" dirty="0"/>
              <a:t> </a:t>
            </a:r>
            <a:r>
              <a:rPr lang="tr-TR" sz="1500" dirty="0" err="1"/>
              <a:t>the</a:t>
            </a:r>
            <a:r>
              <a:rPr lang="tr-TR" sz="1500" dirty="0"/>
              <a:t> </a:t>
            </a:r>
            <a:r>
              <a:rPr lang="tr-TR" sz="1500" dirty="0" err="1"/>
              <a:t>best</a:t>
            </a:r>
            <a:r>
              <a:rPr lang="tr-TR" sz="1500" dirty="0"/>
              <a:t> </a:t>
            </a:r>
            <a:r>
              <a:rPr lang="tr-TR" sz="1500" dirty="0" err="1"/>
              <a:t>one</a:t>
            </a:r>
            <a:r>
              <a:rPr lang="tr-TR" sz="1500" dirty="0"/>
              <a:t>.</a:t>
            </a:r>
          </a:p>
        </p:txBody>
      </p:sp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230D5375-92FC-5655-4981-CE5703B9491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94200" y="2428309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dirty="0" err="1"/>
              <a:t>Chooses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strategies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dirty="0" err="1"/>
              <a:t>cluster</a:t>
            </a:r>
            <a:r>
              <a:rPr lang="tr-TR" dirty="0"/>
              <a:t> size (</a:t>
            </a:r>
            <a:r>
              <a:rPr lang="tr-TR" dirty="0" err="1"/>
              <a:t>e.g</a:t>
            </a:r>
            <a:r>
              <a:rPr lang="tr-TR" dirty="0"/>
              <a:t>., </a:t>
            </a:r>
            <a:r>
              <a:rPr lang="tr-TR" dirty="0" err="1"/>
              <a:t>colocate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small</a:t>
            </a:r>
            <a:r>
              <a:rPr lang="tr-TR" dirty="0"/>
              <a:t> </a:t>
            </a:r>
            <a:r>
              <a:rPr lang="tr-TR" dirty="0" err="1"/>
              <a:t>clusters</a:t>
            </a:r>
            <a:r>
              <a:rPr lang="tr-TR" dirty="0"/>
              <a:t>, </a:t>
            </a:r>
            <a:r>
              <a:rPr lang="tr-TR" dirty="0" err="1"/>
              <a:t>split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large</a:t>
            </a:r>
            <a:r>
              <a:rPr lang="tr-TR" dirty="0"/>
              <a:t> </a:t>
            </a:r>
            <a:r>
              <a:rPr lang="tr-TR" dirty="0" err="1"/>
              <a:t>ones</a:t>
            </a:r>
            <a:r>
              <a:rPr lang="tr-TR" dirty="0"/>
              <a:t>).</a:t>
            </a:r>
            <a:endParaRPr dirty="0"/>
          </a:p>
        </p:txBody>
      </p:sp>
      <p:sp>
        <p:nvSpPr>
          <p:cNvPr id="428" name="Google Shape;428;p37">
            <a:extLst>
              <a:ext uri="{FF2B5EF4-FFF2-40B4-BE49-F238E27FC236}">
                <a16:creationId xmlns:a16="http://schemas.microsoft.com/office/drawing/2014/main" id="{2B3122A1-F4BA-97B9-1B21-B283660BE6E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007100" y="2144250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Objective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Method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Adaptability</a:t>
            </a:r>
            <a:endParaRPr sz="1800" dirty="0"/>
          </a:p>
        </p:txBody>
      </p:sp>
      <p:pic>
        <p:nvPicPr>
          <p:cNvPr id="6" name="Resim 5" descr="metin, öykü gelişim çizgisi; kumpas; grafiğini çıkarma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D1D24CA-959C-65A0-7ADE-5E7612167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39" y="3096627"/>
            <a:ext cx="5257122" cy="172656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5EB304EF-73F1-5DDF-EA35-AEED49137173}"/>
              </a:ext>
            </a:extLst>
          </p:cNvPr>
          <p:cNvSpPr txBox="1"/>
          <p:nvPr/>
        </p:nvSpPr>
        <p:spPr>
          <a:xfrm>
            <a:off x="3226281" y="4809921"/>
            <a:ext cx="326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Throughput</a:t>
            </a:r>
            <a:r>
              <a:rPr lang="tr-TR" dirty="0"/>
              <a:t> </a:t>
            </a:r>
            <a:r>
              <a:rPr lang="tr-TR" dirty="0" err="1"/>
              <a:t>under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placements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4306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5A9D5B8E-76E5-CE7B-7081-F26BF18E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>
            <a:extLst>
              <a:ext uri="{FF2B5EF4-FFF2-40B4-BE49-F238E27FC236}">
                <a16:creationId xmlns:a16="http://schemas.microsoft.com/office/drawing/2014/main" id="{3C41FB0F-9BD8-A019-EEA5-E4D06453B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Experimental</a:t>
            </a:r>
            <a:r>
              <a:rPr lang="tr-TR" dirty="0"/>
              <a:t> Setup</a:t>
            </a:r>
            <a:endParaRPr dirty="0"/>
          </a:p>
        </p:txBody>
      </p:sp>
      <p:sp>
        <p:nvSpPr>
          <p:cNvPr id="341" name="Google Shape;341;p32">
            <a:extLst>
              <a:ext uri="{FF2B5EF4-FFF2-40B4-BE49-F238E27FC236}">
                <a16:creationId xmlns:a16="http://schemas.microsoft.com/office/drawing/2014/main" id="{D8BC17F8-9473-E813-4B34-8731C90C58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tr-TR" sz="2000" dirty="0">
                <a:latin typeface="DM Sans" pitchFamily="2" charset="0"/>
              </a:rPr>
              <a:t>128 </a:t>
            </a:r>
            <a:r>
              <a:rPr lang="tr-TR" sz="2000" dirty="0" err="1">
                <a:latin typeface="DM Sans" pitchFamily="2" charset="0"/>
              </a:rPr>
              <a:t>GPUs</a:t>
            </a:r>
            <a:r>
              <a:rPr lang="tr-TR" sz="2000" dirty="0">
                <a:latin typeface="DM Sans" pitchFamily="2" charset="0"/>
              </a:rPr>
              <a:t> (NVIDIA A100-80GB).</a:t>
            </a:r>
          </a:p>
        </p:txBody>
      </p:sp>
      <p:sp>
        <p:nvSpPr>
          <p:cNvPr id="342" name="Google Shape;342;p32">
            <a:extLst>
              <a:ext uri="{FF2B5EF4-FFF2-40B4-BE49-F238E27FC236}">
                <a16:creationId xmlns:a16="http://schemas.microsoft.com/office/drawing/2014/main" id="{82909C88-9BA7-F611-3BFB-D7D898339D1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25" y="276730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tr-TR" sz="2000" dirty="0">
                <a:latin typeface="DM Sans" pitchFamily="2" charset="0"/>
              </a:rPr>
              <a:t>Llama-2 (7B </a:t>
            </a:r>
            <a:r>
              <a:rPr lang="tr-TR" sz="2000" dirty="0" err="1">
                <a:latin typeface="DM Sans" pitchFamily="2" charset="0"/>
              </a:rPr>
              <a:t>to</a:t>
            </a:r>
            <a:r>
              <a:rPr lang="tr-TR" sz="2000" dirty="0">
                <a:latin typeface="DM Sans" pitchFamily="2" charset="0"/>
              </a:rPr>
              <a:t> 70B).</a:t>
            </a:r>
          </a:p>
        </p:txBody>
      </p:sp>
      <p:sp>
        <p:nvSpPr>
          <p:cNvPr id="343" name="Google Shape;343;p32">
            <a:extLst>
              <a:ext uri="{FF2B5EF4-FFF2-40B4-BE49-F238E27FC236}">
                <a16:creationId xmlns:a16="http://schemas.microsoft.com/office/drawing/2014/main" id="{892CDC87-794C-732A-BB45-9C4DA7F466E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25" y="38863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tr-TR" sz="2000" dirty="0" err="1">
                <a:latin typeface="DM Sans" pitchFamily="2" charset="0"/>
              </a:rPr>
              <a:t>DeepSpeed</a:t>
            </a:r>
            <a:r>
              <a:rPr lang="tr-TR" sz="2000" dirty="0">
                <a:latin typeface="DM Sans" pitchFamily="2" charset="0"/>
              </a:rPr>
              <a:t>-Chat, </a:t>
            </a:r>
            <a:r>
              <a:rPr lang="tr-TR" sz="2000" dirty="0" err="1">
                <a:latin typeface="DM Sans" pitchFamily="2" charset="0"/>
              </a:rPr>
              <a:t>OpenRLHF</a:t>
            </a:r>
            <a:r>
              <a:rPr lang="tr-TR" sz="2000" dirty="0">
                <a:latin typeface="DM Sans" pitchFamily="2" charset="0"/>
              </a:rPr>
              <a:t>, </a:t>
            </a:r>
            <a:r>
              <a:rPr lang="tr-TR" sz="2000" dirty="0" err="1">
                <a:latin typeface="DM Sans" pitchFamily="2" charset="0"/>
              </a:rPr>
              <a:t>NeMo-Aligner</a:t>
            </a:r>
            <a:r>
              <a:rPr lang="tr-TR" sz="2000" dirty="0">
                <a:latin typeface="DM Sans" pitchFamily="2" charset="0"/>
              </a:rPr>
              <a:t>.</a:t>
            </a:r>
          </a:p>
        </p:txBody>
      </p:sp>
      <p:sp>
        <p:nvSpPr>
          <p:cNvPr id="344" name="Google Shape;344;p32">
            <a:extLst>
              <a:ext uri="{FF2B5EF4-FFF2-40B4-BE49-F238E27FC236}">
                <a16:creationId xmlns:a16="http://schemas.microsoft.com/office/drawing/2014/main" id="{7B5F517B-1A1B-AA85-429A-831DB0317F0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19975" y="1229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Hardware</a:t>
            </a:r>
            <a:endParaRPr sz="2400" dirty="0"/>
          </a:p>
        </p:txBody>
      </p:sp>
      <p:sp>
        <p:nvSpPr>
          <p:cNvPr id="345" name="Google Shape;345;p32">
            <a:extLst>
              <a:ext uri="{FF2B5EF4-FFF2-40B4-BE49-F238E27FC236}">
                <a16:creationId xmlns:a16="http://schemas.microsoft.com/office/drawing/2014/main" id="{030BC55C-5415-9F69-4ECF-2E74BB91C80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25" y="23530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Models</a:t>
            </a:r>
            <a:endParaRPr sz="2400" dirty="0"/>
          </a:p>
        </p:txBody>
      </p:sp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5BDB9625-1C16-A3BC-DE79-6F2B81A00D2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Baselines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83604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40995DEF-1319-796E-1E74-A87459B1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>
            <a:extLst>
              <a:ext uri="{FF2B5EF4-FFF2-40B4-BE49-F238E27FC236}">
                <a16:creationId xmlns:a16="http://schemas.microsoft.com/office/drawing/2014/main" id="{1032F618-3C68-5F35-CCDB-4001A3CF7A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Results</a:t>
            </a:r>
            <a:r>
              <a:rPr lang="tr-TR" dirty="0"/>
              <a:t>: </a:t>
            </a:r>
            <a:r>
              <a:rPr lang="tr-TR" dirty="0" err="1"/>
              <a:t>Throughput</a:t>
            </a:r>
            <a:r>
              <a:rPr lang="tr-TR" dirty="0"/>
              <a:t> </a:t>
            </a:r>
            <a:r>
              <a:rPr lang="tr-TR" dirty="0" err="1"/>
              <a:t>Comparison</a:t>
            </a:r>
            <a:endParaRPr dirty="0"/>
          </a:p>
        </p:txBody>
      </p:sp>
      <p:sp>
        <p:nvSpPr>
          <p:cNvPr id="425" name="Google Shape;425;p37">
            <a:extLst>
              <a:ext uri="{FF2B5EF4-FFF2-40B4-BE49-F238E27FC236}">
                <a16:creationId xmlns:a16="http://schemas.microsoft.com/office/drawing/2014/main" id="{8B8EFF3A-7596-56C6-4BC9-1BDFCAE3FBA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4200" y="137750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dirty="0" err="1"/>
              <a:t>HybridFlow</a:t>
            </a:r>
            <a:r>
              <a:rPr lang="tr-TR" sz="2000" dirty="0"/>
              <a:t> </a:t>
            </a:r>
            <a:r>
              <a:rPr lang="tr-TR" sz="2000" dirty="0" err="1"/>
              <a:t>outperforms</a:t>
            </a:r>
            <a:r>
              <a:rPr lang="tr-TR" sz="2000" dirty="0"/>
              <a:t> </a:t>
            </a:r>
            <a:r>
              <a:rPr lang="tr-TR" sz="2000" dirty="0" err="1"/>
              <a:t>baselines</a:t>
            </a:r>
            <a:r>
              <a:rPr lang="tr-TR" sz="2000" dirty="0"/>
              <a:t> </a:t>
            </a:r>
            <a:r>
              <a:rPr lang="tr-TR" sz="2000" dirty="0" err="1"/>
              <a:t>by</a:t>
            </a:r>
            <a:r>
              <a:rPr lang="tr-TR" sz="2000" dirty="0"/>
              <a:t> 1.53 </a:t>
            </a:r>
            <a:r>
              <a:rPr lang="tr-TR" sz="2000" dirty="0" err="1"/>
              <a:t>to</a:t>
            </a:r>
            <a:r>
              <a:rPr lang="tr-TR" sz="2000" dirty="0"/>
              <a:t> 20.57 </a:t>
            </a:r>
            <a:r>
              <a:rPr lang="tr-TR" sz="2000" dirty="0" err="1"/>
              <a:t>times</a:t>
            </a:r>
            <a:r>
              <a:rPr lang="tr-TR" sz="2000" dirty="0"/>
              <a:t>.</a:t>
            </a:r>
            <a:endParaRPr sz="2000" dirty="0"/>
          </a:p>
        </p:txBody>
      </p:sp>
      <p:sp>
        <p:nvSpPr>
          <p:cNvPr id="426" name="Google Shape;426;p37">
            <a:extLst>
              <a:ext uri="{FF2B5EF4-FFF2-40B4-BE49-F238E27FC236}">
                <a16:creationId xmlns:a16="http://schemas.microsoft.com/office/drawing/2014/main" id="{347DE2C0-DFFB-5BC4-CC58-9FE23B68B2F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94375" y="2248468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dirty="0" err="1"/>
              <a:t>Achieves</a:t>
            </a:r>
            <a:r>
              <a:rPr lang="tr-TR" sz="2000" dirty="0"/>
              <a:t> 9.64 </a:t>
            </a:r>
            <a:r>
              <a:rPr lang="tr-TR" sz="2000" dirty="0" err="1"/>
              <a:t>times</a:t>
            </a:r>
            <a:r>
              <a:rPr lang="tr-TR" sz="2000" dirty="0"/>
              <a:t> </a:t>
            </a:r>
            <a:r>
              <a:rPr lang="tr-TR" sz="2000" dirty="0" err="1"/>
              <a:t>speedup</a:t>
            </a:r>
            <a:r>
              <a:rPr lang="tr-TR" sz="2000" dirty="0"/>
              <a:t> on </a:t>
            </a:r>
            <a:r>
              <a:rPr lang="tr-TR" sz="2000" dirty="0" err="1"/>
              <a:t>average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70B </a:t>
            </a:r>
            <a:r>
              <a:rPr lang="tr-TR" sz="2000" dirty="0" err="1"/>
              <a:t>models</a:t>
            </a:r>
            <a:r>
              <a:rPr lang="tr-TR" sz="2000" dirty="0"/>
              <a:t> </a:t>
            </a:r>
            <a:r>
              <a:rPr lang="tr-TR" sz="2000" dirty="0" err="1"/>
              <a:t>due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efficient</a:t>
            </a:r>
            <a:r>
              <a:rPr lang="tr-TR" sz="2000" dirty="0"/>
              <a:t> </a:t>
            </a:r>
            <a:r>
              <a:rPr lang="tr-TR" sz="2000" dirty="0" err="1"/>
              <a:t>resharding</a:t>
            </a:r>
            <a:r>
              <a:rPr lang="tr-TR" sz="2000" dirty="0"/>
              <a:t>.</a:t>
            </a:r>
            <a:endParaRPr sz="2000" dirty="0"/>
          </a:p>
        </p:txBody>
      </p:sp>
      <p:sp>
        <p:nvSpPr>
          <p:cNvPr id="428" name="Google Shape;428;p37">
            <a:extLst>
              <a:ext uri="{FF2B5EF4-FFF2-40B4-BE49-F238E27FC236}">
                <a16:creationId xmlns:a16="http://schemas.microsoft.com/office/drawing/2014/main" id="{EDAD410B-A63E-FB90-7E5D-9341B079B11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94375" y="1206450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Performance</a:t>
            </a:r>
            <a:endParaRPr sz="2400" dirty="0"/>
          </a:p>
        </p:txBody>
      </p:sp>
      <p:sp>
        <p:nvSpPr>
          <p:cNvPr id="429" name="Google Shape;429;p37">
            <a:extLst>
              <a:ext uri="{FF2B5EF4-FFF2-40B4-BE49-F238E27FC236}">
                <a16:creationId xmlns:a16="http://schemas.microsoft.com/office/drawing/2014/main" id="{9B48184D-BCEE-5CC7-4901-28D628A068A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94375" y="2034718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Scaling</a:t>
            </a:r>
            <a:endParaRPr sz="2400" dirty="0"/>
          </a:p>
        </p:txBody>
      </p:sp>
      <p:pic>
        <p:nvPicPr>
          <p:cNvPr id="8" name="Resim 7" descr="metin, yazı tipi, ekran görüntüsü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23CBE4D-8943-FB89-F51E-E50B29DE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541" y="3092365"/>
            <a:ext cx="6168918" cy="135543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BCE8DE77-8FBE-07D8-635A-AA00F7A48DC5}"/>
              </a:ext>
            </a:extLst>
          </p:cNvPr>
          <p:cNvSpPr txBox="1"/>
          <p:nvPr/>
        </p:nvSpPr>
        <p:spPr>
          <a:xfrm>
            <a:off x="4095109" y="4502389"/>
            <a:ext cx="1527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PPO </a:t>
            </a:r>
            <a:r>
              <a:rPr lang="tr-TR" dirty="0" err="1"/>
              <a:t>Throughput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9980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09DEC275-8CEB-2967-CAE7-C6AA5D2E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>
            <a:extLst>
              <a:ext uri="{FF2B5EF4-FFF2-40B4-BE49-F238E27FC236}">
                <a16:creationId xmlns:a16="http://schemas.microsoft.com/office/drawing/2014/main" id="{D563C7D5-61FD-3115-27F5-B92C7CBAF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Results</a:t>
            </a:r>
            <a:r>
              <a:rPr lang="tr-TR" dirty="0"/>
              <a:t>: </a:t>
            </a:r>
            <a:r>
              <a:rPr lang="tr-TR" dirty="0" err="1"/>
              <a:t>Transition</a:t>
            </a:r>
            <a:r>
              <a:rPr lang="tr-TR" dirty="0"/>
              <a:t> </a:t>
            </a:r>
            <a:r>
              <a:rPr lang="tr-TR" dirty="0" err="1"/>
              <a:t>Overhead</a:t>
            </a:r>
            <a:endParaRPr dirty="0"/>
          </a:p>
        </p:txBody>
      </p:sp>
      <p:sp>
        <p:nvSpPr>
          <p:cNvPr id="425" name="Google Shape;425;p37">
            <a:extLst>
              <a:ext uri="{FF2B5EF4-FFF2-40B4-BE49-F238E27FC236}">
                <a16:creationId xmlns:a16="http://schemas.microsoft.com/office/drawing/2014/main" id="{75A7C2AB-268A-CF2A-3636-AF6F960994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4200" y="1285106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dirty="0" err="1"/>
              <a:t>Drastic</a:t>
            </a:r>
            <a:r>
              <a:rPr lang="tr-TR" sz="2000" dirty="0"/>
              <a:t> </a:t>
            </a:r>
            <a:r>
              <a:rPr lang="tr-TR" sz="2000" dirty="0" err="1"/>
              <a:t>reduction</a:t>
            </a:r>
            <a:r>
              <a:rPr lang="tr-TR" sz="2000" dirty="0"/>
              <a:t> in </a:t>
            </a:r>
            <a:r>
              <a:rPr lang="tr-TR" sz="2000" dirty="0" err="1"/>
              <a:t>transition</a:t>
            </a:r>
            <a:r>
              <a:rPr lang="tr-TR" sz="2000" dirty="0"/>
              <a:t> time </a:t>
            </a:r>
            <a:r>
              <a:rPr lang="tr-TR" sz="2000" dirty="0" err="1"/>
              <a:t>between</a:t>
            </a:r>
            <a:r>
              <a:rPr lang="tr-TR" sz="2000" dirty="0"/>
              <a:t> </a:t>
            </a:r>
            <a:r>
              <a:rPr lang="tr-TR" sz="2000" dirty="0" err="1"/>
              <a:t>training</a:t>
            </a:r>
            <a:r>
              <a:rPr lang="tr-TR" sz="2000" dirty="0"/>
              <a:t> </a:t>
            </a:r>
            <a:r>
              <a:rPr lang="tr-TR" sz="2000" dirty="0" err="1"/>
              <a:t>and</a:t>
            </a:r>
            <a:r>
              <a:rPr lang="tr-TR" sz="2000" dirty="0"/>
              <a:t> </a:t>
            </a:r>
            <a:r>
              <a:rPr lang="tr-TR" sz="2000" dirty="0" err="1"/>
              <a:t>generation</a:t>
            </a:r>
            <a:r>
              <a:rPr lang="tr-TR" sz="2000" dirty="0"/>
              <a:t>.</a:t>
            </a:r>
            <a:endParaRPr sz="2000" dirty="0"/>
          </a:p>
        </p:txBody>
      </p:sp>
      <p:sp>
        <p:nvSpPr>
          <p:cNvPr id="426" name="Google Shape;426;p37">
            <a:extLst>
              <a:ext uri="{FF2B5EF4-FFF2-40B4-BE49-F238E27FC236}">
                <a16:creationId xmlns:a16="http://schemas.microsoft.com/office/drawing/2014/main" id="{1D6A7E69-2E57-1E34-D033-3B1469D400E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94200" y="2307900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dirty="0" err="1"/>
              <a:t>OpenRLHF</a:t>
            </a:r>
            <a:r>
              <a:rPr lang="tr-TR" sz="2000" dirty="0"/>
              <a:t> </a:t>
            </a:r>
            <a:r>
              <a:rPr lang="tr-TR" sz="2000" dirty="0" err="1"/>
              <a:t>suffers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err="1"/>
              <a:t>high</a:t>
            </a:r>
            <a:r>
              <a:rPr lang="tr-TR" sz="2000" dirty="0"/>
              <a:t> </a:t>
            </a:r>
            <a:r>
              <a:rPr lang="tr-TR" sz="2000" dirty="0" err="1"/>
              <a:t>synchronization</a:t>
            </a:r>
            <a:r>
              <a:rPr lang="tr-TR" sz="2000" dirty="0"/>
              <a:t> </a:t>
            </a:r>
            <a:r>
              <a:rPr lang="tr-TR" sz="2000" dirty="0" err="1"/>
              <a:t>costs</a:t>
            </a:r>
            <a:r>
              <a:rPr lang="tr-TR" sz="2000" dirty="0"/>
              <a:t>; </a:t>
            </a:r>
            <a:r>
              <a:rPr lang="tr-TR" sz="2000" dirty="0" err="1"/>
              <a:t>HybridFlow</a:t>
            </a:r>
            <a:r>
              <a:rPr lang="tr-TR" sz="2000" dirty="0"/>
              <a:t> </a:t>
            </a:r>
            <a:r>
              <a:rPr lang="tr-TR" sz="2000" dirty="0" err="1"/>
              <a:t>remains</a:t>
            </a:r>
            <a:r>
              <a:rPr lang="tr-TR" sz="2000" dirty="0"/>
              <a:t> </a:t>
            </a:r>
            <a:r>
              <a:rPr lang="tr-TR" sz="2000" dirty="0" err="1"/>
              <a:t>efficient</a:t>
            </a:r>
            <a:r>
              <a:rPr lang="tr-TR" sz="2000" dirty="0"/>
              <a:t> </a:t>
            </a:r>
            <a:r>
              <a:rPr lang="tr-TR" sz="2000" dirty="0" err="1"/>
              <a:t>even</a:t>
            </a:r>
            <a:r>
              <a:rPr lang="tr-TR" sz="2000" dirty="0"/>
              <a:t> at </a:t>
            </a:r>
            <a:r>
              <a:rPr lang="tr-TR" sz="2000" dirty="0" err="1"/>
              <a:t>scale</a:t>
            </a:r>
            <a:r>
              <a:rPr lang="tr-TR" sz="2000" dirty="0"/>
              <a:t>.</a:t>
            </a:r>
            <a:endParaRPr sz="2000" dirty="0"/>
          </a:p>
        </p:txBody>
      </p:sp>
      <p:sp>
        <p:nvSpPr>
          <p:cNvPr id="428" name="Google Shape;428;p37">
            <a:extLst>
              <a:ext uri="{FF2B5EF4-FFF2-40B4-BE49-F238E27FC236}">
                <a16:creationId xmlns:a16="http://schemas.microsoft.com/office/drawing/2014/main" id="{3B6648EA-4A45-ECCB-501A-141F96A45E2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94200" y="1112087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Impact</a:t>
            </a:r>
            <a:endParaRPr sz="2400" dirty="0"/>
          </a:p>
        </p:txBody>
      </p:sp>
      <p:sp>
        <p:nvSpPr>
          <p:cNvPr id="429" name="Google Shape;429;p37">
            <a:extLst>
              <a:ext uri="{FF2B5EF4-FFF2-40B4-BE49-F238E27FC236}">
                <a16:creationId xmlns:a16="http://schemas.microsoft.com/office/drawing/2014/main" id="{CF50F4DE-EE0E-0DDA-02CE-0EDB96C6B6B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94200" y="2144250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Comparison</a:t>
            </a:r>
            <a:endParaRPr sz="2400" dirty="0"/>
          </a:p>
        </p:txBody>
      </p:sp>
      <p:pic>
        <p:nvPicPr>
          <p:cNvPr id="3" name="Resim 2" descr="metin, yazı tipi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0C01AEB-110F-324C-197E-F00C6A158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06" y="3213260"/>
            <a:ext cx="6683188" cy="1290268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69837AC-AD13-0B69-74F8-05B0C5EC78CA}"/>
              </a:ext>
            </a:extLst>
          </p:cNvPr>
          <p:cNvSpPr txBox="1"/>
          <p:nvPr/>
        </p:nvSpPr>
        <p:spPr>
          <a:xfrm>
            <a:off x="3791339" y="4524088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Transition</a:t>
            </a:r>
            <a:r>
              <a:rPr lang="tr-TR" dirty="0"/>
              <a:t> Time Analysis</a:t>
            </a:r>
          </a:p>
        </p:txBody>
      </p:sp>
    </p:spTree>
    <p:extLst>
      <p:ext uri="{BB962C8B-B14F-4D97-AF65-F5344CB8AC3E}">
        <p14:creationId xmlns:p14="http://schemas.microsoft.com/office/powerpoint/2010/main" val="3340053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Critical Analysis</a:t>
            </a:r>
            <a:endParaRPr dirty="0"/>
          </a:p>
        </p:txBody>
      </p:sp>
      <p:sp>
        <p:nvSpPr>
          <p:cNvPr id="528" name="Google Shape;528;p42"/>
          <p:cNvSpPr txBox="1">
            <a:spLocks noGrp="1"/>
          </p:cNvSpPr>
          <p:nvPr>
            <p:ph type="subTitle" idx="1"/>
          </p:nvPr>
        </p:nvSpPr>
        <p:spPr>
          <a:xfrm>
            <a:off x="4572000" y="1625789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4325" lvl="0">
              <a:buClr>
                <a:schemeClr val="accent1"/>
              </a:buClr>
            </a:pPr>
            <a:r>
              <a:rPr lang="tr-TR" sz="1800" dirty="0" err="1"/>
              <a:t>System</a:t>
            </a:r>
            <a:r>
              <a:rPr lang="tr-TR" sz="1800" dirty="0"/>
              <a:t> </a:t>
            </a:r>
            <a:r>
              <a:rPr lang="tr-TR" sz="1800" dirty="0" err="1"/>
              <a:t>complexity</a:t>
            </a:r>
            <a:r>
              <a:rPr lang="tr-TR" sz="1800" dirty="0"/>
              <a:t> </a:t>
            </a:r>
            <a:r>
              <a:rPr lang="tr-TR" sz="1800" dirty="0" err="1"/>
              <a:t>makes</a:t>
            </a:r>
            <a:r>
              <a:rPr lang="tr-TR" sz="1800" dirty="0"/>
              <a:t> </a:t>
            </a:r>
            <a:r>
              <a:rPr lang="tr-TR" sz="1800" dirty="0" err="1"/>
              <a:t>debugging</a:t>
            </a:r>
            <a:r>
              <a:rPr lang="tr-TR" sz="1800" dirty="0"/>
              <a:t> </a:t>
            </a:r>
            <a:r>
              <a:rPr lang="tr-TR" sz="1800" dirty="0" err="1"/>
              <a:t>harder</a:t>
            </a:r>
            <a:r>
              <a:rPr lang="tr-TR" sz="1800" dirty="0"/>
              <a:t>.</a:t>
            </a:r>
          </a:p>
          <a:p>
            <a:pPr marL="0" lvl="0" indent="0">
              <a:buClr>
                <a:schemeClr val="accent1"/>
              </a:buClr>
              <a:buNone/>
            </a:pPr>
            <a:endParaRPr lang="tr-TR" sz="1800" dirty="0"/>
          </a:p>
          <a:p>
            <a:pPr marL="314325" lvl="0">
              <a:buClr>
                <a:schemeClr val="accent1"/>
              </a:buClr>
            </a:pPr>
            <a:r>
              <a:rPr lang="tr-TR" sz="1800" dirty="0" err="1"/>
              <a:t>Performance</a:t>
            </a:r>
            <a:r>
              <a:rPr lang="tr-TR" sz="1800" dirty="0"/>
              <a:t> </a:t>
            </a:r>
            <a:r>
              <a:rPr lang="tr-TR" sz="1800" dirty="0" err="1"/>
              <a:t>relies</a:t>
            </a:r>
            <a:r>
              <a:rPr lang="tr-TR" sz="1800" dirty="0"/>
              <a:t> on </a:t>
            </a:r>
            <a:r>
              <a:rPr lang="tr-TR" sz="1800" dirty="0" err="1"/>
              <a:t>accurate</a:t>
            </a:r>
            <a:r>
              <a:rPr lang="tr-TR" sz="1800" dirty="0"/>
              <a:t> offline </a:t>
            </a:r>
            <a:r>
              <a:rPr lang="tr-TR" sz="1800" dirty="0" err="1"/>
              <a:t>simulations</a:t>
            </a:r>
            <a:r>
              <a:rPr lang="tr-TR" sz="1800" dirty="0"/>
              <a:t>.</a:t>
            </a:r>
          </a:p>
          <a:p>
            <a:pPr marL="0" lvl="0" indent="0">
              <a:buClr>
                <a:schemeClr val="accent1"/>
              </a:buClr>
              <a:buNone/>
            </a:pPr>
            <a:endParaRPr lang="tr-TR" sz="1800" dirty="0"/>
          </a:p>
          <a:p>
            <a:pPr marL="314325" lvl="0">
              <a:buClr>
                <a:schemeClr val="accent1"/>
              </a:buClr>
            </a:pPr>
            <a:r>
              <a:rPr lang="tr-TR" sz="1800" dirty="0"/>
              <a:t>"Best-</a:t>
            </a:r>
            <a:r>
              <a:rPr lang="tr-TR" sz="1800" dirty="0" err="1"/>
              <a:t>effort</a:t>
            </a:r>
            <a:r>
              <a:rPr lang="tr-TR" sz="1800" dirty="0"/>
              <a:t>" KV </a:t>
            </a:r>
            <a:r>
              <a:rPr lang="tr-TR" sz="1800" dirty="0" err="1"/>
              <a:t>Cache</a:t>
            </a:r>
            <a:r>
              <a:rPr lang="tr-TR" sz="1800" dirty="0"/>
              <a:t> </a:t>
            </a:r>
            <a:r>
              <a:rPr lang="tr-TR" sz="1800" dirty="0" err="1"/>
              <a:t>might</a:t>
            </a:r>
            <a:r>
              <a:rPr lang="tr-TR" sz="1800" dirty="0"/>
              <a:t> risk OOM in </a:t>
            </a:r>
            <a:r>
              <a:rPr lang="tr-TR" sz="1800" dirty="0" err="1"/>
              <a:t>edge</a:t>
            </a:r>
            <a:r>
              <a:rPr lang="tr-TR" sz="1800" dirty="0"/>
              <a:t> </a:t>
            </a:r>
            <a:r>
              <a:rPr lang="tr-TR" sz="1800" dirty="0" err="1"/>
              <a:t>cases</a:t>
            </a:r>
            <a:r>
              <a:rPr lang="tr-TR" sz="1800" dirty="0"/>
              <a:t>.</a:t>
            </a:r>
            <a:endParaRPr sz="1800" dirty="0"/>
          </a:p>
        </p:txBody>
      </p:sp>
      <p:sp>
        <p:nvSpPr>
          <p:cNvPr id="529" name="Google Shape;529;p42"/>
          <p:cNvSpPr txBox="1">
            <a:spLocks noGrp="1"/>
          </p:cNvSpPr>
          <p:nvPr>
            <p:ph type="subTitle" idx="2"/>
          </p:nvPr>
        </p:nvSpPr>
        <p:spPr>
          <a:xfrm>
            <a:off x="873900" y="1651378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>
              <a:buClr>
                <a:schemeClr val="accent1"/>
              </a:buClr>
            </a:pPr>
            <a:r>
              <a:rPr lang="tr-TR" sz="1800" dirty="0" err="1"/>
              <a:t>Solves</a:t>
            </a:r>
            <a:r>
              <a:rPr lang="tr-TR" sz="1800" dirty="0"/>
              <a:t> </a:t>
            </a:r>
            <a:r>
              <a:rPr lang="tr-TR" sz="1800" dirty="0" err="1"/>
              <a:t>the</a:t>
            </a:r>
            <a:r>
              <a:rPr lang="tr-TR" sz="1800" dirty="0"/>
              <a:t> "</a:t>
            </a:r>
            <a:r>
              <a:rPr lang="tr-TR" sz="1800" dirty="0" err="1"/>
              <a:t>flexibility</a:t>
            </a:r>
            <a:r>
              <a:rPr lang="tr-TR" sz="1800" dirty="0"/>
              <a:t> vs. </a:t>
            </a:r>
            <a:r>
              <a:rPr lang="tr-TR" sz="1800" dirty="0" err="1"/>
              <a:t>efficiency</a:t>
            </a:r>
            <a:r>
              <a:rPr lang="tr-TR" sz="1800" dirty="0"/>
              <a:t>" </a:t>
            </a:r>
            <a:r>
              <a:rPr lang="tr-TR" sz="1800" dirty="0" err="1"/>
              <a:t>trade-off</a:t>
            </a:r>
            <a:r>
              <a:rPr lang="tr-TR" sz="1800" dirty="0"/>
              <a:t>.</a:t>
            </a:r>
          </a:p>
          <a:p>
            <a:pPr marL="0" lvl="0" indent="0">
              <a:buClr>
                <a:schemeClr val="accent1"/>
              </a:buClr>
              <a:buNone/>
            </a:pPr>
            <a:endParaRPr lang="tr-TR" sz="1800" dirty="0"/>
          </a:p>
          <a:p>
            <a:pPr marL="257175" lvl="0">
              <a:buClr>
                <a:schemeClr val="accent1"/>
              </a:buClr>
            </a:pPr>
            <a:r>
              <a:rPr lang="tr-TR" sz="1800" dirty="0"/>
              <a:t>Zero-</a:t>
            </a:r>
            <a:r>
              <a:rPr lang="tr-TR" sz="1800" dirty="0" err="1"/>
              <a:t>redundancy</a:t>
            </a:r>
            <a:r>
              <a:rPr lang="tr-TR" sz="1800" dirty="0"/>
              <a:t> </a:t>
            </a:r>
            <a:r>
              <a:rPr lang="tr-TR" sz="1800" dirty="0" err="1"/>
              <a:t>mechanism</a:t>
            </a:r>
            <a:r>
              <a:rPr lang="tr-TR" sz="1800" dirty="0"/>
              <a:t>   is a </a:t>
            </a:r>
            <a:r>
              <a:rPr lang="tr-TR" sz="1800" dirty="0" err="1"/>
              <a:t>significant</a:t>
            </a:r>
            <a:r>
              <a:rPr lang="tr-TR" sz="1800" dirty="0"/>
              <a:t> </a:t>
            </a:r>
            <a:r>
              <a:rPr lang="tr-TR" sz="1800" dirty="0" err="1"/>
              <a:t>engineering</a:t>
            </a:r>
            <a:r>
              <a:rPr lang="tr-TR" sz="1800" dirty="0"/>
              <a:t> </a:t>
            </a:r>
            <a:r>
              <a:rPr lang="tr-TR" sz="1800" dirty="0" err="1"/>
              <a:t>breakthrough</a:t>
            </a:r>
            <a:r>
              <a:rPr lang="tr-TR" sz="1800" dirty="0"/>
              <a:t>.</a:t>
            </a:r>
            <a:endParaRPr sz="1800" dirty="0"/>
          </a:p>
        </p:txBody>
      </p:sp>
      <p:sp>
        <p:nvSpPr>
          <p:cNvPr id="530" name="Google Shape;530;p42"/>
          <p:cNvSpPr txBox="1">
            <a:spLocks noGrp="1"/>
          </p:cNvSpPr>
          <p:nvPr>
            <p:ph type="subTitle" idx="3"/>
          </p:nvPr>
        </p:nvSpPr>
        <p:spPr>
          <a:xfrm>
            <a:off x="873900" y="1264289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Strengths</a:t>
            </a:r>
            <a:endParaRPr sz="2200" dirty="0"/>
          </a:p>
        </p:txBody>
      </p:sp>
      <p:sp>
        <p:nvSpPr>
          <p:cNvPr id="531" name="Google Shape;531;p42"/>
          <p:cNvSpPr txBox="1">
            <a:spLocks noGrp="1"/>
          </p:cNvSpPr>
          <p:nvPr>
            <p:ph type="subTitle" idx="4"/>
          </p:nvPr>
        </p:nvSpPr>
        <p:spPr>
          <a:xfrm>
            <a:off x="4572000" y="1264289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Limitations</a:t>
            </a:r>
            <a:endParaRPr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4175DC3A-39EB-C764-00FA-BC677A0E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>
            <a:extLst>
              <a:ext uri="{FF2B5EF4-FFF2-40B4-BE49-F238E27FC236}">
                <a16:creationId xmlns:a16="http://schemas.microsoft.com/office/drawing/2014/main" id="{DE0B633D-9CB7-EA0F-8069-D9AA235CE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tr-TR" dirty="0" err="1"/>
              <a:t>Conclusion</a:t>
            </a:r>
            <a:endParaRPr dirty="0"/>
          </a:p>
        </p:txBody>
      </p:sp>
      <p:sp>
        <p:nvSpPr>
          <p:cNvPr id="425" name="Google Shape;425;p37">
            <a:extLst>
              <a:ext uri="{FF2B5EF4-FFF2-40B4-BE49-F238E27FC236}">
                <a16:creationId xmlns:a16="http://schemas.microsoft.com/office/drawing/2014/main" id="{A3FCF224-54E9-8D53-90B6-328F9E5A34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94375" y="1633950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b="1" dirty="0" err="1"/>
              <a:t>HybridFlow</a:t>
            </a:r>
            <a:r>
              <a:rPr lang="tr-TR" sz="2000" b="1" dirty="0"/>
              <a:t> </a:t>
            </a:r>
            <a:r>
              <a:rPr lang="tr-TR" sz="2000" b="1" dirty="0" err="1"/>
              <a:t>sets</a:t>
            </a:r>
            <a:r>
              <a:rPr lang="tr-TR" sz="2000" b="1" dirty="0"/>
              <a:t> a </a:t>
            </a:r>
            <a:r>
              <a:rPr lang="tr-TR" sz="2000" b="1" dirty="0" err="1"/>
              <a:t>new</a:t>
            </a:r>
            <a:r>
              <a:rPr lang="tr-TR" sz="2000" b="1" dirty="0"/>
              <a:t> </a:t>
            </a:r>
            <a:r>
              <a:rPr lang="tr-TR" sz="2000" b="1" dirty="0" err="1"/>
              <a:t>standard</a:t>
            </a:r>
            <a:r>
              <a:rPr lang="tr-TR" sz="2000" b="1" dirty="0"/>
              <a:t> </a:t>
            </a:r>
            <a:r>
              <a:rPr lang="tr-TR" sz="2000" b="1" dirty="0" err="1"/>
              <a:t>for</a:t>
            </a:r>
            <a:r>
              <a:rPr lang="tr-TR" sz="2000" b="1" dirty="0"/>
              <a:t> RLHF </a:t>
            </a:r>
            <a:r>
              <a:rPr lang="tr-TR" sz="2000" b="1" dirty="0" err="1"/>
              <a:t>frameworks</a:t>
            </a:r>
            <a:r>
              <a:rPr lang="tr-TR" sz="2000" b="1" dirty="0"/>
              <a:t>.</a:t>
            </a:r>
            <a:endParaRPr sz="2000" b="1" dirty="0"/>
          </a:p>
        </p:txBody>
      </p:sp>
      <p:sp>
        <p:nvSpPr>
          <p:cNvPr id="426" name="Google Shape;426;p37">
            <a:extLst>
              <a:ext uri="{FF2B5EF4-FFF2-40B4-BE49-F238E27FC236}">
                <a16:creationId xmlns:a16="http://schemas.microsoft.com/office/drawing/2014/main" id="{E4FA833B-0A6A-D8D2-8D8F-BF9798EFAC5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94200" y="2549587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b="1" dirty="0" err="1"/>
              <a:t>It</a:t>
            </a:r>
            <a:r>
              <a:rPr lang="tr-TR" sz="2000" b="1" dirty="0"/>
              <a:t> </a:t>
            </a:r>
            <a:r>
              <a:rPr lang="tr-TR" sz="2000" b="1" dirty="0" err="1"/>
              <a:t>successfully</a:t>
            </a:r>
            <a:r>
              <a:rPr lang="tr-TR" sz="2000" b="1" dirty="0"/>
              <a:t> </a:t>
            </a:r>
            <a:r>
              <a:rPr lang="tr-TR" sz="2000" b="1" dirty="0" err="1"/>
              <a:t>separates</a:t>
            </a:r>
            <a:r>
              <a:rPr lang="tr-TR" sz="2000" b="1" dirty="0"/>
              <a:t> </a:t>
            </a:r>
            <a:r>
              <a:rPr lang="tr-TR" sz="2000" b="1" dirty="0" err="1"/>
              <a:t>control</a:t>
            </a:r>
            <a:r>
              <a:rPr lang="tr-TR" sz="2000" b="1" dirty="0"/>
              <a:t> </a:t>
            </a:r>
            <a:r>
              <a:rPr lang="tr-TR" sz="2000" b="1" dirty="0" err="1"/>
              <a:t>logic</a:t>
            </a:r>
            <a:r>
              <a:rPr lang="tr-TR" sz="2000" b="1" dirty="0"/>
              <a:t> </a:t>
            </a:r>
            <a:r>
              <a:rPr lang="tr-TR" sz="2000" b="1" dirty="0" err="1"/>
              <a:t>from</a:t>
            </a:r>
            <a:r>
              <a:rPr lang="tr-TR" sz="2000" b="1" dirty="0"/>
              <a:t> </a:t>
            </a:r>
            <a:r>
              <a:rPr lang="tr-TR" sz="2000" b="1" dirty="0" err="1"/>
              <a:t>computation</a:t>
            </a:r>
            <a:r>
              <a:rPr lang="tr-TR" sz="2000" b="1" dirty="0"/>
              <a:t>.</a:t>
            </a:r>
            <a:endParaRPr sz="2000" b="1" dirty="0"/>
          </a:p>
        </p:txBody>
      </p:sp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27B1A042-9122-8EFA-F612-4D57EE22B4F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94375" y="346522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tr-TR" sz="2000" b="1" dirty="0" err="1"/>
              <a:t>Enables</a:t>
            </a:r>
            <a:r>
              <a:rPr lang="tr-TR" sz="2000" b="1" dirty="0"/>
              <a:t> </a:t>
            </a:r>
            <a:r>
              <a:rPr lang="tr-TR" sz="2000" b="1" dirty="0" err="1"/>
              <a:t>efficient</a:t>
            </a:r>
            <a:r>
              <a:rPr lang="tr-TR" sz="2000" b="1" dirty="0"/>
              <a:t> </a:t>
            </a:r>
            <a:r>
              <a:rPr lang="tr-TR" sz="2000" b="1" dirty="0" err="1"/>
              <a:t>scaling</a:t>
            </a:r>
            <a:r>
              <a:rPr lang="tr-TR" sz="2000" b="1" dirty="0"/>
              <a:t> </a:t>
            </a:r>
            <a:r>
              <a:rPr lang="tr-TR" sz="2000" b="1" dirty="0" err="1"/>
              <a:t>for</a:t>
            </a:r>
            <a:r>
              <a:rPr lang="tr-TR" sz="2000" b="1" dirty="0"/>
              <a:t> </a:t>
            </a:r>
            <a:r>
              <a:rPr lang="tr-TR" sz="2000" b="1" dirty="0" err="1"/>
              <a:t>future</a:t>
            </a:r>
            <a:r>
              <a:rPr lang="tr-TR" sz="2000" b="1" dirty="0"/>
              <a:t> </a:t>
            </a:r>
            <a:r>
              <a:rPr lang="tr-TR" sz="2000" b="1" dirty="0" err="1"/>
              <a:t>Large</a:t>
            </a:r>
            <a:r>
              <a:rPr lang="tr-TR" sz="2000" b="1" dirty="0"/>
              <a:t> Language </a:t>
            </a:r>
            <a:r>
              <a:rPr lang="tr-TR" sz="2000" b="1" dirty="0" err="1"/>
              <a:t>Models</a:t>
            </a:r>
            <a:r>
              <a:rPr lang="tr-TR" sz="2000" b="1" dirty="0"/>
              <a:t>.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407905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7"/>
          <p:cNvSpPr txBox="1">
            <a:spLocks noGrp="1"/>
          </p:cNvSpPr>
          <p:nvPr>
            <p:ph type="title"/>
          </p:nvPr>
        </p:nvSpPr>
        <p:spPr>
          <a:xfrm>
            <a:off x="713263" y="6161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656" name="Google Shape;656;p47"/>
          <p:cNvSpPr txBox="1">
            <a:spLocks noGrp="1"/>
          </p:cNvSpPr>
          <p:nvPr>
            <p:ph type="subTitle" idx="1"/>
          </p:nvPr>
        </p:nvSpPr>
        <p:spPr>
          <a:xfrm>
            <a:off x="713225" y="161826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Do you have any questions?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 dirty="0"/>
              <a:t>Eray Kocabozdoğan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 dirty="0" err="1"/>
              <a:t>eraykocabozdogan@std.iyte.edu.tr</a:t>
            </a:r>
            <a:endParaRPr sz="1600" dirty="0"/>
          </a:p>
        </p:txBody>
      </p:sp>
      <p:sp>
        <p:nvSpPr>
          <p:cNvPr id="657" name="Google Shape;657;p47"/>
          <p:cNvSpPr txBox="1"/>
          <p:nvPr/>
        </p:nvSpPr>
        <p:spPr>
          <a:xfrm>
            <a:off x="713275" y="40496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" name="Google Shape;658;p47"/>
          <p:cNvSpPr/>
          <p:nvPr/>
        </p:nvSpPr>
        <p:spPr>
          <a:xfrm>
            <a:off x="6911062" y="-2350368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7"/>
          <p:cNvSpPr/>
          <p:nvPr/>
        </p:nvSpPr>
        <p:spPr>
          <a:xfrm>
            <a:off x="5733712" y="3443532"/>
            <a:ext cx="1490664" cy="4967292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5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br>
              <a:rPr lang="en" dirty="0"/>
            </a:br>
            <a:endParaRPr dirty="0"/>
          </a:p>
        </p:txBody>
      </p:sp>
      <p:sp>
        <p:nvSpPr>
          <p:cNvPr id="1403" name="Google Shape;1403;p51"/>
          <p:cNvSpPr txBox="1">
            <a:spLocks noGrp="1"/>
          </p:cNvSpPr>
          <p:nvPr>
            <p:ph type="subTitle" idx="1"/>
          </p:nvPr>
        </p:nvSpPr>
        <p:spPr>
          <a:xfrm>
            <a:off x="579075" y="1017725"/>
            <a:ext cx="7710600" cy="23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tr-TR" dirty="0" err="1"/>
              <a:t>Ouyang</a:t>
            </a:r>
            <a:r>
              <a:rPr lang="tr-TR" dirty="0"/>
              <a:t>, L., et al. (2022). Training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follow</a:t>
            </a:r>
            <a:r>
              <a:rPr lang="tr-TR" dirty="0"/>
              <a:t> </a:t>
            </a:r>
            <a:r>
              <a:rPr lang="tr-TR" dirty="0" err="1"/>
              <a:t>instructions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human</a:t>
            </a:r>
            <a:r>
              <a:rPr lang="tr-TR" dirty="0"/>
              <a:t> </a:t>
            </a:r>
            <a:r>
              <a:rPr lang="tr-TR" dirty="0" err="1"/>
              <a:t>feedback</a:t>
            </a:r>
            <a:r>
              <a:rPr lang="tr-TR" dirty="0"/>
              <a:t> (</a:t>
            </a:r>
            <a:r>
              <a:rPr lang="tr-TR" dirty="0" err="1"/>
              <a:t>InstructGPT</a:t>
            </a:r>
            <a:r>
              <a:rPr lang="tr-TR" dirty="0"/>
              <a:t>).</a:t>
            </a:r>
            <a:r>
              <a:rPr lang="tr-TR" dirty="0" err="1"/>
              <a:t>NeurIPS</a:t>
            </a:r>
            <a:r>
              <a:rPr lang="tr-TR" dirty="0"/>
              <a:t>.</a:t>
            </a:r>
          </a:p>
          <a:p>
            <a:pPr marL="139700" indent="0">
              <a:buNone/>
            </a:pPr>
            <a:endParaRPr lang="tr-TR" dirty="0"/>
          </a:p>
          <a:p>
            <a:r>
              <a:rPr lang="tr-TR" dirty="0" err="1"/>
              <a:t>Schulman</a:t>
            </a:r>
            <a:r>
              <a:rPr lang="tr-TR" dirty="0"/>
              <a:t>, J., et al. (2017). </a:t>
            </a:r>
            <a:r>
              <a:rPr lang="tr-TR" dirty="0" err="1"/>
              <a:t>Proximal</a:t>
            </a:r>
            <a:r>
              <a:rPr lang="tr-TR" dirty="0"/>
              <a:t> </a:t>
            </a:r>
            <a:r>
              <a:rPr lang="tr-TR" dirty="0" err="1"/>
              <a:t>Policy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r>
              <a:rPr lang="tr-TR" dirty="0"/>
              <a:t> </a:t>
            </a:r>
            <a:r>
              <a:rPr lang="tr-TR" dirty="0" err="1"/>
              <a:t>Algorithms</a:t>
            </a:r>
            <a:r>
              <a:rPr lang="tr-TR" dirty="0"/>
              <a:t> (PPO). arXiv:1707.06347.	</a:t>
            </a:r>
          </a:p>
          <a:p>
            <a:pPr marL="139700" indent="0">
              <a:buNone/>
            </a:pPr>
            <a:endParaRPr lang="tr-TR" dirty="0"/>
          </a:p>
          <a:p>
            <a:r>
              <a:rPr lang="tr-TR" dirty="0" err="1"/>
              <a:t>Yao</a:t>
            </a:r>
            <a:r>
              <a:rPr lang="tr-TR" dirty="0"/>
              <a:t>, Z., et al. (2023). </a:t>
            </a:r>
            <a:r>
              <a:rPr lang="tr-TR" dirty="0" err="1"/>
              <a:t>DeepSpeed</a:t>
            </a:r>
            <a:r>
              <a:rPr lang="tr-TR" dirty="0"/>
              <a:t>-Chat: </a:t>
            </a:r>
            <a:r>
              <a:rPr lang="tr-TR" dirty="0" err="1"/>
              <a:t>Easy</a:t>
            </a:r>
            <a:r>
              <a:rPr lang="tr-TR" dirty="0"/>
              <a:t>, </a:t>
            </a:r>
            <a:r>
              <a:rPr lang="tr-TR" dirty="0" err="1"/>
              <a:t>Fast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Affordable</a:t>
            </a:r>
            <a:r>
              <a:rPr lang="tr-TR" dirty="0"/>
              <a:t> RLHF Training of </a:t>
            </a:r>
            <a:r>
              <a:rPr lang="tr-TR" dirty="0" err="1"/>
              <a:t>ChatGPT-like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at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Scales</a:t>
            </a:r>
            <a:r>
              <a:rPr lang="tr-TR" dirty="0"/>
              <a:t>. arXiv:2308.01320.</a:t>
            </a:r>
          </a:p>
          <a:p>
            <a:pPr marL="139700" indent="0">
              <a:buNone/>
            </a:pPr>
            <a:endParaRPr lang="tr-TR" dirty="0"/>
          </a:p>
          <a:p>
            <a:r>
              <a:rPr lang="tr-TR" dirty="0"/>
              <a:t>Hu, J., et al. (2023). </a:t>
            </a:r>
            <a:r>
              <a:rPr lang="tr-TR" dirty="0" err="1"/>
              <a:t>OpenRLHF</a:t>
            </a:r>
            <a:r>
              <a:rPr lang="tr-TR" dirty="0"/>
              <a:t>: A Ray-</a:t>
            </a:r>
            <a:r>
              <a:rPr lang="tr-TR" dirty="0" err="1"/>
              <a:t>based</a:t>
            </a:r>
            <a:r>
              <a:rPr lang="tr-TR" dirty="0"/>
              <a:t> High-</a:t>
            </a:r>
            <a:r>
              <a:rPr lang="tr-TR" dirty="0" err="1"/>
              <a:t>performance</a:t>
            </a:r>
            <a:r>
              <a:rPr lang="tr-TR" dirty="0"/>
              <a:t> RLHF</a:t>
            </a:r>
          </a:p>
          <a:p>
            <a:pPr marL="139700" indent="0">
              <a:buNone/>
            </a:pPr>
            <a:r>
              <a:rPr lang="tr-TR" dirty="0"/>
              <a:t>       </a:t>
            </a:r>
            <a:r>
              <a:rPr lang="tr-TR" dirty="0" err="1"/>
              <a:t>framework</a:t>
            </a:r>
            <a:r>
              <a:rPr lang="tr-TR" dirty="0"/>
              <a:t>. </a:t>
            </a:r>
            <a:r>
              <a:rPr lang="tr-TR" dirty="0" err="1"/>
              <a:t>arXiv</a:t>
            </a:r>
            <a:r>
              <a:rPr lang="tr-TR" dirty="0"/>
              <a:t> preprint.5. </a:t>
            </a:r>
          </a:p>
          <a:p>
            <a:pPr marL="139700" indent="0">
              <a:buNone/>
            </a:pPr>
            <a:endParaRPr lang="tr-TR" dirty="0"/>
          </a:p>
          <a:p>
            <a:r>
              <a:rPr lang="tr-TR" dirty="0" err="1"/>
              <a:t>Shoeybi</a:t>
            </a:r>
            <a:r>
              <a:rPr lang="tr-TR" dirty="0"/>
              <a:t>, M., et al. (2019). </a:t>
            </a:r>
            <a:r>
              <a:rPr lang="tr-TR" dirty="0" err="1"/>
              <a:t>Megatron</a:t>
            </a:r>
            <a:r>
              <a:rPr lang="tr-TR" dirty="0"/>
              <a:t>-LM: Training Multi-</a:t>
            </a:r>
            <a:r>
              <a:rPr lang="tr-TR" dirty="0" err="1"/>
              <a:t>Billion</a:t>
            </a:r>
            <a:r>
              <a:rPr lang="tr-TR" dirty="0"/>
              <a:t> </a:t>
            </a:r>
            <a:r>
              <a:rPr lang="tr-TR" dirty="0" err="1"/>
              <a:t>Parameter</a:t>
            </a:r>
            <a:r>
              <a:rPr lang="tr-TR" dirty="0"/>
              <a:t> </a:t>
            </a:r>
          </a:p>
          <a:p>
            <a:pPr marL="139700" indent="0">
              <a:buNone/>
            </a:pPr>
            <a:r>
              <a:rPr lang="tr-TR" dirty="0"/>
              <a:t>       Language </a:t>
            </a:r>
            <a:r>
              <a:rPr lang="tr-TR" dirty="0" err="1"/>
              <a:t>Models</a:t>
            </a:r>
            <a:r>
              <a:rPr lang="tr-TR" dirty="0"/>
              <a:t> Using Model </a:t>
            </a:r>
            <a:r>
              <a:rPr lang="tr-TR" dirty="0" err="1"/>
              <a:t>Parallelism</a:t>
            </a:r>
            <a:r>
              <a:rPr lang="tr-TR" dirty="0"/>
              <a:t>. arXiv:1909.08053.</a:t>
            </a:r>
          </a:p>
        </p:txBody>
      </p:sp>
      <p:grpSp>
        <p:nvGrpSpPr>
          <p:cNvPr id="1404" name="Google Shape;1404;p51"/>
          <p:cNvGrpSpPr/>
          <p:nvPr/>
        </p:nvGrpSpPr>
        <p:grpSpPr>
          <a:xfrm rot="10800000">
            <a:off x="6929168" y="3965664"/>
            <a:ext cx="5611922" cy="64395"/>
            <a:chOff x="2290561" y="4544171"/>
            <a:chExt cx="5611922" cy="64395"/>
          </a:xfrm>
        </p:grpSpPr>
        <p:sp>
          <p:nvSpPr>
            <p:cNvPr id="1405" name="Google Shape;1405;p51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51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7" name="Google Shape;1407;p51"/>
          <p:cNvSpPr/>
          <p:nvPr/>
        </p:nvSpPr>
        <p:spPr>
          <a:xfrm>
            <a:off x="6929187" y="2591107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sertation Defense - Doctor of Philosophy (Ph.D.) in History by Slidesgo">
  <a:themeElements>
    <a:clrScheme name="Simple Light">
      <a:dk1>
        <a:srgbClr val="4B4739"/>
      </a:dk1>
      <a:lt1>
        <a:srgbClr val="745D28"/>
      </a:lt1>
      <a:dk2>
        <a:srgbClr val="FDF9ED"/>
      </a:dk2>
      <a:lt2>
        <a:srgbClr val="EEDFB8"/>
      </a:lt2>
      <a:accent1>
        <a:srgbClr val="D39306"/>
      </a:accent1>
      <a:accent2>
        <a:srgbClr val="B19951"/>
      </a:accent2>
      <a:accent3>
        <a:srgbClr val="BBAE88"/>
      </a:accent3>
      <a:accent4>
        <a:srgbClr val="FFFFFF"/>
      </a:accent4>
      <a:accent5>
        <a:srgbClr val="FFFFFF"/>
      </a:accent5>
      <a:accent6>
        <a:srgbClr val="FFFFFF"/>
      </a:accent6>
      <a:hlink>
        <a:srgbClr val="5549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89cac7f1e1de45334f4a7af93b008dff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7ffae74ceffa62c4c775c89a27f27671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E647BA-495E-4FD3-85B8-367911C74D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d5f63-3232-42a0-8db4-2484f8efde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2FF2F4-0274-48C1-A665-6367572E3A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4BA958-13BB-404A-AD80-963DCCDE7D0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705</Words>
  <Application>Microsoft Office PowerPoint</Application>
  <PresentationFormat>On-screen Show (16:9)</PresentationFormat>
  <Paragraphs>118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Dissertation Defense - Doctor of Philosophy (Ph.D.) in History by Slidesgo</vt:lpstr>
      <vt:lpstr>HybridFlow: A Flexible and Efficient RLHF Framework</vt:lpstr>
      <vt:lpstr>Outline</vt:lpstr>
      <vt:lpstr>Motivation: The Dilemma</vt:lpstr>
      <vt:lpstr>Motivation: The Dilemma</vt:lpstr>
      <vt:lpstr>Background: Why is RLHF Difficult?</vt:lpstr>
      <vt:lpstr>Background: Why is RLHF Difficult?</vt:lpstr>
      <vt:lpstr>HybridFlow Overview (The Solution)</vt:lpstr>
      <vt:lpstr>Hybrid Programming Model</vt:lpstr>
      <vt:lpstr>Hybrid Programming Model</vt:lpstr>
      <vt:lpstr>The Core Challenge: Actor Resharding</vt:lpstr>
      <vt:lpstr>Innovation: 3D-HybridEngine</vt:lpstr>
      <vt:lpstr>Auto Device Mapping Algorithm</vt:lpstr>
      <vt:lpstr>Experimental Setup</vt:lpstr>
      <vt:lpstr>Results: Throughput Comparison</vt:lpstr>
      <vt:lpstr>Results: Transition Overhead</vt:lpstr>
      <vt:lpstr>Critical Analysis</vt:lpstr>
      <vt:lpstr>Conclusion</vt:lpstr>
      <vt:lpstr>Thanks!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ERAY KOCABOZDOĞAN</cp:lastModifiedBy>
  <cp:revision>6</cp:revision>
  <dcterms:modified xsi:type="dcterms:W3CDTF">2025-12-15T12:05:47Z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